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8686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81F2A"/>
                </a:solidFill>
              </a:defRPr>
            </a:pPr>
            <a:r>
              <a:t>Adversarial ML Against</a:t>
            </a:r>
          </a:p>
          <a:p>
            <a:r>
              <a:t>Password Strength 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86577"/>
                </a:solidFill>
              </a:defRPr>
            </a:pPr>
            <a:r>
              <a:t>Can a fine-tuned LLM generate passwords that fool zxcvbn while remaining predictable?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46120"/>
            <a:ext cx="23774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74136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10,094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04487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86577"/>
                </a:solidFill>
              </a:defRPr>
            </a:pPr>
            <a:r>
              <a:t>generated passwords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3246120"/>
            <a:ext cx="23774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3374136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804B"/>
                </a:solidFill>
              </a:defRPr>
            </a:pPr>
            <a:r>
              <a:t>4 /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3904487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86577"/>
                </a:solidFill>
              </a:defRPr>
            </a:pPr>
            <a:r>
              <a:t>zxcvbn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25896" y="3246120"/>
            <a:ext cx="23774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63056" y="3374136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BE2D2D"/>
                </a:solidFill>
              </a:defRPr>
            </a:pPr>
            <a:r>
              <a:t>90.17%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6" y="3904487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86577"/>
                </a:solidFill>
              </a:defRPr>
            </a:pPr>
            <a:r>
              <a:t>targeted-match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50224" y="3246120"/>
            <a:ext cx="23774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87384" y="3374136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B46914"/>
                </a:solidFill>
              </a:defRPr>
            </a:pPr>
            <a:r>
              <a:t>Qwen2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384" y="3904487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86577"/>
                </a:solidFill>
              </a:defRPr>
            </a:pPr>
            <a:r>
              <a:t>LoRA fine-tune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064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577"/>
                </a:solidFill>
              </a:defRPr>
            </a:pPr>
            <a:r>
              <a:t>Kent Ogasawara ? Huseyin Simsek ? Joel Fredrik Enander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836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7"/>
                </a:solidFill>
              </a:defRPr>
            </a:pPr>
            <a:r>
              <a:t>Adversarial ML Against Password Strength Meters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8368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7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1109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1F2A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577"/>
                </a:solidFill>
              </a:defRPr>
            </a:pPr>
            <a:r>
              <a:t>The gap between perceived password strength and attack resistance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63624"/>
            <a:ext cx="480974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6577"/>
                </a:solidFill>
              </a:defRPr>
            </a:pPr>
            <a:r>
              <a:t>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Password meters guide users, but they rely on scoring heuristics.</a:t>
            </a:r>
          </a:p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Those heuristics can be studied and optimized against.</a:t>
            </a:r>
          </a:p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A password can look strong to a meter while remaining structured and guessable.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507492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1563624"/>
            <a:ext cx="4672583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6577"/>
                </a:solidFill>
              </a:defRPr>
            </a:pPr>
            <a:r>
              <a:t>Research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965960"/>
            <a:ext cx="4617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1F2A"/>
                </a:solidFill>
              </a:defRPr>
            </a:pPr>
            <a:r>
              <a:t>Q1: Can ML generate high-scoring passwords that are actually weak?</a:t>
            </a:r>
          </a:p>
          <a:p>
            <a:pPr>
              <a:spcAft>
                <a:spcPts val="800"/>
              </a:spcAft>
              <a:defRPr sz="1700">
                <a:solidFill>
                  <a:srgbClr val="181F2A"/>
                </a:solidFill>
              </a:defRPr>
            </a:pPr>
            <a:r>
              <a:t>Q2: What meter features can be exploited?</a:t>
            </a:r>
          </a:p>
          <a:p>
            <a:pPr>
              <a:spcAft>
                <a:spcPts val="800"/>
              </a:spcAft>
              <a:defRPr sz="1700">
                <a:solidFill>
                  <a:srgbClr val="181F2A"/>
                </a:solidFill>
              </a:defRPr>
            </a:pPr>
            <a:r>
              <a:t>Q3: How does perceived strength differ from targeted crack resistance?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7"/>
                </a:solidFill>
              </a:defRPr>
            </a:pPr>
            <a:r>
              <a:t>Adversarial ML Against Password Strength 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8368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7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1109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1F2A"/>
                </a:solidFill>
              </a:defRPr>
            </a:pPr>
            <a: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577"/>
                </a:solidFill>
              </a:defRPr>
            </a:pPr>
            <a:r>
              <a:t>Dataset + model +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63624"/>
            <a:ext cx="30266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6577"/>
                </a:solidFill>
              </a:defRPr>
            </a:pPr>
            <a: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</a:defRPr>
            </a:pPr>
            <a:r>
              <a:t>Source: 10,000 common passwords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</a:defRPr>
            </a:pPr>
            <a:r>
              <a:t>Cleaned by length and duplicate removal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</a:defRPr>
            </a:pPr>
            <a:r>
              <a:t>Modified into adversarial-looking variants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</a:defRPr>
            </a:pPr>
            <a:r>
              <a:t>Filtered through zxcvbn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29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563624"/>
            <a:ext cx="30266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6577"/>
                </a:solidFill>
              </a:defRPr>
            </a:pPr>
            <a:r>
              <a:t>Base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96596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</a:defRPr>
            </a:pPr>
            <a:r>
              <a:t>Model: Qwen2-0.5B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</a:defRPr>
            </a:pPr>
            <a:r>
              <a:t>Fine-tuning: LoRA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</a:defRPr>
            </a:pPr>
            <a:r>
              <a:t>Training format: instruction-response JSONL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</a:defRPr>
            </a:pPr>
            <a:r>
              <a:t>Goal: produce score-4 zxcvbn passwords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417320"/>
            <a:ext cx="3429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1563624"/>
            <a:ext cx="30266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6577"/>
                </a:solidFill>
              </a:defRPr>
            </a:pPr>
            <a:r>
              <a:t>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96596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</a:defRPr>
            </a:pPr>
            <a:r>
              <a:t>Score generated outputs with zxcvbn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</a:defRPr>
            </a:pPr>
            <a:r>
              <a:t>Keep score-4 passwords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</a:defRPr>
            </a:pPr>
            <a:r>
              <a:t>Check common-password material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</a:defRPr>
            </a:pPr>
            <a:r>
              <a:t>Report targeted-match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836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7"/>
                </a:solidFill>
              </a:defRPr>
            </a:pPr>
            <a:r>
              <a:t>Adversarial ML Against Password Strength Meters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8368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7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1109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1F2A"/>
                </a:solidFill>
              </a:defRPr>
            </a:pPr>
            <a: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577"/>
                </a:solidFill>
              </a:defRPr>
            </a:pPr>
            <a:r>
              <a:t>What the code actually does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514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627632"/>
            <a:ext cx="384048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77924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" y="164592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81F2A"/>
                </a:solidFill>
              </a:defRPr>
            </a:pPr>
            <a:r>
              <a:t>Clean common passwords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2514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11879" y="1627632"/>
            <a:ext cx="384048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1677924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6511" y="164592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81F2A"/>
                </a:solidFill>
              </a:defRPr>
            </a:pPr>
            <a:r>
              <a:t>Modify with patterns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17320"/>
            <a:ext cx="2514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1627632"/>
            <a:ext cx="384048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77924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164592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81F2A"/>
                </a:solidFill>
              </a:defRPr>
            </a:pPr>
            <a:r>
              <a:t>Score with zxcvbn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417320"/>
            <a:ext cx="2514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72600" y="1627632"/>
            <a:ext cx="384048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677924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7232" y="164592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81F2A"/>
                </a:solidFill>
              </a:defRPr>
            </a:pPr>
            <a:r>
              <a:t>Format JSONL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246120"/>
            <a:ext cx="2514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3456432"/>
            <a:ext cx="384048" cy="384048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06724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47472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81F2A"/>
                </a:solidFill>
              </a:defRPr>
            </a:pPr>
            <a:r>
              <a:t>Fine-tune LoRA adapter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3246120"/>
            <a:ext cx="2514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11879" y="3456432"/>
            <a:ext cx="384048" cy="384048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79" y="3506724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6511" y="347472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81F2A"/>
                </a:solidFill>
              </a:defRPr>
            </a:pPr>
            <a:r>
              <a:t>Generate passwords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3246120"/>
            <a:ext cx="2514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2240" y="3456432"/>
            <a:ext cx="384048" cy="384048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506724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872" y="347472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81F2A"/>
                </a:solidFill>
              </a:defRPr>
            </a:pPr>
            <a:r>
              <a:t>Evaluate attackability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3154680"/>
            <a:ext cx="2331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9448" y="3337560"/>
            <a:ext cx="192938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81F2A"/>
                </a:solidFill>
                <a:latin typeface="Consolas"/>
              </a:defRPr>
            </a:pPr>
            <a:r>
              <a:t>Core scripts:</a:t>
            </a:r>
          </a:p>
          <a:p>
            <a:r>
              <a:t>clean_dataset.py</a:t>
            </a:r>
          </a:p>
          <a:p>
            <a:r>
              <a:t>modify_passwords.py</a:t>
            </a:r>
          </a:p>
          <a:p>
            <a:r>
              <a:t>score_password.py</a:t>
            </a:r>
          </a:p>
          <a:p>
            <a:r>
              <a:t>format_dataset.py</a:t>
            </a:r>
          </a:p>
          <a:p>
            <a:r>
              <a:t>train_model.py</a:t>
            </a:r>
          </a:p>
          <a:p>
            <a:r>
              <a:t>generate_passwords.py</a:t>
            </a:r>
          </a:p>
          <a:p>
            <a:r>
              <a:t>evaluate_attackability.py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5836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7"/>
                </a:solidFill>
              </a:defRPr>
            </a:pPr>
            <a:r>
              <a:t>Adversarial ML Against Password Strength Meters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8368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1109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1F2A"/>
                </a:solidFill>
              </a:defRPr>
            </a:pPr>
            <a:r>
              <a:t>Experiment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577"/>
                </a:solidFill>
              </a:defRPr>
            </a:pPr>
            <a:r>
              <a:t>Four training attempts from simple patterns to more constrained variants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4206240"/>
                <a:gridCol w="4114800"/>
              </a:tblGrid>
              <a:tr h="74066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81F2A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E4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81F2A"/>
                          </a:solidFill>
                        </a:defRPr>
                      </a:pPr>
                      <a:r>
                        <a:t>Password lengths</a:t>
                      </a:r>
                    </a:p>
                  </a:txBody>
                  <a:tcPr>
                    <a:solidFill>
                      <a:srgbClr val="E4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81F2A"/>
                          </a:solidFill>
                        </a:defRPr>
                      </a:pPr>
                      <a:r>
                        <a:t>Pattern changes</a:t>
                      </a:r>
                    </a:p>
                  </a:txBody>
                  <a:tcPr>
                    <a:solidFill>
                      <a:srgbClr val="E4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81F2A"/>
                          </a:solidFill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E4EBF6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F2A"/>
                          </a:solidFill>
                        </a:defRPr>
                      </a:pPr>
                      <a: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F2A"/>
                          </a:solidFill>
                        </a:defRPr>
                      </a:pPr>
                      <a:r>
                        <a:t>4-6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F2A"/>
                          </a:solidFill>
                        </a:defRPr>
                      </a:pPr>
                      <a:r>
                        <a:t>phrase + year + symbol as prefix/suffix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F2A"/>
                          </a:solidFill>
                        </a:defRPr>
                      </a:pPr>
                      <a:r>
                        <a:t>30k variants; 23k scored 4; generated 10k</a:t>
                      </a:r>
                    </a:p>
                  </a:txBody>
                  <a:tcPr/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F2A"/>
                          </a:solidFill>
                        </a:defRPr>
                      </a:pPr>
                      <a: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F2A"/>
                          </a:solidFill>
                        </a:defRPr>
                      </a:pPr>
                      <a:r>
                        <a:t>6-8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F2A"/>
                          </a:solidFill>
                        </a:defRPr>
                      </a:pPr>
                      <a:r>
                        <a:t>expanded symbols + substitutions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F2A"/>
                          </a:solidFill>
                        </a:defRPr>
                      </a:pPr>
                      <a:r>
                        <a:t>about 1.5k scored 4; slower generation</a:t>
                      </a:r>
                    </a:p>
                  </a:txBody>
                  <a:tcPr/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F2A"/>
                          </a:solidFill>
                        </a:defRPr>
                      </a:pPr>
                      <a:r>
                        <a:t>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F2A"/>
                          </a:solidFill>
                        </a:defRPr>
                      </a:pPr>
                      <a:r>
                        <a:t>3-9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F2A"/>
                          </a:solidFill>
                        </a:defRPr>
                      </a:pPr>
                      <a:r>
                        <a:t>fewer symbols + capitalization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F2A"/>
                          </a:solidFill>
                        </a:defRPr>
                      </a:pPr>
                      <a:r>
                        <a:t>about 1.7k scored 4</a:t>
                      </a:r>
                    </a:p>
                  </a:txBody>
                  <a:tcPr/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F2A"/>
                          </a:solidFill>
                        </a:defRPr>
                      </a:pPr>
                      <a:r>
                        <a:t>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F2A"/>
                          </a:solidFill>
                        </a:defRPr>
                      </a:pPr>
                      <a:r>
                        <a:t>3-9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F2A"/>
                          </a:solidFill>
                        </a:defRPr>
                      </a:pPr>
                      <a:r>
                        <a:t>removed year, limited substitutions, random 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F2A"/>
                          </a:solidFill>
                        </a:defRPr>
                      </a:pPr>
                      <a:r>
                        <a:t>62k variants; 3,733 scored 3; generated 500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440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1F2A"/>
                </a:solidFill>
              </a:defRPr>
            </a:pPr>
            <a:r>
              <a:t>Key lesson: simpler dictionary-word combinations fooled zxcvbn more reliably than heavily constrained variants.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836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7"/>
                </a:solidFill>
              </a:defRPr>
            </a:pPr>
            <a:r>
              <a:t>Adversarial ML Against Password Strength 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1109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1F2A"/>
                </a:solidFill>
              </a:defRPr>
            </a:pPr>
            <a:r>
              <a:t>Trained Model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577"/>
                </a:solidFill>
              </a:defRPr>
            </a:pPr>
            <a:r>
              <a:t>This is not only a hand-written password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Base model: Qwen/Qwen2-0.5B.</a:t>
            </a:r>
          </a:p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Fine-tuned using LoRA adapter weights.</a:t>
            </a:r>
          </a:p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Final adapter files are saved in models/final_model/final_model_v4.</a:t>
            </a:r>
          </a:p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Training checkpoint is saved in models/trained_model/checkpoint-800.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417320"/>
            <a:ext cx="48920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47688" y="1600200"/>
            <a:ext cx="4489703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81F2A"/>
                </a:solidFill>
                <a:latin typeface="Consolas"/>
              </a:defRPr>
            </a:pPr>
            <a:r>
              <a:t>models/final_model/final_model_v4/</a:t>
            </a:r>
          </a:p>
          <a:p>
            <a:r>
              <a:t>  adapter_config.json</a:t>
            </a:r>
          </a:p>
          <a:p>
            <a:r>
              <a:t>  adapter_model.safetensors</a:t>
            </a:r>
          </a:p>
          <a:p>
            <a:r>
              <a:t>  tokenizer.json</a:t>
            </a:r>
          </a:p>
          <a:p/>
          <a:p>
            <a:r>
              <a:t>models/trained_model/checkpoint-800/</a:t>
            </a:r>
          </a:p>
          <a:p>
            <a:r>
              <a:t>  trainer_state.json</a:t>
            </a:r>
          </a:p>
          <a:p>
            <a:r>
              <a:t>  training_args.bin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7"/>
                </a:solidFill>
              </a:defRPr>
            </a:pPr>
            <a:r>
              <a:t>Adversarial ML Against Password Strength 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8368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1109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1F2A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577"/>
                </a:solidFill>
              </a:defRPr>
            </a:pPr>
            <a:r>
              <a:t>Fast enough to run during the final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08760"/>
            <a:ext cx="10433304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81F2A"/>
                </a:solidFill>
                <a:latin typeface="Consolas"/>
              </a:defRPr>
            </a:pPr>
            <a:r>
              <a:t>cd "C:\Users\husey\Documents\New project\InfoSecProject-FoolingPasswordTesters"</a:t>
            </a:r>
          </a:p>
          <a:p/>
          <a:p>
            <a:r>
              <a:t>python score_generated_passwords.py `</a:t>
            </a:r>
          </a:p>
          <a:p>
            <a:r>
              <a:t>  --input data/generated_passwords/verified_passwords_v1.csv `</a:t>
            </a:r>
          </a:p>
          <a:p>
            <a:r>
              <a:t>  --output data/generated_passwords/scored_generated_passwords.csv</a:t>
            </a:r>
          </a:p>
          <a:p/>
          <a:p>
            <a:r>
              <a:t>python evaluate_attackability.py `</a:t>
            </a:r>
          </a:p>
          <a:p>
            <a:r>
              <a:t>  --generated data/generated_passwords/verified_passwords_v1.csv `</a:t>
            </a:r>
          </a:p>
          <a:p>
            <a:r>
              <a:t>  --output data/generated_passwords/attackability_results.csv `</a:t>
            </a:r>
          </a:p>
          <a:p>
            <a:r>
              <a:t>  --report ATTACKABILITY_REPORT.md</a:t>
            </a:r>
          </a:p>
          <a:p/>
          <a:p>
            <a:r>
              <a:t>Get-Content ATTACKABILITY_REPORT.md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836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7"/>
                </a:solidFill>
              </a:defRPr>
            </a:pPr>
            <a:r>
              <a:t>Adversarial ML Against Password Strength 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1109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1F2A"/>
                </a:solidFill>
              </a:defRPr>
            </a:pPr>
            <a:r>
              <a:t>Final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577"/>
                </a:solidFill>
              </a:defRPr>
            </a:pPr>
            <a:r>
              <a:t>The core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7432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45336"/>
            <a:ext cx="2468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10,094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75688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86577"/>
                </a:solidFill>
              </a:defRPr>
            </a:pPr>
            <a:r>
              <a:t>generated passwords evaluated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9312" y="1417320"/>
            <a:ext cx="27432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6472" y="1545336"/>
            <a:ext cx="2468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804B"/>
                </a:solidFill>
              </a:defRPr>
            </a:pPr>
            <a:r>
              <a:t>10,094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6472" y="2075688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86577"/>
                </a:solidFill>
              </a:defRPr>
            </a:pPr>
            <a:r>
              <a:t>passwords scoring 4/4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47104" y="1417320"/>
            <a:ext cx="27432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84264" y="1545336"/>
            <a:ext cx="2468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BE2D2D"/>
                </a:solidFill>
              </a:defRPr>
            </a:pPr>
            <a:r>
              <a:t>9,102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4264" y="2075688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86577"/>
                </a:solidFill>
              </a:defRPr>
            </a:pPr>
            <a:r>
              <a:t>matched by targeted 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54896" y="1417320"/>
            <a:ext cx="20574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92056" y="1545336"/>
            <a:ext cx="1783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B46914"/>
                </a:solidFill>
              </a:defRPr>
            </a:pPr>
            <a:r>
              <a:t>90.17%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92056" y="2075688"/>
            <a:ext cx="1783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86577"/>
                </a:solidFill>
              </a:defRPr>
            </a:pPr>
            <a:r>
              <a:t>match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6324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81F2A"/>
                </a:solidFill>
              </a:defRPr>
            </a:pPr>
            <a:r>
              <a:t>All passwords in the primary generated dataset reached zxcvbn score 4.</a:t>
            </a:r>
          </a:p>
          <a:p>
            <a:pPr>
              <a:spcAft>
                <a:spcPts val="800"/>
              </a:spcAft>
              <a:defRPr sz="2000">
                <a:solidFill>
                  <a:srgbClr val="181F2A"/>
                </a:solidFill>
              </a:defRPr>
            </a:pPr>
            <a:r>
              <a:t>Most still contained common-password material or predictable structure.</a:t>
            </a:r>
          </a:p>
          <a:p>
            <a:pPr>
              <a:spcAft>
                <a:spcPts val="800"/>
              </a:spcAft>
              <a:defRPr sz="2000">
                <a:solidFill>
                  <a:srgbClr val="181F2A"/>
                </a:solidFill>
              </a:defRPr>
            </a:pPr>
            <a:r>
              <a:t>This demonstrates a gap between meter confidence and targeted attack resistance.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836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7"/>
                </a:solidFill>
              </a:defRPr>
            </a:pPr>
            <a:r>
              <a:t>Adversarial ML Against Password Strength 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8368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7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1109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1F2A"/>
                </a:solidFill>
              </a:defRPr>
            </a:pPr>
            <a:r>
              <a:t>Real Examples From the Generated Dataset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1060703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1325880"/>
                <a:gridCol w="2331720"/>
                <a:gridCol w="3977639"/>
              </a:tblGrid>
              <a:tr h="5791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1F2A"/>
                          </a:solidFill>
                        </a:defRPr>
                      </a:pPr>
                      <a:r>
                        <a:t>Generated password</a:t>
                      </a:r>
                    </a:p>
                  </a:txBody>
                  <a:tcPr>
                    <a:solidFill>
                      <a:srgbClr val="E4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1F2A"/>
                          </a:solidFill>
                        </a:defRPr>
                      </a:pPr>
                      <a:r>
                        <a:t>zxcvbn score</a:t>
                      </a:r>
                    </a:p>
                  </a:txBody>
                  <a:tcPr>
                    <a:solidFill>
                      <a:srgbClr val="E4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1F2A"/>
                          </a:solidFill>
                        </a:defRPr>
                      </a:pPr>
                      <a:r>
                        <a:t>zxcvbn fast-hash display</a:t>
                      </a:r>
                    </a:p>
                  </a:txBody>
                  <a:tcPr>
                    <a:solidFill>
                      <a:srgbClr val="E4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1F2A"/>
                          </a:solidFill>
                        </a:defRPr>
                      </a:pPr>
                      <a:r>
                        <a:t>Attackability label</a:t>
                      </a:r>
                    </a:p>
                  </a:txBody>
                  <a:tcPr>
                    <a:solidFill>
                      <a:srgbClr val="E4EBF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1F2A"/>
                          </a:solidFill>
                        </a:defRPr>
                      </a:pPr>
                      <a:r>
                        <a:t>!1990summersage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1F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1F2A"/>
                          </a:solidFill>
                        </a:defRPr>
                      </a:pPr>
                      <a:r>
                        <a:t>4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1F2A"/>
                          </a:solidFill>
                        </a:defRPr>
                      </a:pPr>
                      <a:r>
                        <a:t>contains_common_password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1F2A"/>
                          </a:solidFill>
                        </a:defRPr>
                      </a:pPr>
                      <a:r>
                        <a:t>!1993#testuser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1F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1F2A"/>
                          </a:solidFill>
                        </a:defRPr>
                      </a:pPr>
                      <a:r>
                        <a:t>4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1F2A"/>
                          </a:solidFill>
                        </a:defRPr>
                      </a:pPr>
                      <a:r>
                        <a:t>contains_common_password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1F2A"/>
                          </a:solidFill>
                        </a:defRPr>
                      </a:pPr>
                      <a:r>
                        <a:t>!1996_aleksandar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1F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1F2A"/>
                          </a:solidFill>
                        </a:defRPr>
                      </a:pPr>
                      <a:r>
                        <a:t>2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1F2A"/>
                          </a:solidFill>
                        </a:defRPr>
                      </a:pPr>
                      <a:r>
                        <a:t>contains_common_password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1F2A"/>
                          </a:solidFill>
                        </a:defRPr>
                      </a:pPr>
                      <a:r>
                        <a:t>!1999falldavid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1F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1F2A"/>
                          </a:solidFill>
                        </a:defRPr>
                      </a:pPr>
                      <a:r>
                        <a:t>2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1F2A"/>
                          </a:solidFill>
                        </a:defRPr>
                      </a:pPr>
                      <a:r>
                        <a:t>contains_common_password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1F2A"/>
                          </a:solidFill>
                        </a:defRPr>
                      </a:pPr>
                      <a:r>
                        <a:t>!1995spring2010jane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1F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1F2A"/>
                          </a:solidFill>
                        </a:defRPr>
                      </a:pPr>
                      <a:r>
                        <a:t>12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81F2A"/>
                          </a:solidFill>
                        </a:defRPr>
                      </a:pPr>
                      <a:r>
                        <a:t>contains_common_password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2578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1F2A"/>
                </a:solidFill>
              </a:defRPr>
            </a:pPr>
            <a:r>
              <a:t>These examples are strong according to zxcvbn, but visibly structured for a targeted attacker.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836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7"/>
                </a:solidFill>
              </a:defRPr>
            </a:pPr>
            <a:r>
              <a:t>Adversarial ML Against Password Strength 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7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1109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1F2A"/>
                </a:solidFill>
              </a:defRPr>
            </a:pPr>
            <a:r>
              <a:t>Why The Meter Can Be Fooled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51663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1563624"/>
            <a:ext cx="4764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6577"/>
                </a:solidFill>
              </a:defRPr>
            </a:pPr>
            <a:r>
              <a:t>What zxcvbn rewards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Longer strings</a:t>
            </a:r>
          </a:p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Mixed words, years, and symbols</a:t>
            </a:r>
          </a:p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Patterns not directly found as one dictionary entry</a:t>
            </a:r>
          </a:p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Estimated search cost under its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417320"/>
            <a:ext cx="51663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6248" y="1563624"/>
            <a:ext cx="4764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6577"/>
                </a:solidFill>
              </a:defRPr>
            </a:pPr>
            <a:r>
              <a:t>What the attacker exploits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6596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Known common-password components</a:t>
            </a:r>
          </a:p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Small phrase list: summer, winter, fall, spring, admin, test, user</a:t>
            </a:r>
          </a:p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Years and symbols in predictable positions</a:t>
            </a:r>
          </a:p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A much smaller targeted search 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7"/>
                </a:solidFill>
              </a:defRPr>
            </a:pPr>
            <a:r>
              <a:t>Adversarial ML Against Password Strength 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8368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7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1109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1F2A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577"/>
                </a:solidFill>
              </a:defRPr>
            </a:pPr>
            <a:r>
              <a:t>How to frame the work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715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Directly evaluated zxcvbn; Dropbox-style meter was not implemented.</a:t>
            </a:r>
          </a:p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Attackability check is targeted-rule analysis, not a full hashcat/John benchmark.</a:t>
            </a:r>
          </a:p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About 9.83% of generated outputs were not matched by this specific targeted check.</a:t>
            </a:r>
          </a:p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The result demonstrates feasibility and a measurable scoring gap, not a universal break of all meters.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572768"/>
            <a:ext cx="41605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04888" y="1719072"/>
            <a:ext cx="3758183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6577"/>
                </a:solidFill>
              </a:defRPr>
            </a:pPr>
            <a:r>
              <a:t>Strong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0608" y="21031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</a:defRPr>
            </a:pPr>
            <a:r>
              <a:t>Add Dropbox-style scoring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</a:defRPr>
            </a:pPr>
            <a:r>
              <a:t>Run real cracking benchmark</a:t>
            </a:r>
          </a:p>
          <a:p>
            <a:pPr>
              <a:spcAft>
                <a:spcPts val="800"/>
              </a:spcAft>
              <a:defRPr sz="1500">
                <a:solidFill>
                  <a:srgbClr val="181F2A"/>
                </a:solidFill>
              </a:defRPr>
            </a:pPr>
            <a:r>
              <a:t>Compare multiple models and pattern families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7"/>
                </a:solidFill>
              </a:defRPr>
            </a:pPr>
            <a:r>
              <a:t>Adversarial ML Against Password Strength 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8368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7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1109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1F2A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81F2A"/>
                </a:solidFill>
              </a:defRPr>
            </a:pPr>
            <a:r>
              <a:t>We built an end-to-end adversarial password generation pipeline.</a:t>
            </a:r>
          </a:p>
          <a:p>
            <a:pPr>
              <a:spcAft>
                <a:spcPts val="800"/>
              </a:spcAft>
              <a:defRPr sz="2100">
                <a:solidFill>
                  <a:srgbClr val="181F2A"/>
                </a:solidFill>
              </a:defRPr>
            </a:pPr>
            <a:r>
              <a:t>The final dataset contains 10,094 generated passwords scoring 4/4 on zxcvbn.</a:t>
            </a:r>
          </a:p>
          <a:p>
            <a:pPr>
              <a:spcAft>
                <a:spcPts val="800"/>
              </a:spcAft>
              <a:defRPr sz="2100">
                <a:solidFill>
                  <a:srgbClr val="181F2A"/>
                </a:solidFill>
              </a:defRPr>
            </a:pPr>
            <a:r>
              <a:t>90.17% still match a targeted predictability check.</a:t>
            </a:r>
          </a:p>
          <a:p>
            <a:pPr>
              <a:spcAft>
                <a:spcPts val="800"/>
              </a:spcAft>
              <a:defRPr sz="2100">
                <a:solidFill>
                  <a:srgbClr val="181F2A"/>
                </a:solidFill>
              </a:defRPr>
            </a:pPr>
            <a:r>
              <a:t>High password-meter scores should not be treated as proof of resistance to targeted guessing.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4617720"/>
            <a:ext cx="10012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2728" y="4800600"/>
            <a:ext cx="961034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81F2A"/>
                </a:solidFill>
                <a:latin typeface="Consolas"/>
              </a:defRPr>
            </a:pPr>
            <a:r>
              <a:t>Final takeaway:</a:t>
            </a:r>
          </a:p>
          <a:p/>
          <a:p>
            <a:r>
              <a:t>Strength meters are useful approximations, but adversarial generation can exploit the assumptions behind those approximations.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8368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86577"/>
                </a:solidFill>
              </a:defRPr>
            </a:pPr>
            <a:r>
              <a:t>Adversarial ML Against Password Strength 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0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7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