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1f82b2c3ab4fd5" /><Relationship Type="http://schemas.openxmlformats.org/officeDocument/2006/relationships/extended-properties" Target="/docProps/app.xml" Id="R6b5c134115e2424c" /><Relationship Type="http://schemas.openxmlformats.org/officeDocument/2006/relationships/officeDocument" Target="/ppt/presentation.xml" Id="Rc134b4d0ae014be5" /></Relationships>
</file>

<file path=ppt/presentation.xml><?xml version="1.0" encoding="utf-8"?>
<p:presentation xmlns:p="http://schemas.openxmlformats.org/presentationml/2006/main">
  <p:sldMasterIdLst>
    <p:sldMasterId xmlns:r="http://schemas.openxmlformats.org/officeDocument/2006/relationships" id="2147483648" r:id="R7c44a6213241422b"/>
  </p:sldMasterIdLst>
  <p:notesMasterIdLst>
    <p:notesMasterId xmlns:r="http://schemas.openxmlformats.org/officeDocument/2006/relationships" r:id="Rae3bcd01464a48fa"/>
  </p:notesMasterIdLst>
  <p:sldIdLst>
    <p:sldId xmlns:r="http://schemas.openxmlformats.org/officeDocument/2006/relationships" id="256" r:id="Rd96f12fc450945da"/>
    <p:sldId xmlns:r="http://schemas.openxmlformats.org/officeDocument/2006/relationships" id="257" r:id="Rb1f4dd98fcf64c90"/>
    <p:sldId xmlns:r="http://schemas.openxmlformats.org/officeDocument/2006/relationships" id="258" r:id="Rf456ed08b5cb4cb4"/>
    <p:sldId xmlns:r="http://schemas.openxmlformats.org/officeDocument/2006/relationships" id="259" r:id="R186ad386c1ac4625"/>
    <p:sldId xmlns:r="http://schemas.openxmlformats.org/officeDocument/2006/relationships" id="260" r:id="Ra9058d7f854f4c66"/>
    <p:sldId xmlns:r="http://schemas.openxmlformats.org/officeDocument/2006/relationships" id="261" r:id="R9571d2ca98714ba5"/>
    <p:sldId xmlns:r="http://schemas.openxmlformats.org/officeDocument/2006/relationships" id="262" r:id="R4c27fe2ec7b847b8"/>
    <p:sldId xmlns:r="http://schemas.openxmlformats.org/officeDocument/2006/relationships" id="263" r:id="Re5bfbc35863e40c6"/>
    <p:sldId xmlns:r="http://schemas.openxmlformats.org/officeDocument/2006/relationships" id="264" r:id="Rafeeae007b174fc2"/>
    <p:sldId xmlns:r="http://schemas.openxmlformats.org/officeDocument/2006/relationships" id="265" r:id="R0752349d484f46a9"/>
    <p:sldId xmlns:r="http://schemas.openxmlformats.org/officeDocument/2006/relationships" id="266" r:id="Re15799784a354e8f"/>
    <p:sldId xmlns:r="http://schemas.openxmlformats.org/officeDocument/2006/relationships" id="267" r:id="R75a7c071c3744ee1"/>
    <p:sldId xmlns:r="http://schemas.openxmlformats.org/officeDocument/2006/relationships" id="268" r:id="Rb2258531bd0645f5"/>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7c44a6213241422b" /><Relationship Type="http://schemas.openxmlformats.org/officeDocument/2006/relationships/theme" Target="/ppt/theme/theme1.xml" Id="Rc7baa153f4054170" /><Relationship Type="http://schemas.openxmlformats.org/officeDocument/2006/relationships/notesMaster" Target="/ppt/notesMasters/notesMaster1.xml" Id="Rae3bcd01464a48fa" /><Relationship Type="http://schemas.openxmlformats.org/officeDocument/2006/relationships/presProps" Target="/ppt/presProps.xml" Id="R4fc08f27f1754cb6" /><Relationship Type="http://schemas.openxmlformats.org/officeDocument/2006/relationships/viewProps" Target="/ppt/viewProps.xml" Id="R43c72033460345a7" /><Relationship Type="http://schemas.openxmlformats.org/officeDocument/2006/relationships/tableStyles" Target="/ppt/tableStyles.xml" Id="Rb159c1de34814cb7" /><Relationship Type="http://schemas.openxmlformats.org/officeDocument/2006/relationships/slide" Target="/ppt/slides/slide1.xml" Id="Rd96f12fc450945da" /><Relationship Type="http://schemas.openxmlformats.org/officeDocument/2006/relationships/slide" Target="/ppt/slides/slide2.xml" Id="Rb1f4dd98fcf64c90" /><Relationship Type="http://schemas.openxmlformats.org/officeDocument/2006/relationships/slide" Target="/ppt/slides/slide3.xml" Id="Rf456ed08b5cb4cb4" /><Relationship Type="http://schemas.openxmlformats.org/officeDocument/2006/relationships/slide" Target="/ppt/slides/slide4.xml" Id="R186ad386c1ac4625" /><Relationship Type="http://schemas.openxmlformats.org/officeDocument/2006/relationships/slide" Target="/ppt/slides/slide5.xml" Id="Ra9058d7f854f4c66" /><Relationship Type="http://schemas.openxmlformats.org/officeDocument/2006/relationships/slide" Target="/ppt/slides/slide6.xml" Id="R9571d2ca98714ba5" /><Relationship Type="http://schemas.openxmlformats.org/officeDocument/2006/relationships/slide" Target="/ppt/slides/slide7.xml" Id="R4c27fe2ec7b847b8" /><Relationship Type="http://schemas.openxmlformats.org/officeDocument/2006/relationships/slide" Target="/ppt/slides/slide8.xml" Id="Re5bfbc35863e40c6" /><Relationship Type="http://schemas.openxmlformats.org/officeDocument/2006/relationships/slide" Target="/ppt/slides/slide9.xml" Id="Rafeeae007b174fc2" /><Relationship Type="http://schemas.openxmlformats.org/officeDocument/2006/relationships/slide" Target="/ppt/slides/slide10.xml" Id="R0752349d484f46a9" /><Relationship Type="http://schemas.openxmlformats.org/officeDocument/2006/relationships/slide" Target="/ppt/slides/slide11.xml" Id="Re15799784a354e8f" /><Relationship Type="http://schemas.openxmlformats.org/officeDocument/2006/relationships/slide" Target="/ppt/slides/slide12.xml" Id="R75a7c071c3744ee1" /><Relationship Type="http://schemas.openxmlformats.org/officeDocument/2006/relationships/slide" Target="/ppt/slides/slide13.xml" Id="Rb2258531bd0645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09b497f94f0a46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8620543d1f4531" /><Relationship Type="http://schemas.openxmlformats.org/officeDocument/2006/relationships/notesMaster" Target="/ppt/notesMasters/notesMaster1.xml" Id="Ra0225a589c194b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8285eca7484640" /><Relationship Type="http://schemas.openxmlformats.org/officeDocument/2006/relationships/notesMaster" Target="/ppt/notesMasters/notesMaster1.xml" Id="R7cc278ce29fa46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63fdcbcaf047a1" /><Relationship Type="http://schemas.openxmlformats.org/officeDocument/2006/relationships/notesMaster" Target="/ppt/notesMasters/notesMaster1.xml" Id="Rf5f6e8cc338846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0636fcebdd45f1" /><Relationship Type="http://schemas.openxmlformats.org/officeDocument/2006/relationships/notesMaster" Target="/ppt/notesMasters/notesMaster1.xml" Id="Rac5ce71cbdf949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55c33320224676" /><Relationship Type="http://schemas.openxmlformats.org/officeDocument/2006/relationships/notesMaster" Target="/ppt/notesMasters/notesMaster1.xml" Id="R4b23f30860cc4c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f56cb963614e18" /><Relationship Type="http://schemas.openxmlformats.org/officeDocument/2006/relationships/notesMaster" Target="/ppt/notesMasters/notesMaster1.xml" Id="R8006d7fba98649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a71e0d0dd940b3" /><Relationship Type="http://schemas.openxmlformats.org/officeDocument/2006/relationships/notesMaster" Target="/ppt/notesMasters/notesMaster1.xml" Id="R720afab8dbc645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6f92881bf54fdd" /><Relationship Type="http://schemas.openxmlformats.org/officeDocument/2006/relationships/notesMaster" Target="/ppt/notesMasters/notesMaster1.xml" Id="R423c8df2bcae42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079456948d43f6" /><Relationship Type="http://schemas.openxmlformats.org/officeDocument/2006/relationships/notesMaster" Target="/ppt/notesMasters/notesMaster1.xml" Id="Rbb9bffd4c67242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32652e3f514588" /><Relationship Type="http://schemas.openxmlformats.org/officeDocument/2006/relationships/notesMaster" Target="/ppt/notesMasters/notesMaster1.xml" Id="Rd0f8410330854a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b5ade49db7422f" /><Relationship Type="http://schemas.openxmlformats.org/officeDocument/2006/relationships/notesMaster" Target="/ppt/notesMasters/notesMaster1.xml" Id="R97481886246f4a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8b9eeb25b64b9e" /><Relationship Type="http://schemas.openxmlformats.org/officeDocument/2006/relationships/notesMaster" Target="/ppt/notesMasters/notesMaster1.xml" Id="R7f2609ab123242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779a99c47b043e8" /><Relationship Type="http://schemas.openxmlformats.org/officeDocument/2006/relationships/notesMaster" Target="/ppt/notesMasters/notesMaster1.xml" Id="Rbcd7bdba05c543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saying: Our project is about whether a password strength meter can be fooled. We trained and tested a pipeline that creates passwords that look strong to zxcvbn, but still follow predictable patterns. The key framing is not "we made secure passwords." It is "we made passwords that the meter thinks are secure."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Password meters are useful, but they are still algorithms. They reward features like length, symbols, numbers, and estimated guessing cost. Attackers can look for the gap between what the meter rewards and what targeted guessing can exploit.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zxcvbn is smarter than a basic checklist. It looks for dictionary words, dates, repeats, sequences, and patterns, then estimates guesses. Our attack takes advantage of passwords that combine enough pieces to score high, even when those pieces are semantically predictable.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Our research question is whether ML can generate high-scoring passwords that are not truly random. The deliverables are a generation script, a fine-tuned LLM, and more than 10,000 adversarial passwords. We satisfy all three.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We started from common weak passwords, then added predictable complexity: seasons, years, symbols, and account words. This matters because the weak root is still there. We are not creating random secrets; we are creating structured passwords that look complex.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is the full pipeline. Clean the data, transform weak passwords, keep high zxcvbn examples, format as JSONL, fine-tune Qwen2-0.5B with LoRA, generate new candidates, then analyze the results. For the demo, the expensive model work is precomputed.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model is Qwen2-0.5B with LoRA. LoRA trains a small adapter instead of the whole model, which makes it feasible for a course project. The prompt is simple: generate a password that fools a strength meter. We filter model outputs with zxcvbn.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merged dataset has 19,574 unique generated passwords. All score 4 out of 4 on zxcvbn. The average length is 16.5 characters. These numbers directly satisfy the dataset and high-score generation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is the important weakness evidence. 99.2 percent contain a year-like value, 84.5 percent contain a season, 96.7 percent contain a symbol, and 83.8 percent contain both season and year. That means the outputs are high-scoring but heavily patterned.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To make the weakness argument stronger, we added a rule-based attacker simulation. Using only 100 common roots plus years, seasons, and symbols, it generated about 488,000 guesses and recovered 2,808 passwords, or 14.3 percent of the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baseline comparison shows why this is adversarial. Random passwords also score 4 out of 4, but they do not contain season-year templates. Generated adversarial passwords score like random passwords, but pattern like weak passwords.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Flask app is the live demo. It is intentionally simple: check a password, generate a few examples, see attack results, compare baselines, and download the CSV. Do not spend too long here. Show the app, score one example, click Generate 5, and point to the attacker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Limitations: we focused mainly on zxcvbn and did not run a full Hashcat benchmark. Future work would test more meters and do real cracking experiments. Conclusion: a high password meter score does not always mean resistance to targeted guessing.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589621e52c478a"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b9ae8ac0df4b4e9a" /><Relationship Type="http://schemas.openxmlformats.org/officeDocument/2006/relationships/slideLayout" Target="/ppt/slideLayouts/slideLayout2.xml" Id="R83cfe635f7e247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cfe635f7e247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13bb5d18ad994eb9" /><Relationship Type="http://schemas.openxmlformats.org/officeDocument/2006/relationships/notesSlide" Target="/ppt/notesSlides/notesSlide1.xml" Id="Reec9608088ca4f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af872759a3e4db7" /><Relationship Type="http://schemas.openxmlformats.org/officeDocument/2006/relationships/notesSlide" Target="/ppt/notesSlides/notesSlide2.xml" Id="Rb563edd59fd244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8f440837cd44df8" /><Relationship Type="http://schemas.openxmlformats.org/officeDocument/2006/relationships/notesSlide" Target="/ppt/notesSlides/notesSlide3.xml" Id="R0c0e1aa8d2b841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6c0ac49c8634334" /><Relationship Type="http://schemas.openxmlformats.org/officeDocument/2006/relationships/notesSlide" Target="/ppt/notesSlides/notesSlide4.xml" Id="Rd2bafb71c87440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4633e9aca5b4e4e" /><Relationship Type="http://schemas.openxmlformats.org/officeDocument/2006/relationships/notesSlide" Target="/ppt/notesSlides/notesSlide5.xml" Id="Rf2ca07b52cc847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f688ff056114ad4" /><Relationship Type="http://schemas.openxmlformats.org/officeDocument/2006/relationships/notesSlide" Target="/ppt/notesSlides/notesSlide6.xml" Id="Rf72a367337fc46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ab9706c4fef4c92" /><Relationship Type="http://schemas.openxmlformats.org/officeDocument/2006/relationships/notesSlide" Target="/ppt/notesSlides/notesSlide7.xml" Id="R9a542df58ae04e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c78a31079a1429f" /><Relationship Type="http://schemas.openxmlformats.org/officeDocument/2006/relationships/notesSlide" Target="/ppt/notesSlides/notesSlide8.xml" Id="R83df723b4ed748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b1691b76a114689" /><Relationship Type="http://schemas.openxmlformats.org/officeDocument/2006/relationships/notesSlide" Target="/ppt/notesSlides/notesSlide9.xml" Id="R3f43ba22a6c149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ab10bf0564f406d" /><Relationship Type="http://schemas.openxmlformats.org/officeDocument/2006/relationships/notesSlide" Target="/ppt/notesSlides/notesSlide10.xml" Id="R1f7a314bbe5544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2e9c39abdc94b0a" /><Relationship Type="http://schemas.openxmlformats.org/officeDocument/2006/relationships/notesSlide" Target="/ppt/notesSlides/notesSlide11.xml" Id="R21fb8d4f8125445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08d360db7b74a48" /><Relationship Type="http://schemas.openxmlformats.org/officeDocument/2006/relationships/notesSlide" Target="/ppt/notesSlides/notesSlide12.xml" Id="R7099b51818084e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fe7737bb8cd4aec" /><Relationship Type="http://schemas.openxmlformats.org/officeDocument/2006/relationships/notesSlide" Target="/ppt/notesSlides/notesSlide13.xml" Id="Rb9d75a0103f94c9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slide-root">
            <a:extLst xmlns:a="http://schemas.openxmlformats.org/drawingml/2006/main">
              <a:ext uri="{FF2B5EF4-FFF2-40B4-BE49-F238E27FC236}">
                <a16:creationId xmlns:a16="http://schemas.microsoft.com/office/drawing/2014/main" id="{EB0FFEBB-037A-4C74-A1D8-4322A16A890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6F8FB"/>
          </a:solidFill>
        </p:spPr>
      </p:sp>
      <p:sp>
        <p:nvSpPr>
          <p:cNvPr id="2" name="">
            <a:extLst xmlns:a="http://schemas.openxmlformats.org/drawingml/2006/main">
              <a:ext uri="{FF2B5EF4-FFF2-40B4-BE49-F238E27FC236}">
                <a16:creationId xmlns:a16="http://schemas.microsoft.com/office/drawing/2014/main" id="{24740B02-B632-4379-AC43-2676B2F9FD19}"/>
              </a:ext>
            </a:extLst>
          </p:cNvPr>
          <p:cNvSpPr>
            <a:spLocks xmlns:a="http://schemas.openxmlformats.org/drawingml/2006/main" noGrp="1"/>
          </p:cNvSpPr>
          <p:nvPr/>
        </p:nvSpPr>
        <p:spPr>
          <a:xfrm xmlns:a="http://schemas.openxmlformats.org/drawingml/2006/main">
            <a:off x="876300" y="3276600"/>
            <a:ext cx="8382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0796B"/>
                </a:solidFill>
              </a:defRPr>
            </a:pPr>
            <a:r>
              <a:rPr sz="1275" b="1">
                <a:solidFill>
                  <a:srgbClr val="00796B"/>
                </a:solidFill>
              </a:rPr>
              <a:t>Project 4 | Information Security</a:t>
            </a:r>
          </a:p>
        </p:txBody>
      </p:sp>
      <p:sp>
        <p:nvSpPr>
          <p:cNvPr id="3" name="">
            <a:extLst xmlns:a="http://schemas.openxmlformats.org/drawingml/2006/main">
              <a:ext uri="{FF2B5EF4-FFF2-40B4-BE49-F238E27FC236}">
                <a16:creationId xmlns:a16="http://schemas.microsoft.com/office/drawing/2014/main" id="{575EAEF8-F103-47B2-B96E-2D29815F4912}"/>
              </a:ext>
            </a:extLst>
          </p:cNvPr>
          <p:cNvSpPr>
            <a:spLocks xmlns:a="http://schemas.openxmlformats.org/drawingml/2006/main" noGrp="1"/>
          </p:cNvSpPr>
          <p:nvPr/>
        </p:nvSpPr>
        <p:spPr>
          <a:xfrm xmlns:a="http://schemas.openxmlformats.org/drawingml/2006/main">
            <a:off x="876300" y="3695700"/>
            <a:ext cx="8382000" cy="1657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5400" b="1">
                <a:solidFill>
                  <a:srgbClr val="152033"/>
                </a:solidFill>
              </a:defRPr>
            </a:pPr>
            <a:r>
              <a:rPr sz="5400" b="1">
                <a:solidFill>
                  <a:srgbClr val="152033"/>
                </a:solidFill>
              </a:rPr>
              <a:t>Adversarial ML Against Password Strength Meters</a:t>
            </a:r>
          </a:p>
        </p:txBody>
      </p:sp>
      <p:sp>
        <p:nvSpPr>
          <p:cNvPr id="4" name="slide-subtitle">
            <a:extLst xmlns:a="http://schemas.openxmlformats.org/drawingml/2006/main">
              <a:ext uri="{FF2B5EF4-FFF2-40B4-BE49-F238E27FC236}">
                <a16:creationId xmlns:a16="http://schemas.microsoft.com/office/drawing/2014/main" id="{3C7911CB-3C20-4A49-9A53-4106109FB58C}"/>
              </a:ext>
            </a:extLst>
          </p:cNvPr>
          <p:cNvSpPr>
            <a:spLocks xmlns:a="http://schemas.openxmlformats.org/drawingml/2006/main" noGrp="1"/>
          </p:cNvSpPr>
          <p:nvPr/>
        </p:nvSpPr>
        <p:spPr>
          <a:xfrm xmlns:a="http://schemas.openxmlformats.org/drawingml/2006/main">
            <a:off x="876300" y="5581650"/>
            <a:ext cx="83820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627083"/>
                </a:solidFill>
              </a:defRPr>
            </a:pPr>
            <a:r>
              <a:rPr sz="1950">
                <a:solidFill>
                  <a:srgbClr val="627083"/>
                </a:solidFill>
              </a:rPr>
              <a:t>Generating passwords that score strong while staying predictable enough for targeted attacks.</a:t>
            </a:r>
          </a:p>
        </p:txBody>
      </p:sp>
      <p:sp>
        <p:nvSpPr>
          <p:cNvPr id="5" name="">
            <a:extLst xmlns:a="http://schemas.openxmlformats.org/drawingml/2006/main">
              <a:ext uri="{FF2B5EF4-FFF2-40B4-BE49-F238E27FC236}">
                <a16:creationId xmlns:a16="http://schemas.microsoft.com/office/drawing/2014/main" id="{4104CCD8-8268-465D-90DD-2702B6744C42}"/>
              </a:ext>
            </a:extLst>
          </p:cNvPr>
          <p:cNvSpPr>
            <a:spLocks xmlns:a="http://schemas.openxmlformats.org/drawingml/2006/main" noGrp="1"/>
          </p:cNvSpPr>
          <p:nvPr/>
        </p:nvSpPr>
        <p:spPr>
          <a:xfrm xmlns:a="http://schemas.openxmlformats.org/drawingml/2006/main">
            <a:off x="876300" y="6396990"/>
            <a:ext cx="1151477" cy="624840"/>
          </a:xfrm>
          <a:prstGeom xmlns:a="http://schemas.openxmlformats.org/drawingml/2006/main" prst="roundRect">
            <a:avLst>
              <a:gd name="adj" fmla="val 50000"/>
            </a:avLst>
          </a:prstGeom>
          <a:solidFill xmlns:a="http://schemas.openxmlformats.org/drawingml/2006/main">
            <a:srgbClr val="EAF1FF"/>
          </a:solidFill>
        </p:spPr>
      </p:sp>
      <p:sp>
        <p:nvSpPr>
          <p:cNvPr id="6" name="">
            <a:extLst xmlns:a="http://schemas.openxmlformats.org/drawingml/2006/main">
              <a:ext uri="{FF2B5EF4-FFF2-40B4-BE49-F238E27FC236}">
                <a16:creationId xmlns:a16="http://schemas.microsoft.com/office/drawing/2014/main" id="{938AF10E-1E22-4D41-A4D7-30993883F561}"/>
              </a:ext>
            </a:extLst>
          </p:cNvPr>
          <p:cNvSpPr>
            <a:spLocks xmlns:a="http://schemas.openxmlformats.org/drawingml/2006/main" noGrp="1"/>
          </p:cNvSpPr>
          <p:nvPr/>
        </p:nvSpPr>
        <p:spPr>
          <a:xfrm xmlns:a="http://schemas.openxmlformats.org/drawingml/2006/main">
            <a:off x="1047750" y="6496050"/>
            <a:ext cx="80010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b="1">
                <a:solidFill>
                  <a:srgbClr val="185ABC"/>
                </a:solidFill>
              </a:defRPr>
            </a:pPr>
            <a:r>
              <a:rPr sz="1425" b="1">
                <a:solidFill>
                  <a:srgbClr val="185ABC"/>
                </a:solidFill>
              </a:rPr>
              <a:t>zxcvbn 4/4</a:t>
            </a:r>
          </a:p>
        </p:txBody>
      </p:sp>
      <p:sp>
        <p:nvSpPr>
          <p:cNvPr id="7" name="">
            <a:extLst xmlns:a="http://schemas.openxmlformats.org/drawingml/2006/main">
              <a:ext uri="{FF2B5EF4-FFF2-40B4-BE49-F238E27FC236}">
                <a16:creationId xmlns:a16="http://schemas.microsoft.com/office/drawing/2014/main" id="{49BD96A1-88C5-4FB4-91E5-81887899F723}"/>
              </a:ext>
            </a:extLst>
          </p:cNvPr>
          <p:cNvSpPr>
            <a:spLocks xmlns:a="http://schemas.openxmlformats.org/drawingml/2006/main" noGrp="1"/>
          </p:cNvSpPr>
          <p:nvPr/>
        </p:nvSpPr>
        <p:spPr>
          <a:xfrm xmlns:a="http://schemas.openxmlformats.org/drawingml/2006/main">
            <a:off x="2142077" y="6396990"/>
            <a:ext cx="1910429" cy="624840"/>
          </a:xfrm>
          <a:prstGeom xmlns:a="http://schemas.openxmlformats.org/drawingml/2006/main" prst="roundRect">
            <a:avLst>
              <a:gd name="adj" fmla="val 50000"/>
            </a:avLst>
          </a:prstGeom>
          <a:solidFill xmlns:a="http://schemas.openxmlformats.org/drawingml/2006/main">
            <a:srgbClr val="EAF7F5"/>
          </a:solidFill>
        </p:spPr>
      </p:sp>
      <p:sp>
        <p:nvSpPr>
          <p:cNvPr id="8" name="">
            <a:extLst xmlns:a="http://schemas.openxmlformats.org/drawingml/2006/main">
              <a:ext uri="{FF2B5EF4-FFF2-40B4-BE49-F238E27FC236}">
                <a16:creationId xmlns:a16="http://schemas.microsoft.com/office/drawing/2014/main" id="{EC283118-DDF3-41F1-AAB5-C567A6DE01C1}"/>
              </a:ext>
            </a:extLst>
          </p:cNvPr>
          <p:cNvSpPr>
            <a:spLocks xmlns:a="http://schemas.openxmlformats.org/drawingml/2006/main" noGrp="1"/>
          </p:cNvSpPr>
          <p:nvPr/>
        </p:nvSpPr>
        <p:spPr>
          <a:xfrm xmlns:a="http://schemas.openxmlformats.org/drawingml/2006/main">
            <a:off x="2305050" y="6496050"/>
            <a:ext cx="1562100" cy="438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b="1">
                <a:solidFill>
                  <a:srgbClr val="00796B"/>
                </a:solidFill>
              </a:defRPr>
            </a:pPr>
            <a:r>
              <a:rPr sz="1425" b="1">
                <a:solidFill>
                  <a:srgbClr val="00796B"/>
                </a:solidFill>
              </a:rPr>
              <a:t>LoRA fine-tuned LLM</a:t>
            </a:r>
          </a:p>
        </p:txBody>
      </p:sp>
      <p:sp>
        <p:nvSpPr>
          <p:cNvPr id="9" name="">
            <a:extLst xmlns:a="http://schemas.openxmlformats.org/drawingml/2006/main">
              <a:ext uri="{FF2B5EF4-FFF2-40B4-BE49-F238E27FC236}">
                <a16:creationId xmlns:a16="http://schemas.microsoft.com/office/drawing/2014/main" id="{D98FC7E2-65A9-4406-8F11-2A61EA352251}"/>
              </a:ext>
            </a:extLst>
          </p:cNvPr>
          <p:cNvSpPr>
            <a:spLocks xmlns:a="http://schemas.openxmlformats.org/drawingml/2006/main" noGrp="1"/>
          </p:cNvSpPr>
          <p:nvPr/>
        </p:nvSpPr>
        <p:spPr>
          <a:xfrm xmlns:a="http://schemas.openxmlformats.org/drawingml/2006/main">
            <a:off x="4166807" y="6396990"/>
            <a:ext cx="2482120" cy="407670"/>
          </a:xfrm>
          <a:prstGeom xmlns:a="http://schemas.openxmlformats.org/drawingml/2006/main" prst="roundRect">
            <a:avLst>
              <a:gd name="adj" fmla="val 50000"/>
            </a:avLst>
          </a:prstGeom>
          <a:solidFill xmlns:a="http://schemas.openxmlformats.org/drawingml/2006/main">
            <a:srgbClr val="FFF4E5"/>
          </a:solidFill>
        </p:spPr>
      </p:sp>
      <p:sp>
        <p:nvSpPr>
          <p:cNvPr id="10" name="">
            <a:extLst xmlns:a="http://schemas.openxmlformats.org/drawingml/2006/main">
              <a:ext uri="{FF2B5EF4-FFF2-40B4-BE49-F238E27FC236}">
                <a16:creationId xmlns:a16="http://schemas.microsoft.com/office/drawing/2014/main" id="{7D583E22-5FE5-4F68-900D-1A527C3876C0}"/>
              </a:ext>
            </a:extLst>
          </p:cNvPr>
          <p:cNvSpPr>
            <a:spLocks xmlns:a="http://schemas.openxmlformats.org/drawingml/2006/main" noGrp="1"/>
          </p:cNvSpPr>
          <p:nvPr/>
        </p:nvSpPr>
        <p:spPr>
          <a:xfrm xmlns:a="http://schemas.openxmlformats.org/drawingml/2006/main">
            <a:off x="4343400" y="6496050"/>
            <a:ext cx="21336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b="1">
                <a:solidFill>
                  <a:srgbClr val="A45B00"/>
                </a:solidFill>
              </a:defRPr>
            </a:pPr>
            <a:r>
              <a:rPr sz="1425" b="1">
                <a:solidFill>
                  <a:srgbClr val="A45B00"/>
                </a:solidFill>
              </a:rPr>
              <a:t>19,574 generated passwords</a:t>
            </a:r>
          </a:p>
        </p:txBody>
      </p:sp>
      <p:sp>
        <p:nvSpPr>
          <p:cNvPr id="11" name="">
            <a:extLst xmlns:a="http://schemas.openxmlformats.org/drawingml/2006/main">
              <a:ext uri="{FF2B5EF4-FFF2-40B4-BE49-F238E27FC236}">
                <a16:creationId xmlns:a16="http://schemas.microsoft.com/office/drawing/2014/main" id="{99B384CC-4DD4-4A2C-9F30-4E42FD09D328}"/>
              </a:ext>
            </a:extLst>
          </p:cNvPr>
          <p:cNvSpPr>
            <a:spLocks xmlns:a="http://schemas.openxmlformats.org/drawingml/2006/main" noGrp="1"/>
          </p:cNvSpPr>
          <p:nvPr/>
        </p:nvSpPr>
        <p:spPr>
          <a:xfrm xmlns:a="http://schemas.openxmlformats.org/drawingml/2006/main">
            <a:off x="9828848" y="2057400"/>
            <a:ext cx="7582852" cy="6191250"/>
          </a:xfrm>
          <a:prstGeom xmlns:a="http://schemas.openxmlformats.org/drawingml/2006/main" prst="roundRect">
            <a:avLst>
              <a:gd name="adj" fmla="val 2769"/>
            </a:avLst>
          </a:prstGeom>
          <a:solidFill xmlns:a="http://schemas.openxmlformats.org/drawingml/2006/main">
            <a:srgbClr val="111827"/>
          </a:solidFill>
        </p:spPr>
      </p:sp>
      <p:sp>
        <p:nvSpPr>
          <p:cNvPr id="12" name="">
            <a:extLst xmlns:a="http://schemas.openxmlformats.org/drawingml/2006/main">
              <a:ext uri="{FF2B5EF4-FFF2-40B4-BE49-F238E27FC236}">
                <a16:creationId xmlns:a16="http://schemas.microsoft.com/office/drawing/2014/main" id="{CE73C7D5-51D6-4B4E-BD09-8CAD207F4C97}"/>
              </a:ext>
            </a:extLst>
          </p:cNvPr>
          <p:cNvSpPr>
            <a:spLocks xmlns:a="http://schemas.openxmlformats.org/drawingml/2006/main" noGrp="1"/>
          </p:cNvSpPr>
          <p:nvPr/>
        </p:nvSpPr>
        <p:spPr>
          <a:xfrm xmlns:a="http://schemas.openxmlformats.org/drawingml/2006/main">
            <a:off x="10172700" y="2419350"/>
            <a:ext cx="689610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A7F3D0"/>
                </a:solidFill>
              </a:defRPr>
            </a:pPr>
            <a:r>
              <a:rPr sz="1875">
                <a:solidFill>
                  <a:srgbClr val="A7F3D0"/>
                </a:solidFill>
              </a:rPr>
              <a:t>&gt; Generate a password that fools a strength meter</a:t>
            </a:r>
          </a:p>
        </p:txBody>
      </p:sp>
      <p:sp>
        <p:nvSpPr>
          <p:cNvPr id="13" name="">
            <a:extLst xmlns:a="http://schemas.openxmlformats.org/drawingml/2006/main">
              <a:ext uri="{FF2B5EF4-FFF2-40B4-BE49-F238E27FC236}">
                <a16:creationId xmlns:a16="http://schemas.microsoft.com/office/drawing/2014/main" id="{79FC1006-2E9C-4EE7-8CCB-48E0201A3817}"/>
              </a:ext>
            </a:extLst>
          </p:cNvPr>
          <p:cNvSpPr>
            <a:spLocks xmlns:a="http://schemas.openxmlformats.org/drawingml/2006/main" noGrp="1"/>
          </p:cNvSpPr>
          <p:nvPr/>
        </p:nvSpPr>
        <p:spPr>
          <a:xfrm xmlns:a="http://schemas.openxmlformats.org/drawingml/2006/main">
            <a:off x="10172700" y="2876550"/>
            <a:ext cx="6896100" cy="19050"/>
          </a:xfrm>
          <a:prstGeom xmlns:a="http://schemas.openxmlformats.org/drawingml/2006/main" prst="rect">
            <a:avLst/>
          </a:prstGeom>
          <a:solidFill xmlns:a="http://schemas.openxmlformats.org/drawingml/2006/main">
            <a:srgbClr val="334155"/>
          </a:solidFill>
          <a:ln xmlns:a="http://schemas.openxmlformats.org/drawingml/2006/main" w="0">
            <a:solidFill>
              <a:srgbClr val="334155"/>
            </a:solidFill>
            <a:prstDash val="solid"/>
          </a:ln>
        </p:spPr>
      </p:sp>
      <p:sp>
        <p:nvSpPr>
          <p:cNvPr id="14" name="">
            <a:extLst xmlns:a="http://schemas.openxmlformats.org/drawingml/2006/main">
              <a:ext uri="{FF2B5EF4-FFF2-40B4-BE49-F238E27FC236}">
                <a16:creationId xmlns:a16="http://schemas.microsoft.com/office/drawing/2014/main" id="{D986938D-24DA-4086-B48B-916B9DCA4F16}"/>
              </a:ext>
            </a:extLst>
          </p:cNvPr>
          <p:cNvSpPr>
            <a:spLocks xmlns:a="http://schemas.openxmlformats.org/drawingml/2006/main" noGrp="1"/>
          </p:cNvSpPr>
          <p:nvPr/>
        </p:nvSpPr>
        <p:spPr>
          <a:xfrm xmlns:a="http://schemas.openxmlformats.org/drawingml/2006/main">
            <a:off x="10172700" y="3067050"/>
            <a:ext cx="68961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FFFFFF"/>
                </a:solidFill>
              </a:defRPr>
            </a:pPr>
            <a:r>
              <a:rPr sz="3000" b="1">
                <a:solidFill>
                  <a:srgbClr val="FFFFFF"/>
                </a:solidFill>
              </a:rPr>
              <a:t>@2021userfall</a:t>
            </a:r>
          </a:p>
        </p:txBody>
      </p:sp>
      <p:sp>
        <p:nvSpPr>
          <p:cNvPr id="15" name="">
            <a:extLst xmlns:a="http://schemas.openxmlformats.org/drawingml/2006/main">
              <a:ext uri="{FF2B5EF4-FFF2-40B4-BE49-F238E27FC236}">
                <a16:creationId xmlns:a16="http://schemas.microsoft.com/office/drawing/2014/main" id="{3C60E4B1-433D-41A7-B3F5-5784373A503A}"/>
              </a:ext>
            </a:extLst>
          </p:cNvPr>
          <p:cNvSpPr>
            <a:spLocks xmlns:a="http://schemas.openxmlformats.org/drawingml/2006/main" noGrp="1"/>
          </p:cNvSpPr>
          <p:nvPr/>
        </p:nvSpPr>
        <p:spPr>
          <a:xfrm xmlns:a="http://schemas.openxmlformats.org/drawingml/2006/main">
            <a:off x="10172700" y="3695700"/>
            <a:ext cx="68961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FFFFFF"/>
                </a:solidFill>
              </a:defRPr>
            </a:pPr>
            <a:r>
              <a:rPr sz="3000" b="1">
                <a:solidFill>
                  <a:srgbClr val="FFFFFF"/>
                </a:solidFill>
              </a:rPr>
              <a:t>admin1997!spring!</a:t>
            </a:r>
          </a:p>
        </p:txBody>
      </p:sp>
      <p:sp>
        <p:nvSpPr>
          <p:cNvPr id="16" name="">
            <a:extLst xmlns:a="http://schemas.openxmlformats.org/drawingml/2006/main">
              <a:ext uri="{FF2B5EF4-FFF2-40B4-BE49-F238E27FC236}">
                <a16:creationId xmlns:a16="http://schemas.microsoft.com/office/drawing/2014/main" id="{9DF0E7B5-EDC4-4014-8570-556198DB2FE4}"/>
              </a:ext>
            </a:extLst>
          </p:cNvPr>
          <p:cNvSpPr>
            <a:spLocks xmlns:a="http://schemas.openxmlformats.org/drawingml/2006/main" noGrp="1"/>
          </p:cNvSpPr>
          <p:nvPr/>
        </p:nvSpPr>
        <p:spPr>
          <a:xfrm xmlns:a="http://schemas.openxmlformats.org/drawingml/2006/main">
            <a:off x="10172700" y="4324350"/>
            <a:ext cx="68961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FFFFFF"/>
                </a:solidFill>
              </a:defRPr>
            </a:pPr>
            <a:r>
              <a:rPr sz="3000" b="1">
                <a:solidFill>
                  <a:srgbClr val="FFFFFF"/>
                </a:solidFill>
              </a:rPr>
              <a:t>#2015springfalluser</a:t>
            </a:r>
          </a:p>
        </p:txBody>
      </p:sp>
      <p:sp>
        <p:nvSpPr>
          <p:cNvPr id="17" name="">
            <a:extLst xmlns:a="http://schemas.openxmlformats.org/drawingml/2006/main">
              <a:ext uri="{FF2B5EF4-FFF2-40B4-BE49-F238E27FC236}">
                <a16:creationId xmlns:a16="http://schemas.microsoft.com/office/drawing/2014/main" id="{CAE78267-AF3A-4ACE-AB4D-84CA382FEFA8}"/>
              </a:ext>
            </a:extLst>
          </p:cNvPr>
          <p:cNvSpPr>
            <a:spLocks xmlns:a="http://schemas.openxmlformats.org/drawingml/2006/main" noGrp="1"/>
          </p:cNvSpPr>
          <p:nvPr/>
        </p:nvSpPr>
        <p:spPr>
          <a:xfrm xmlns:a="http://schemas.openxmlformats.org/drawingml/2006/main">
            <a:off x="10172700" y="4953000"/>
            <a:ext cx="6896100" cy="4572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000" b="1">
                <a:solidFill>
                  <a:srgbClr val="FFFFFF"/>
                </a:solidFill>
              </a:defRPr>
            </a:pPr>
            <a:r>
              <a:rPr sz="3000" b="1">
                <a:solidFill>
                  <a:srgbClr val="FFFFFF"/>
                </a:solidFill>
              </a:rPr>
              <a:t>_1995winterfall</a:t>
            </a:r>
          </a:p>
        </p:txBody>
      </p:sp>
      <p:sp>
        <p:nvSpPr>
          <p:cNvPr id="18" name="">
            <a:extLst xmlns:a="http://schemas.openxmlformats.org/drawingml/2006/main">
              <a:ext uri="{FF2B5EF4-FFF2-40B4-BE49-F238E27FC236}">
                <a16:creationId xmlns:a16="http://schemas.microsoft.com/office/drawing/2014/main" id="{A7C8966B-5407-4018-AAB3-2F9B70CE9CD0}"/>
              </a:ext>
            </a:extLst>
          </p:cNvPr>
          <p:cNvSpPr>
            <a:spLocks xmlns:a="http://schemas.openxmlformats.org/drawingml/2006/main" noGrp="1"/>
          </p:cNvSpPr>
          <p:nvPr/>
        </p:nvSpPr>
        <p:spPr>
          <a:xfrm xmlns:a="http://schemas.openxmlformats.org/drawingml/2006/main">
            <a:off x="10171748" y="5581650"/>
            <a:ext cx="6897052" cy="567690"/>
          </a:xfrm>
          <a:prstGeom xmlns:a="http://schemas.openxmlformats.org/drawingml/2006/main" prst="roundRect">
            <a:avLst>
              <a:gd name="adj" fmla="val 16779"/>
            </a:avLst>
          </a:prstGeom>
          <a:solidFill xmlns:a="http://schemas.openxmlformats.org/drawingml/2006/main">
            <a:srgbClr val="1F2937"/>
          </a:solidFill>
        </p:spPr>
      </p:sp>
      <p:sp>
        <p:nvSpPr>
          <p:cNvPr id="19" name="">
            <a:extLst xmlns:a="http://schemas.openxmlformats.org/drawingml/2006/main">
              <a:ext uri="{FF2B5EF4-FFF2-40B4-BE49-F238E27FC236}">
                <a16:creationId xmlns:a16="http://schemas.microsoft.com/office/drawing/2014/main" id="{B1F5B72C-BF60-481A-9C38-AF65835AD9E4}"/>
              </a:ext>
            </a:extLst>
          </p:cNvPr>
          <p:cNvSpPr>
            <a:spLocks xmlns:a="http://schemas.openxmlformats.org/drawingml/2006/main" noGrp="1"/>
          </p:cNvSpPr>
          <p:nvPr/>
        </p:nvSpPr>
        <p:spPr>
          <a:xfrm xmlns:a="http://schemas.openxmlformats.org/drawingml/2006/main">
            <a:off x="10344150" y="5734050"/>
            <a:ext cx="65532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725">
                <a:solidFill>
                  <a:srgbClr val="D1D5DB"/>
                </a:solidFill>
              </a:defRPr>
            </a:pPr>
            <a:r>
              <a:rPr sz="1725">
                <a:solidFill>
                  <a:srgbClr val="D1D5DB"/>
                </a:solidFill>
              </a:rPr>
              <a:t>Looks strong to the meter. Still follows a pattern.</a:t>
            </a:r>
          </a:p>
        </p:txBody>
      </p:sp>
    </p:spTree>
    <p:extLst>
      <p:ext uri="{BB962C8B-B14F-4D97-AF65-F5344CB8AC3E}">
        <p14:creationId xmlns:p14="http://schemas.microsoft.com/office/powerpoint/2010/main" val="103418071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root">
            <a:extLst xmlns:a="http://schemas.openxmlformats.org/drawingml/2006/main">
              <a:ext uri="{FF2B5EF4-FFF2-40B4-BE49-F238E27FC236}">
                <a16:creationId xmlns:a16="http://schemas.microsoft.com/office/drawing/2014/main" id="{2D21192F-D02C-46B2-A56A-12134B7AFFF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6F8FB"/>
          </a:solidFill>
        </p:spPr>
      </p:sp>
      <p:sp>
        <p:nvSpPr>
          <p:cNvPr id="2" name="">
            <a:extLst xmlns:a="http://schemas.openxmlformats.org/drawingml/2006/main">
              <a:ext uri="{FF2B5EF4-FFF2-40B4-BE49-F238E27FC236}">
                <a16:creationId xmlns:a16="http://schemas.microsoft.com/office/drawing/2014/main" id="{25DF74E9-BDA5-439C-88CF-A5AE4A469F2C}"/>
              </a:ext>
            </a:extLst>
          </p:cNvPr>
          <p:cNvSpPr>
            <a:spLocks xmlns:a="http://schemas.openxmlformats.org/drawingml/2006/main" noGrp="1"/>
          </p:cNvSpPr>
          <p:nvPr/>
        </p:nvSpPr>
        <p:spPr>
          <a:xfrm xmlns:a="http://schemas.openxmlformats.org/drawingml/2006/main">
            <a:off x="876300" y="3676650"/>
            <a:ext cx="165354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0796B"/>
                </a:solidFill>
              </a:defRPr>
            </a:pPr>
            <a:r>
              <a:rPr sz="1275" b="1">
                <a:solidFill>
                  <a:srgbClr val="00796B"/>
                </a:solidFill>
              </a:rPr>
              <a:t>Problem</a:t>
            </a:r>
          </a:p>
        </p:txBody>
      </p:sp>
      <p:sp>
        <p:nvSpPr>
          <p:cNvPr id="3" name="slide-title">
            <a:extLst xmlns:a="http://schemas.openxmlformats.org/drawingml/2006/main">
              <a:ext uri="{FF2B5EF4-FFF2-40B4-BE49-F238E27FC236}">
                <a16:creationId xmlns:a16="http://schemas.microsoft.com/office/drawing/2014/main" id="{0B73D51D-EC7C-4D32-8C81-1711C20491CF}"/>
              </a:ext>
            </a:extLst>
          </p:cNvPr>
          <p:cNvSpPr>
            <a:spLocks xmlns:a="http://schemas.openxmlformats.org/drawingml/2006/main" noGrp="1"/>
          </p:cNvSpPr>
          <p:nvPr/>
        </p:nvSpPr>
        <p:spPr>
          <a:xfrm xmlns:a="http://schemas.openxmlformats.org/drawingml/2006/main">
            <a:off x="876300" y="4191000"/>
            <a:ext cx="16535400" cy="628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050" b="1">
                <a:solidFill>
                  <a:srgbClr val="152033"/>
                </a:solidFill>
              </a:defRPr>
            </a:pPr>
            <a:r>
              <a:rPr sz="4050" b="1">
                <a:solidFill>
                  <a:srgbClr val="152033"/>
                </a:solidFill>
              </a:rPr>
              <a:t>Password meters can reward surface complexity.</a:t>
            </a:r>
          </a:p>
        </p:txBody>
      </p:sp>
      <p:sp>
        <p:nvSpPr>
          <p:cNvPr id="4" name="slide-subtitle">
            <a:extLst xmlns:a="http://schemas.openxmlformats.org/drawingml/2006/main">
              <a:ext uri="{FF2B5EF4-FFF2-40B4-BE49-F238E27FC236}">
                <a16:creationId xmlns:a16="http://schemas.microsoft.com/office/drawing/2014/main" id="{B1E831EB-5222-4FD0-AA91-E4923BCCB3C4}"/>
              </a:ext>
            </a:extLst>
          </p:cNvPr>
          <p:cNvSpPr>
            <a:spLocks xmlns:a="http://schemas.openxmlformats.org/drawingml/2006/main" noGrp="1"/>
          </p:cNvSpPr>
          <p:nvPr/>
        </p:nvSpPr>
        <p:spPr>
          <a:xfrm xmlns:a="http://schemas.openxmlformats.org/drawingml/2006/main">
            <a:off x="876300" y="5143500"/>
            <a:ext cx="165354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627083"/>
                </a:solidFill>
              </a:defRPr>
            </a:pPr>
            <a:r>
              <a:rPr sz="1950">
                <a:solidFill>
                  <a:srgbClr val="627083"/>
                </a:solidFill>
              </a:rPr>
              <a:t>A high score often reflects estimated guessing difficulty, but attackers can exploit predictable templates.</a:t>
            </a:r>
          </a:p>
        </p:txBody>
      </p:sp>
      <p:sp>
        <p:nvSpPr>
          <p:cNvPr id="5" name="">
            <a:extLst xmlns:a="http://schemas.openxmlformats.org/drawingml/2006/main">
              <a:ext uri="{FF2B5EF4-FFF2-40B4-BE49-F238E27FC236}">
                <a16:creationId xmlns:a16="http://schemas.microsoft.com/office/drawing/2014/main" id="{F795BC63-ADFC-4954-8066-A692709F1DF4}"/>
              </a:ext>
            </a:extLst>
          </p:cNvPr>
          <p:cNvSpPr>
            <a:spLocks xmlns:a="http://schemas.openxmlformats.org/drawingml/2006/main" noGrp="1"/>
          </p:cNvSpPr>
          <p:nvPr/>
        </p:nvSpPr>
        <p:spPr>
          <a:xfrm xmlns:a="http://schemas.openxmlformats.org/drawingml/2006/main">
            <a:off x="876300" y="5753100"/>
            <a:ext cx="50673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85ABC"/>
                </a:solidFill>
              </a:defRPr>
            </a:pPr>
            <a:r>
              <a:rPr sz="3750" b="1">
                <a:solidFill>
                  <a:srgbClr val="185ABC"/>
                </a:solidFill>
              </a:rPr>
              <a:t>length</a:t>
            </a:r>
          </a:p>
        </p:txBody>
      </p:sp>
      <p:sp>
        <p:nvSpPr>
          <p:cNvPr id="6" name="">
            <a:extLst xmlns:a="http://schemas.openxmlformats.org/drawingml/2006/main">
              <a:ext uri="{FF2B5EF4-FFF2-40B4-BE49-F238E27FC236}">
                <a16:creationId xmlns:a16="http://schemas.microsoft.com/office/drawing/2014/main" id="{B9002F6D-6E0F-424D-9F4D-EC50ACFEB768}"/>
              </a:ext>
            </a:extLst>
          </p:cNvPr>
          <p:cNvSpPr>
            <a:spLocks xmlns:a="http://schemas.openxmlformats.org/drawingml/2006/main" noGrp="1"/>
          </p:cNvSpPr>
          <p:nvPr/>
        </p:nvSpPr>
        <p:spPr>
          <a:xfrm xmlns:a="http://schemas.openxmlformats.org/drawingml/2006/main">
            <a:off x="876300" y="6381750"/>
            <a:ext cx="50673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627083"/>
                </a:solidFill>
              </a:defRPr>
            </a:pPr>
            <a:r>
              <a:rPr sz="1425">
                <a:solidFill>
                  <a:srgbClr val="627083"/>
                </a:solidFill>
              </a:rPr>
              <a:t>often increases score</a:t>
            </a:r>
          </a:p>
        </p:txBody>
      </p:sp>
      <p:sp>
        <p:nvSpPr>
          <p:cNvPr id="7" name="">
            <a:extLst xmlns:a="http://schemas.openxmlformats.org/drawingml/2006/main">
              <a:ext uri="{FF2B5EF4-FFF2-40B4-BE49-F238E27FC236}">
                <a16:creationId xmlns:a16="http://schemas.microsoft.com/office/drawing/2014/main" id="{5141B89B-E444-486E-8BD5-134C19A06219}"/>
              </a:ext>
            </a:extLst>
          </p:cNvPr>
          <p:cNvSpPr>
            <a:spLocks xmlns:a="http://schemas.openxmlformats.org/drawingml/2006/main" noGrp="1"/>
          </p:cNvSpPr>
          <p:nvPr/>
        </p:nvSpPr>
        <p:spPr>
          <a:xfrm xmlns:a="http://schemas.openxmlformats.org/drawingml/2006/main">
            <a:off x="6610350" y="5753100"/>
            <a:ext cx="50673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00796B"/>
                </a:solidFill>
              </a:defRPr>
            </a:pPr>
            <a:r>
              <a:rPr sz="3750" b="1">
                <a:solidFill>
                  <a:srgbClr val="00796B"/>
                </a:solidFill>
              </a:rPr>
              <a:t>symbols</a:t>
            </a:r>
          </a:p>
        </p:txBody>
      </p:sp>
      <p:sp>
        <p:nvSpPr>
          <p:cNvPr id="8" name="">
            <a:extLst xmlns:a="http://schemas.openxmlformats.org/drawingml/2006/main">
              <a:ext uri="{FF2B5EF4-FFF2-40B4-BE49-F238E27FC236}">
                <a16:creationId xmlns:a16="http://schemas.microsoft.com/office/drawing/2014/main" id="{F74B1164-72DC-4997-9CC0-C318FBEB8BF9}"/>
              </a:ext>
            </a:extLst>
          </p:cNvPr>
          <p:cNvSpPr>
            <a:spLocks xmlns:a="http://schemas.openxmlformats.org/drawingml/2006/main" noGrp="1"/>
          </p:cNvSpPr>
          <p:nvPr/>
        </p:nvSpPr>
        <p:spPr>
          <a:xfrm xmlns:a="http://schemas.openxmlformats.org/drawingml/2006/main">
            <a:off x="6610350" y="6381750"/>
            <a:ext cx="50673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627083"/>
                </a:solidFill>
              </a:defRPr>
            </a:pPr>
            <a:r>
              <a:rPr sz="1425">
                <a:solidFill>
                  <a:srgbClr val="627083"/>
                </a:solidFill>
              </a:rPr>
              <a:t>look complex</a:t>
            </a:r>
          </a:p>
        </p:txBody>
      </p:sp>
      <p:sp>
        <p:nvSpPr>
          <p:cNvPr id="9" name="">
            <a:extLst xmlns:a="http://schemas.openxmlformats.org/drawingml/2006/main">
              <a:ext uri="{FF2B5EF4-FFF2-40B4-BE49-F238E27FC236}">
                <a16:creationId xmlns:a16="http://schemas.microsoft.com/office/drawing/2014/main" id="{31E44158-D971-4785-99D0-C2F11359AB75}"/>
              </a:ext>
            </a:extLst>
          </p:cNvPr>
          <p:cNvSpPr>
            <a:spLocks xmlns:a="http://schemas.openxmlformats.org/drawingml/2006/main" noGrp="1"/>
          </p:cNvSpPr>
          <p:nvPr/>
        </p:nvSpPr>
        <p:spPr>
          <a:xfrm xmlns:a="http://schemas.openxmlformats.org/drawingml/2006/main">
            <a:off x="12344400" y="5753100"/>
            <a:ext cx="50673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A45B00"/>
                </a:solidFill>
              </a:defRPr>
            </a:pPr>
            <a:r>
              <a:rPr sz="3750" b="1">
                <a:solidFill>
                  <a:srgbClr val="A45B00"/>
                </a:solidFill>
              </a:rPr>
              <a:t>years</a:t>
            </a:r>
          </a:p>
        </p:txBody>
      </p:sp>
      <p:sp>
        <p:nvSpPr>
          <p:cNvPr id="10" name="">
            <a:extLst xmlns:a="http://schemas.openxmlformats.org/drawingml/2006/main">
              <a:ext uri="{FF2B5EF4-FFF2-40B4-BE49-F238E27FC236}">
                <a16:creationId xmlns:a16="http://schemas.microsoft.com/office/drawing/2014/main" id="{FC483955-1DA8-4F60-A6F0-86538C0959CC}"/>
              </a:ext>
            </a:extLst>
          </p:cNvPr>
          <p:cNvSpPr>
            <a:spLocks xmlns:a="http://schemas.openxmlformats.org/drawingml/2006/main" noGrp="1"/>
          </p:cNvSpPr>
          <p:nvPr/>
        </p:nvSpPr>
        <p:spPr>
          <a:xfrm xmlns:a="http://schemas.openxmlformats.org/drawingml/2006/main">
            <a:off x="12344400" y="6381750"/>
            <a:ext cx="50673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627083"/>
                </a:solidFill>
              </a:defRPr>
            </a:pPr>
            <a:r>
              <a:rPr sz="1425">
                <a:solidFill>
                  <a:srgbClr val="627083"/>
                </a:solidFill>
              </a:rPr>
              <a:t>can hide in templates</a:t>
            </a:r>
          </a:p>
        </p:txBody>
      </p:sp>
    </p:spTree>
    <p:extLst>
      <p:ext uri="{BB962C8B-B14F-4D97-AF65-F5344CB8AC3E}">
        <p14:creationId xmlns:p14="http://schemas.microsoft.com/office/powerpoint/2010/main" val="182369594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root">
            <a:extLst xmlns:a="http://schemas.openxmlformats.org/drawingml/2006/main">
              <a:ext uri="{FF2B5EF4-FFF2-40B4-BE49-F238E27FC236}">
                <a16:creationId xmlns:a16="http://schemas.microsoft.com/office/drawing/2014/main" id="{825F112E-C924-4C6B-9901-22DA99D8926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6F8FB"/>
          </a:solidFill>
        </p:spPr>
      </p:sp>
      <p:sp>
        <p:nvSpPr>
          <p:cNvPr id="2" name="">
            <a:extLst xmlns:a="http://schemas.openxmlformats.org/drawingml/2006/main">
              <a:ext uri="{FF2B5EF4-FFF2-40B4-BE49-F238E27FC236}">
                <a16:creationId xmlns:a16="http://schemas.microsoft.com/office/drawing/2014/main" id="{0ECBF5DD-9C17-469F-8250-BEA7586A300C}"/>
              </a:ext>
            </a:extLst>
          </p:cNvPr>
          <p:cNvSpPr>
            <a:spLocks xmlns:a="http://schemas.openxmlformats.org/drawingml/2006/main" noGrp="1"/>
          </p:cNvSpPr>
          <p:nvPr/>
        </p:nvSpPr>
        <p:spPr>
          <a:xfrm xmlns:a="http://schemas.openxmlformats.org/drawingml/2006/main">
            <a:off x="876300" y="3943350"/>
            <a:ext cx="758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0796B"/>
                </a:solidFill>
              </a:defRPr>
            </a:pPr>
            <a:r>
              <a:rPr sz="1275" b="1">
                <a:solidFill>
                  <a:srgbClr val="00796B"/>
                </a:solidFill>
              </a:rPr>
              <a:t>Scoring Algorithm</a:t>
            </a:r>
          </a:p>
        </p:txBody>
      </p:sp>
      <p:sp>
        <p:nvSpPr>
          <p:cNvPr id="3" name="slide-title">
            <a:extLst xmlns:a="http://schemas.openxmlformats.org/drawingml/2006/main">
              <a:ext uri="{FF2B5EF4-FFF2-40B4-BE49-F238E27FC236}">
                <a16:creationId xmlns:a16="http://schemas.microsoft.com/office/drawing/2014/main" id="{79683E02-8B73-43B3-B2F9-BFDFC6F4E049}"/>
              </a:ext>
            </a:extLst>
          </p:cNvPr>
          <p:cNvSpPr>
            <a:spLocks xmlns:a="http://schemas.openxmlformats.org/drawingml/2006/main" noGrp="1"/>
          </p:cNvSpPr>
          <p:nvPr/>
        </p:nvSpPr>
        <p:spPr>
          <a:xfrm xmlns:a="http://schemas.openxmlformats.org/drawingml/2006/main">
            <a:off x="876300" y="4343400"/>
            <a:ext cx="75819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52033"/>
                </a:solidFill>
              </a:defRPr>
            </a:pPr>
            <a:r>
              <a:rPr sz="3900" b="1">
                <a:solidFill>
                  <a:srgbClr val="152033"/>
                </a:solidFill>
              </a:rPr>
              <a:t>zxcvbn estimates guesses, not true randomness.</a:t>
            </a:r>
          </a:p>
        </p:txBody>
      </p:sp>
      <p:sp>
        <p:nvSpPr>
          <p:cNvPr id="4" name="slide-subtitle">
            <a:extLst xmlns:a="http://schemas.openxmlformats.org/drawingml/2006/main">
              <a:ext uri="{FF2B5EF4-FFF2-40B4-BE49-F238E27FC236}">
                <a16:creationId xmlns:a16="http://schemas.microsoft.com/office/drawing/2014/main" id="{A43084A8-6023-41D3-964C-FF4320869439}"/>
              </a:ext>
            </a:extLst>
          </p:cNvPr>
          <p:cNvSpPr>
            <a:spLocks xmlns:a="http://schemas.openxmlformats.org/drawingml/2006/main" noGrp="1"/>
          </p:cNvSpPr>
          <p:nvPr/>
        </p:nvSpPr>
        <p:spPr>
          <a:xfrm xmlns:a="http://schemas.openxmlformats.org/drawingml/2006/main">
            <a:off x="876300" y="5753100"/>
            <a:ext cx="75819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627083"/>
                </a:solidFill>
              </a:defRPr>
            </a:pPr>
            <a:r>
              <a:rPr sz="1950">
                <a:solidFill>
                  <a:srgbClr val="627083"/>
                </a:solidFill>
              </a:rPr>
              <a:t>It detects patterns, estimates attack cost, and compresses that estimate into a 0-4 score.</a:t>
            </a:r>
          </a:p>
        </p:txBody>
      </p:sp>
      <p:sp>
        <p:nvSpPr>
          <p:cNvPr id="5" name="">
            <a:extLst xmlns:a="http://schemas.openxmlformats.org/drawingml/2006/main">
              <a:ext uri="{FF2B5EF4-FFF2-40B4-BE49-F238E27FC236}">
                <a16:creationId xmlns:a16="http://schemas.microsoft.com/office/drawing/2014/main" id="{E6CD4C13-3C56-4873-8F73-CD827A562E8F}"/>
              </a:ext>
            </a:extLst>
          </p:cNvPr>
          <p:cNvSpPr>
            <a:spLocks xmlns:a="http://schemas.openxmlformats.org/drawingml/2006/main" noGrp="1"/>
          </p:cNvSpPr>
          <p:nvPr/>
        </p:nvSpPr>
        <p:spPr>
          <a:xfrm xmlns:a="http://schemas.openxmlformats.org/drawingml/2006/main">
            <a:off x="9040654" y="407670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6" name="">
            <a:extLst xmlns:a="http://schemas.openxmlformats.org/drawingml/2006/main">
              <a:ext uri="{FF2B5EF4-FFF2-40B4-BE49-F238E27FC236}">
                <a16:creationId xmlns:a16="http://schemas.microsoft.com/office/drawing/2014/main" id="{56263372-78B4-4241-BCC7-5B13753068F8}"/>
              </a:ext>
            </a:extLst>
          </p:cNvPr>
          <p:cNvSpPr>
            <a:spLocks xmlns:a="http://schemas.openxmlformats.org/drawingml/2006/main" noGrp="1"/>
          </p:cNvSpPr>
          <p:nvPr/>
        </p:nvSpPr>
        <p:spPr>
          <a:xfrm xmlns:a="http://schemas.openxmlformats.org/drawingml/2006/main">
            <a:off x="9353550" y="4076700"/>
            <a:ext cx="8058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Pattern matching</a:t>
            </a:r>
          </a:p>
        </p:txBody>
      </p:sp>
      <p:sp>
        <p:nvSpPr>
          <p:cNvPr id="7" name="">
            <a:extLst xmlns:a="http://schemas.openxmlformats.org/drawingml/2006/main">
              <a:ext uri="{FF2B5EF4-FFF2-40B4-BE49-F238E27FC236}">
                <a16:creationId xmlns:a16="http://schemas.microsoft.com/office/drawing/2014/main" id="{60856D81-6FA1-45F3-986C-5B2C7BEB8BF7}"/>
              </a:ext>
            </a:extLst>
          </p:cNvPr>
          <p:cNvSpPr>
            <a:spLocks xmlns:a="http://schemas.openxmlformats.org/drawingml/2006/main" noGrp="1"/>
          </p:cNvSpPr>
          <p:nvPr/>
        </p:nvSpPr>
        <p:spPr>
          <a:xfrm xmlns:a="http://schemas.openxmlformats.org/drawingml/2006/main">
            <a:off x="9353550" y="4419600"/>
            <a:ext cx="80581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Dictionary words, dates, repeats, keyboard walks, and sequences.</a:t>
            </a:r>
          </a:p>
        </p:txBody>
      </p:sp>
      <p:sp>
        <p:nvSpPr>
          <p:cNvPr id="8" name="">
            <a:extLst xmlns:a="http://schemas.openxmlformats.org/drawingml/2006/main">
              <a:ext uri="{FF2B5EF4-FFF2-40B4-BE49-F238E27FC236}">
                <a16:creationId xmlns:a16="http://schemas.microsoft.com/office/drawing/2014/main" id="{7B9F8457-5189-446F-B64C-9E9C90368901}"/>
              </a:ext>
            </a:extLst>
          </p:cNvPr>
          <p:cNvSpPr>
            <a:spLocks xmlns:a="http://schemas.openxmlformats.org/drawingml/2006/main" noGrp="1"/>
          </p:cNvSpPr>
          <p:nvPr/>
        </p:nvSpPr>
        <p:spPr>
          <a:xfrm xmlns:a="http://schemas.openxmlformats.org/drawingml/2006/main">
            <a:off x="9040654" y="485394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9" name="">
            <a:extLst xmlns:a="http://schemas.openxmlformats.org/drawingml/2006/main">
              <a:ext uri="{FF2B5EF4-FFF2-40B4-BE49-F238E27FC236}">
                <a16:creationId xmlns:a16="http://schemas.microsoft.com/office/drawing/2014/main" id="{42599D99-B112-4122-9196-DB9D7C439680}"/>
              </a:ext>
            </a:extLst>
          </p:cNvPr>
          <p:cNvSpPr>
            <a:spLocks xmlns:a="http://schemas.openxmlformats.org/drawingml/2006/main" noGrp="1"/>
          </p:cNvSpPr>
          <p:nvPr/>
        </p:nvSpPr>
        <p:spPr>
          <a:xfrm xmlns:a="http://schemas.openxmlformats.org/drawingml/2006/main">
            <a:off x="9353550" y="4857750"/>
            <a:ext cx="8058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Entropy estimate</a:t>
            </a:r>
          </a:p>
        </p:txBody>
      </p:sp>
      <p:sp>
        <p:nvSpPr>
          <p:cNvPr id="10" name="">
            <a:extLst xmlns:a="http://schemas.openxmlformats.org/drawingml/2006/main">
              <a:ext uri="{FF2B5EF4-FFF2-40B4-BE49-F238E27FC236}">
                <a16:creationId xmlns:a16="http://schemas.microsoft.com/office/drawing/2014/main" id="{4E49F897-F7BF-4F09-ABB4-45792F91A6EA}"/>
              </a:ext>
            </a:extLst>
          </p:cNvPr>
          <p:cNvSpPr>
            <a:spLocks xmlns:a="http://schemas.openxmlformats.org/drawingml/2006/main" noGrp="1"/>
          </p:cNvSpPr>
          <p:nvPr/>
        </p:nvSpPr>
        <p:spPr>
          <a:xfrm xmlns:a="http://schemas.openxmlformats.org/drawingml/2006/main">
            <a:off x="9353550" y="5200650"/>
            <a:ext cx="80581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Combines detected chunks into an estimated number of guesses.</a:t>
            </a:r>
          </a:p>
        </p:txBody>
      </p:sp>
      <p:sp>
        <p:nvSpPr>
          <p:cNvPr id="11" name="">
            <a:extLst xmlns:a="http://schemas.openxmlformats.org/drawingml/2006/main">
              <a:ext uri="{FF2B5EF4-FFF2-40B4-BE49-F238E27FC236}">
                <a16:creationId xmlns:a16="http://schemas.microsoft.com/office/drawing/2014/main" id="{4F3B37B0-3F80-4B09-8D3B-57DA87F0AAB2}"/>
              </a:ext>
            </a:extLst>
          </p:cNvPr>
          <p:cNvSpPr>
            <a:spLocks xmlns:a="http://schemas.openxmlformats.org/drawingml/2006/main" noGrp="1"/>
          </p:cNvSpPr>
          <p:nvPr/>
        </p:nvSpPr>
        <p:spPr>
          <a:xfrm xmlns:a="http://schemas.openxmlformats.org/drawingml/2006/main">
            <a:off x="9040654" y="563118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12" name="">
            <a:extLst xmlns:a="http://schemas.openxmlformats.org/drawingml/2006/main">
              <a:ext uri="{FF2B5EF4-FFF2-40B4-BE49-F238E27FC236}">
                <a16:creationId xmlns:a16="http://schemas.microsoft.com/office/drawing/2014/main" id="{6731B200-82A0-411A-AD0D-20BA61E99972}"/>
              </a:ext>
            </a:extLst>
          </p:cNvPr>
          <p:cNvSpPr>
            <a:spLocks xmlns:a="http://schemas.openxmlformats.org/drawingml/2006/main" noGrp="1"/>
          </p:cNvSpPr>
          <p:nvPr/>
        </p:nvSpPr>
        <p:spPr>
          <a:xfrm xmlns:a="http://schemas.openxmlformats.org/drawingml/2006/main">
            <a:off x="9353550" y="5638800"/>
            <a:ext cx="8058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Adversarial gap</a:t>
            </a:r>
          </a:p>
        </p:txBody>
      </p:sp>
      <p:sp>
        <p:nvSpPr>
          <p:cNvPr id="13" name="">
            <a:extLst xmlns:a="http://schemas.openxmlformats.org/drawingml/2006/main">
              <a:ext uri="{FF2B5EF4-FFF2-40B4-BE49-F238E27FC236}">
                <a16:creationId xmlns:a16="http://schemas.microsoft.com/office/drawing/2014/main" id="{6C9246F2-8A15-4104-8350-B69B618DE12B}"/>
              </a:ext>
            </a:extLst>
          </p:cNvPr>
          <p:cNvSpPr>
            <a:spLocks xmlns:a="http://schemas.openxmlformats.org/drawingml/2006/main" noGrp="1"/>
          </p:cNvSpPr>
          <p:nvPr/>
        </p:nvSpPr>
        <p:spPr>
          <a:xfrm xmlns:a="http://schemas.openxmlformats.org/drawingml/2006/main">
            <a:off x="9353550" y="5981700"/>
            <a:ext cx="80581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Long predictable templates can still produce a high estimate.</a:t>
            </a:r>
          </a:p>
        </p:txBody>
      </p:sp>
    </p:spTree>
    <p:extLst>
      <p:ext uri="{BB962C8B-B14F-4D97-AF65-F5344CB8AC3E}">
        <p14:creationId xmlns:p14="http://schemas.microsoft.com/office/powerpoint/2010/main" val="52601410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root">
            <a:extLst xmlns:a="http://schemas.openxmlformats.org/drawingml/2006/main">
              <a:ext uri="{FF2B5EF4-FFF2-40B4-BE49-F238E27FC236}">
                <a16:creationId xmlns:a16="http://schemas.microsoft.com/office/drawing/2014/main" id="{9EB5FF84-871C-4A49-BD19-F6339FBE4A0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6F8FB"/>
          </a:solidFill>
        </p:spPr>
      </p:sp>
      <p:sp>
        <p:nvSpPr>
          <p:cNvPr id="2" name="">
            <a:extLst xmlns:a="http://schemas.openxmlformats.org/drawingml/2006/main">
              <a:ext uri="{FF2B5EF4-FFF2-40B4-BE49-F238E27FC236}">
                <a16:creationId xmlns:a16="http://schemas.microsoft.com/office/drawing/2014/main" id="{DAD696F0-3C07-4C82-8069-7E2A207D32A6}"/>
              </a:ext>
            </a:extLst>
          </p:cNvPr>
          <p:cNvSpPr>
            <a:spLocks xmlns:a="http://schemas.openxmlformats.org/drawingml/2006/main" noGrp="1"/>
          </p:cNvSpPr>
          <p:nvPr/>
        </p:nvSpPr>
        <p:spPr>
          <a:xfrm xmlns:a="http://schemas.openxmlformats.org/drawingml/2006/main">
            <a:off x="876300" y="3943350"/>
            <a:ext cx="79819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0796B"/>
                </a:solidFill>
              </a:defRPr>
            </a:pPr>
            <a:r>
              <a:rPr sz="1275" b="1">
                <a:solidFill>
                  <a:srgbClr val="00796B"/>
                </a:solidFill>
              </a:rPr>
              <a:t>Research Question</a:t>
            </a:r>
          </a:p>
        </p:txBody>
      </p:sp>
      <p:sp>
        <p:nvSpPr>
          <p:cNvPr id="3" name="slide-title">
            <a:extLst xmlns:a="http://schemas.openxmlformats.org/drawingml/2006/main">
              <a:ext uri="{FF2B5EF4-FFF2-40B4-BE49-F238E27FC236}">
                <a16:creationId xmlns:a16="http://schemas.microsoft.com/office/drawing/2014/main" id="{162BDB81-4D00-446F-881D-0F81BC30D5ED}"/>
              </a:ext>
            </a:extLst>
          </p:cNvPr>
          <p:cNvSpPr>
            <a:spLocks xmlns:a="http://schemas.openxmlformats.org/drawingml/2006/main" noGrp="1"/>
          </p:cNvSpPr>
          <p:nvPr/>
        </p:nvSpPr>
        <p:spPr>
          <a:xfrm xmlns:a="http://schemas.openxmlformats.org/drawingml/2006/main">
            <a:off x="876300" y="4343400"/>
            <a:ext cx="79819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52033"/>
                </a:solidFill>
              </a:defRPr>
            </a:pPr>
            <a:r>
              <a:rPr sz="3900" b="1">
                <a:solidFill>
                  <a:srgbClr val="152033"/>
                </a:solidFill>
              </a:rPr>
              <a:t>Can ML generate meter-fooling passwords that remain crackable?</a:t>
            </a:r>
          </a:p>
        </p:txBody>
      </p:sp>
      <p:sp>
        <p:nvSpPr>
          <p:cNvPr id="4" name="slide-subtitle">
            <a:extLst xmlns:a="http://schemas.openxmlformats.org/drawingml/2006/main">
              <a:ext uri="{FF2B5EF4-FFF2-40B4-BE49-F238E27FC236}">
                <a16:creationId xmlns:a16="http://schemas.microsoft.com/office/drawing/2014/main" id="{CF0BE9BA-1D5F-4272-8AF5-55BFC62EB7F3}"/>
              </a:ext>
            </a:extLst>
          </p:cNvPr>
          <p:cNvSpPr>
            <a:spLocks xmlns:a="http://schemas.openxmlformats.org/drawingml/2006/main" noGrp="1"/>
          </p:cNvSpPr>
          <p:nvPr/>
        </p:nvSpPr>
        <p:spPr>
          <a:xfrm xmlns:a="http://schemas.openxmlformats.org/drawingml/2006/main">
            <a:off x="876300" y="5753100"/>
            <a:ext cx="798195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627083"/>
                </a:solidFill>
              </a:defRPr>
            </a:pPr>
            <a:r>
              <a:rPr sz="1950">
                <a:solidFill>
                  <a:srgbClr val="627083"/>
                </a:solidFill>
              </a:rPr>
              <a:t>We test whether a model can learn high-scoring password patterns without learning true randomness.</a:t>
            </a:r>
          </a:p>
        </p:txBody>
      </p:sp>
      <p:sp>
        <p:nvSpPr>
          <p:cNvPr id="5" name="">
            <a:extLst xmlns:a="http://schemas.openxmlformats.org/drawingml/2006/main">
              <a:ext uri="{FF2B5EF4-FFF2-40B4-BE49-F238E27FC236}">
                <a16:creationId xmlns:a16="http://schemas.microsoft.com/office/drawing/2014/main" id="{AFBDA59D-AF18-4220-A014-F4A5FE22444F}"/>
              </a:ext>
            </a:extLst>
          </p:cNvPr>
          <p:cNvSpPr>
            <a:spLocks xmlns:a="http://schemas.openxmlformats.org/drawingml/2006/main" noGrp="1"/>
          </p:cNvSpPr>
          <p:nvPr/>
        </p:nvSpPr>
        <p:spPr>
          <a:xfrm xmlns:a="http://schemas.openxmlformats.org/drawingml/2006/main">
            <a:off x="9429750" y="407670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6" name="">
            <a:extLst xmlns:a="http://schemas.openxmlformats.org/drawingml/2006/main">
              <a:ext uri="{FF2B5EF4-FFF2-40B4-BE49-F238E27FC236}">
                <a16:creationId xmlns:a16="http://schemas.microsoft.com/office/drawing/2014/main" id="{BD9CF56A-4B7B-434B-9CF4-33D9037163F4}"/>
              </a:ext>
            </a:extLst>
          </p:cNvPr>
          <p:cNvSpPr>
            <a:spLocks xmlns:a="http://schemas.openxmlformats.org/drawingml/2006/main" noGrp="1"/>
          </p:cNvSpPr>
          <p:nvPr/>
        </p:nvSpPr>
        <p:spPr>
          <a:xfrm xmlns:a="http://schemas.openxmlformats.org/drawingml/2006/main">
            <a:off x="9734550" y="4076700"/>
            <a:ext cx="7677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Generation script</a:t>
            </a:r>
          </a:p>
        </p:txBody>
      </p:sp>
      <p:sp>
        <p:nvSpPr>
          <p:cNvPr id="7" name="">
            <a:extLst xmlns:a="http://schemas.openxmlformats.org/drawingml/2006/main">
              <a:ext uri="{FF2B5EF4-FFF2-40B4-BE49-F238E27FC236}">
                <a16:creationId xmlns:a16="http://schemas.microsoft.com/office/drawing/2014/main" id="{25273AC6-7332-425C-982A-15FB1DF4CADE}"/>
              </a:ext>
            </a:extLst>
          </p:cNvPr>
          <p:cNvSpPr>
            <a:spLocks xmlns:a="http://schemas.openxmlformats.org/drawingml/2006/main" noGrp="1"/>
          </p:cNvSpPr>
          <p:nvPr/>
        </p:nvSpPr>
        <p:spPr>
          <a:xfrm xmlns:a="http://schemas.openxmlformats.org/drawingml/2006/main">
            <a:off x="9734550" y="4419600"/>
            <a:ext cx="76771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Produces passwords filtered by zxcvbn score 4.</a:t>
            </a:r>
          </a:p>
        </p:txBody>
      </p:sp>
      <p:sp>
        <p:nvSpPr>
          <p:cNvPr id="8" name="">
            <a:extLst xmlns:a="http://schemas.openxmlformats.org/drawingml/2006/main">
              <a:ext uri="{FF2B5EF4-FFF2-40B4-BE49-F238E27FC236}">
                <a16:creationId xmlns:a16="http://schemas.microsoft.com/office/drawing/2014/main" id="{AEDA516E-7BA4-4C31-8B99-1737BE581C52}"/>
              </a:ext>
            </a:extLst>
          </p:cNvPr>
          <p:cNvSpPr>
            <a:spLocks xmlns:a="http://schemas.openxmlformats.org/drawingml/2006/main" noGrp="1"/>
          </p:cNvSpPr>
          <p:nvPr/>
        </p:nvSpPr>
        <p:spPr>
          <a:xfrm xmlns:a="http://schemas.openxmlformats.org/drawingml/2006/main">
            <a:off x="9429750" y="485394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9" name="">
            <a:extLst xmlns:a="http://schemas.openxmlformats.org/drawingml/2006/main">
              <a:ext uri="{FF2B5EF4-FFF2-40B4-BE49-F238E27FC236}">
                <a16:creationId xmlns:a16="http://schemas.microsoft.com/office/drawing/2014/main" id="{BB59B568-F4F6-41EB-9C12-F31833513C73}"/>
              </a:ext>
            </a:extLst>
          </p:cNvPr>
          <p:cNvSpPr>
            <a:spLocks xmlns:a="http://schemas.openxmlformats.org/drawingml/2006/main" noGrp="1"/>
          </p:cNvSpPr>
          <p:nvPr/>
        </p:nvSpPr>
        <p:spPr>
          <a:xfrm xmlns:a="http://schemas.openxmlformats.org/drawingml/2006/main">
            <a:off x="9734550" y="4857750"/>
            <a:ext cx="7677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Trained ML model</a:t>
            </a:r>
          </a:p>
        </p:txBody>
      </p:sp>
      <p:sp>
        <p:nvSpPr>
          <p:cNvPr id="10" name="">
            <a:extLst xmlns:a="http://schemas.openxmlformats.org/drawingml/2006/main">
              <a:ext uri="{FF2B5EF4-FFF2-40B4-BE49-F238E27FC236}">
                <a16:creationId xmlns:a16="http://schemas.microsoft.com/office/drawing/2014/main" id="{07E38D15-DE3A-4EDB-9AD2-FA710C9C00BC}"/>
              </a:ext>
            </a:extLst>
          </p:cNvPr>
          <p:cNvSpPr>
            <a:spLocks xmlns:a="http://schemas.openxmlformats.org/drawingml/2006/main" noGrp="1"/>
          </p:cNvSpPr>
          <p:nvPr/>
        </p:nvSpPr>
        <p:spPr>
          <a:xfrm xmlns:a="http://schemas.openxmlformats.org/drawingml/2006/main">
            <a:off x="9734550" y="5200650"/>
            <a:ext cx="76771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Qwen2-0.5B fine-tuned with LoRA adapters.</a:t>
            </a:r>
          </a:p>
        </p:txBody>
      </p:sp>
      <p:sp>
        <p:nvSpPr>
          <p:cNvPr id="11" name="">
            <a:extLst xmlns:a="http://schemas.openxmlformats.org/drawingml/2006/main">
              <a:ext uri="{FF2B5EF4-FFF2-40B4-BE49-F238E27FC236}">
                <a16:creationId xmlns:a16="http://schemas.microsoft.com/office/drawing/2014/main" id="{06EC9D8E-F74B-4510-8ACB-D8D4CBBE6E7D}"/>
              </a:ext>
            </a:extLst>
          </p:cNvPr>
          <p:cNvSpPr>
            <a:spLocks xmlns:a="http://schemas.openxmlformats.org/drawingml/2006/main" noGrp="1"/>
          </p:cNvSpPr>
          <p:nvPr/>
        </p:nvSpPr>
        <p:spPr>
          <a:xfrm xmlns:a="http://schemas.openxmlformats.org/drawingml/2006/main">
            <a:off x="9429750" y="563118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12" name="">
            <a:extLst xmlns:a="http://schemas.openxmlformats.org/drawingml/2006/main">
              <a:ext uri="{FF2B5EF4-FFF2-40B4-BE49-F238E27FC236}">
                <a16:creationId xmlns:a16="http://schemas.microsoft.com/office/drawing/2014/main" id="{08E9AEE6-B85C-4832-9D6E-58316BCD1F28}"/>
              </a:ext>
            </a:extLst>
          </p:cNvPr>
          <p:cNvSpPr>
            <a:spLocks xmlns:a="http://schemas.openxmlformats.org/drawingml/2006/main" noGrp="1"/>
          </p:cNvSpPr>
          <p:nvPr/>
        </p:nvSpPr>
        <p:spPr>
          <a:xfrm xmlns:a="http://schemas.openxmlformats.org/drawingml/2006/main">
            <a:off x="9734550" y="5638800"/>
            <a:ext cx="7677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10,000+ dataset</a:t>
            </a:r>
          </a:p>
        </p:txBody>
      </p:sp>
      <p:sp>
        <p:nvSpPr>
          <p:cNvPr id="13" name="">
            <a:extLst xmlns:a="http://schemas.openxmlformats.org/drawingml/2006/main">
              <a:ext uri="{FF2B5EF4-FFF2-40B4-BE49-F238E27FC236}">
                <a16:creationId xmlns:a16="http://schemas.microsoft.com/office/drawing/2014/main" id="{BA9731F0-E4E4-4BB8-91B6-0C37C6F622D5}"/>
              </a:ext>
            </a:extLst>
          </p:cNvPr>
          <p:cNvSpPr>
            <a:spLocks xmlns:a="http://schemas.openxmlformats.org/drawingml/2006/main" noGrp="1"/>
          </p:cNvSpPr>
          <p:nvPr/>
        </p:nvSpPr>
        <p:spPr>
          <a:xfrm xmlns:a="http://schemas.openxmlformats.org/drawingml/2006/main">
            <a:off x="9734550" y="5981700"/>
            <a:ext cx="76771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Final merged set contains 19,574 unique generated passwords.</a:t>
            </a:r>
          </a:p>
        </p:txBody>
      </p:sp>
    </p:spTree>
    <p:extLst>
      <p:ext uri="{BB962C8B-B14F-4D97-AF65-F5344CB8AC3E}">
        <p14:creationId xmlns:p14="http://schemas.microsoft.com/office/powerpoint/2010/main" val="154590780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root">
            <a:extLst xmlns:a="http://schemas.openxmlformats.org/drawingml/2006/main">
              <a:ext uri="{FF2B5EF4-FFF2-40B4-BE49-F238E27FC236}">
                <a16:creationId xmlns:a16="http://schemas.microsoft.com/office/drawing/2014/main" id="{45975993-44E2-45AE-9AC2-72F3C34ADD4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6F8FB"/>
          </a:solidFill>
        </p:spPr>
      </p:sp>
      <p:sp>
        <p:nvSpPr>
          <p:cNvPr id="2" name="">
            <a:extLst xmlns:a="http://schemas.openxmlformats.org/drawingml/2006/main">
              <a:ext uri="{FF2B5EF4-FFF2-40B4-BE49-F238E27FC236}">
                <a16:creationId xmlns:a16="http://schemas.microsoft.com/office/drawing/2014/main" id="{3FAA0E40-986E-4586-AF00-D24D1B897881}"/>
              </a:ext>
            </a:extLst>
          </p:cNvPr>
          <p:cNvSpPr>
            <a:spLocks xmlns:a="http://schemas.openxmlformats.org/drawingml/2006/main" noGrp="1"/>
          </p:cNvSpPr>
          <p:nvPr/>
        </p:nvSpPr>
        <p:spPr>
          <a:xfrm xmlns:a="http://schemas.openxmlformats.org/drawingml/2006/main">
            <a:off x="876300" y="3390900"/>
            <a:ext cx="165354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0796B"/>
                </a:solidFill>
              </a:defRPr>
            </a:pPr>
            <a:r>
              <a:rPr sz="1275" b="1">
                <a:solidFill>
                  <a:srgbClr val="00796B"/>
                </a:solidFill>
              </a:rPr>
              <a:t>Dataset Construction</a:t>
            </a:r>
          </a:p>
        </p:txBody>
      </p:sp>
      <p:sp>
        <p:nvSpPr>
          <p:cNvPr id="3" name="slide-title">
            <a:extLst xmlns:a="http://schemas.openxmlformats.org/drawingml/2006/main">
              <a:ext uri="{FF2B5EF4-FFF2-40B4-BE49-F238E27FC236}">
                <a16:creationId xmlns:a16="http://schemas.microsoft.com/office/drawing/2014/main" id="{30F0418F-4BD1-4DF5-A4FF-03804FA97B39}"/>
              </a:ext>
            </a:extLst>
          </p:cNvPr>
          <p:cNvSpPr>
            <a:spLocks xmlns:a="http://schemas.openxmlformats.org/drawingml/2006/main" noGrp="1"/>
          </p:cNvSpPr>
          <p:nvPr/>
        </p:nvSpPr>
        <p:spPr>
          <a:xfrm xmlns:a="http://schemas.openxmlformats.org/drawingml/2006/main">
            <a:off x="876300" y="3867150"/>
            <a:ext cx="165354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52033"/>
                </a:solidFill>
              </a:defRPr>
            </a:pPr>
            <a:r>
              <a:rPr sz="3900" b="1">
                <a:solidFill>
                  <a:srgbClr val="152033"/>
                </a:solidFill>
              </a:rPr>
              <a:t>We start weak, then add predictable complexity.</a:t>
            </a:r>
          </a:p>
        </p:txBody>
      </p:sp>
      <p:sp>
        <p:nvSpPr>
          <p:cNvPr id="4" name="">
            <a:extLst xmlns:a="http://schemas.openxmlformats.org/drawingml/2006/main">
              <a:ext uri="{FF2B5EF4-FFF2-40B4-BE49-F238E27FC236}">
                <a16:creationId xmlns:a16="http://schemas.microsoft.com/office/drawing/2014/main" id="{BFB33876-7EF8-4B7E-8D97-B54168DB42D4}"/>
              </a:ext>
            </a:extLst>
          </p:cNvPr>
          <p:cNvSpPr>
            <a:spLocks xmlns:a="http://schemas.openxmlformats.org/drawingml/2006/main" noGrp="1"/>
          </p:cNvSpPr>
          <p:nvPr/>
        </p:nvSpPr>
        <p:spPr>
          <a:xfrm xmlns:a="http://schemas.openxmlformats.org/drawingml/2006/main">
            <a:off x="876300" y="4747260"/>
            <a:ext cx="4019550" cy="1203960"/>
          </a:xfrm>
          <a:prstGeom xmlns:a="http://schemas.openxmlformats.org/drawingml/2006/main" prst="roundRect">
            <a:avLst>
              <a:gd name="adj" fmla="val 9494"/>
            </a:avLst>
          </a:prstGeom>
          <a:solidFill xmlns:a="http://schemas.openxmlformats.org/drawingml/2006/main">
            <a:srgbClr val="FFFFFF"/>
          </a:solidFill>
          <a:ln xmlns:a="http://schemas.openxmlformats.org/drawingml/2006/main" w="9525">
            <a:solidFill>
              <a:srgbClr val="DCE3EC"/>
            </a:solidFill>
            <a:prstDash val="solid"/>
          </a:ln>
        </p:spPr>
      </p:sp>
      <p:sp>
        <p:nvSpPr>
          <p:cNvPr id="5" name="">
            <a:extLst xmlns:a="http://schemas.openxmlformats.org/drawingml/2006/main">
              <a:ext uri="{FF2B5EF4-FFF2-40B4-BE49-F238E27FC236}">
                <a16:creationId xmlns:a16="http://schemas.microsoft.com/office/drawing/2014/main" id="{AC4CC954-48A2-4AFB-8CBD-11A580227ECB}"/>
              </a:ext>
            </a:extLst>
          </p:cNvPr>
          <p:cNvSpPr>
            <a:spLocks xmlns:a="http://schemas.openxmlformats.org/drawingml/2006/main" noGrp="1"/>
          </p:cNvSpPr>
          <p:nvPr/>
        </p:nvSpPr>
        <p:spPr>
          <a:xfrm xmlns:a="http://schemas.openxmlformats.org/drawingml/2006/main">
            <a:off x="1047750" y="4914900"/>
            <a:ext cx="36766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185ABC"/>
                </a:solidFill>
              </a:defRPr>
            </a:pPr>
            <a:r>
              <a:rPr sz="1950" b="1">
                <a:solidFill>
                  <a:srgbClr val="185ABC"/>
                </a:solidFill>
              </a:rPr>
              <a:t>root</a:t>
            </a:r>
          </a:p>
        </p:txBody>
      </p:sp>
      <p:sp>
        <p:nvSpPr>
          <p:cNvPr id="6" name="">
            <a:extLst xmlns:a="http://schemas.openxmlformats.org/drawingml/2006/main">
              <a:ext uri="{FF2B5EF4-FFF2-40B4-BE49-F238E27FC236}">
                <a16:creationId xmlns:a16="http://schemas.microsoft.com/office/drawing/2014/main" id="{0A845768-91AB-4786-A199-5E82110BF30C}"/>
              </a:ext>
            </a:extLst>
          </p:cNvPr>
          <p:cNvSpPr>
            <a:spLocks xmlns:a="http://schemas.openxmlformats.org/drawingml/2006/main" noGrp="1"/>
          </p:cNvSpPr>
          <p:nvPr/>
        </p:nvSpPr>
        <p:spPr>
          <a:xfrm xmlns:a="http://schemas.openxmlformats.org/drawingml/2006/main">
            <a:off x="1047750" y="5295900"/>
            <a:ext cx="36766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52033"/>
                </a:solidFill>
              </a:defRPr>
            </a:pPr>
            <a:r>
              <a:rPr sz="1575" b="1">
                <a:solidFill>
                  <a:srgbClr val="152033"/>
                </a:solidFill>
              </a:rPr>
              <a:t>common passwords</a:t>
            </a:r>
          </a:p>
        </p:txBody>
      </p:sp>
      <p:sp>
        <p:nvSpPr>
          <p:cNvPr id="7" name="">
            <a:extLst xmlns:a="http://schemas.openxmlformats.org/drawingml/2006/main">
              <a:ext uri="{FF2B5EF4-FFF2-40B4-BE49-F238E27FC236}">
                <a16:creationId xmlns:a16="http://schemas.microsoft.com/office/drawing/2014/main" id="{7F5531A7-2228-4CFA-BC9C-6529AF0DE0CE}"/>
              </a:ext>
            </a:extLst>
          </p:cNvPr>
          <p:cNvSpPr>
            <a:spLocks xmlns:a="http://schemas.openxmlformats.org/drawingml/2006/main" noGrp="1"/>
          </p:cNvSpPr>
          <p:nvPr/>
        </p:nvSpPr>
        <p:spPr>
          <a:xfrm xmlns:a="http://schemas.openxmlformats.org/drawingml/2006/main">
            <a:off x="1047750" y="5600700"/>
            <a:ext cx="36766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627083"/>
                </a:solidFill>
              </a:defRPr>
            </a:pPr>
            <a:r>
              <a:rPr sz="1125">
                <a:solidFill>
                  <a:srgbClr val="627083"/>
                </a:solidFill>
              </a:rPr>
              <a:t>short, leaked, guessable roots</a:t>
            </a:r>
          </a:p>
        </p:txBody>
      </p:sp>
      <p:sp>
        <p:nvSpPr>
          <p:cNvPr id="8" name="">
            <a:extLst xmlns:a="http://schemas.openxmlformats.org/drawingml/2006/main">
              <a:ext uri="{FF2B5EF4-FFF2-40B4-BE49-F238E27FC236}">
                <a16:creationId xmlns:a16="http://schemas.microsoft.com/office/drawing/2014/main" id="{F401CFB8-9211-410D-8303-57FCCF39D2A5}"/>
              </a:ext>
            </a:extLst>
          </p:cNvPr>
          <p:cNvSpPr>
            <a:spLocks xmlns:a="http://schemas.openxmlformats.org/drawingml/2006/main" noGrp="1"/>
          </p:cNvSpPr>
          <p:nvPr/>
        </p:nvSpPr>
        <p:spPr>
          <a:xfrm xmlns:a="http://schemas.openxmlformats.org/drawingml/2006/main">
            <a:off x="5048250" y="4747260"/>
            <a:ext cx="4019550" cy="1203960"/>
          </a:xfrm>
          <a:prstGeom xmlns:a="http://schemas.openxmlformats.org/drawingml/2006/main" prst="roundRect">
            <a:avLst>
              <a:gd name="adj" fmla="val 9494"/>
            </a:avLst>
          </a:prstGeom>
          <a:solidFill xmlns:a="http://schemas.openxmlformats.org/drawingml/2006/main">
            <a:srgbClr val="FFFFFF"/>
          </a:solidFill>
          <a:ln xmlns:a="http://schemas.openxmlformats.org/drawingml/2006/main" w="9525">
            <a:solidFill>
              <a:srgbClr val="DCE3EC"/>
            </a:solidFill>
            <a:prstDash val="solid"/>
          </a:ln>
        </p:spPr>
      </p:sp>
      <p:sp>
        <p:nvSpPr>
          <p:cNvPr id="9" name="">
            <a:extLst xmlns:a="http://schemas.openxmlformats.org/drawingml/2006/main">
              <a:ext uri="{FF2B5EF4-FFF2-40B4-BE49-F238E27FC236}">
                <a16:creationId xmlns:a16="http://schemas.microsoft.com/office/drawing/2014/main" id="{E8DA4B5E-9763-47B2-A42B-9494CB896E8C}"/>
              </a:ext>
            </a:extLst>
          </p:cNvPr>
          <p:cNvSpPr>
            <a:spLocks xmlns:a="http://schemas.openxmlformats.org/drawingml/2006/main" noGrp="1"/>
          </p:cNvSpPr>
          <p:nvPr/>
        </p:nvSpPr>
        <p:spPr>
          <a:xfrm xmlns:a="http://schemas.openxmlformats.org/drawingml/2006/main">
            <a:off x="5219700" y="4914900"/>
            <a:ext cx="36766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185ABC"/>
                </a:solidFill>
              </a:defRPr>
            </a:pPr>
            <a:r>
              <a:rPr sz="1950" b="1">
                <a:solidFill>
                  <a:srgbClr val="185ABC"/>
                </a:solidFill>
              </a:rPr>
              <a:t>+</a:t>
            </a:r>
          </a:p>
        </p:txBody>
      </p:sp>
      <p:sp>
        <p:nvSpPr>
          <p:cNvPr id="10" name="">
            <a:extLst xmlns:a="http://schemas.openxmlformats.org/drawingml/2006/main">
              <a:ext uri="{FF2B5EF4-FFF2-40B4-BE49-F238E27FC236}">
                <a16:creationId xmlns:a16="http://schemas.microsoft.com/office/drawing/2014/main" id="{76AFE673-6C3D-4F85-9018-ECB99EFBFE96}"/>
              </a:ext>
            </a:extLst>
          </p:cNvPr>
          <p:cNvSpPr>
            <a:spLocks xmlns:a="http://schemas.openxmlformats.org/drawingml/2006/main" noGrp="1"/>
          </p:cNvSpPr>
          <p:nvPr/>
        </p:nvSpPr>
        <p:spPr>
          <a:xfrm xmlns:a="http://schemas.openxmlformats.org/drawingml/2006/main">
            <a:off x="5219700" y="5295900"/>
            <a:ext cx="36766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52033"/>
                </a:solidFill>
              </a:defRPr>
            </a:pPr>
            <a:r>
              <a:rPr sz="1575" b="1">
                <a:solidFill>
                  <a:srgbClr val="152033"/>
                </a:solidFill>
              </a:rPr>
              <a:t>season words</a:t>
            </a:r>
          </a:p>
        </p:txBody>
      </p:sp>
      <p:sp>
        <p:nvSpPr>
          <p:cNvPr id="11" name="">
            <a:extLst xmlns:a="http://schemas.openxmlformats.org/drawingml/2006/main">
              <a:ext uri="{FF2B5EF4-FFF2-40B4-BE49-F238E27FC236}">
                <a16:creationId xmlns:a16="http://schemas.microsoft.com/office/drawing/2014/main" id="{A18425A7-8998-4956-A6EC-1716E1AFDD39}"/>
              </a:ext>
            </a:extLst>
          </p:cNvPr>
          <p:cNvSpPr>
            <a:spLocks xmlns:a="http://schemas.openxmlformats.org/drawingml/2006/main" noGrp="1"/>
          </p:cNvSpPr>
          <p:nvPr/>
        </p:nvSpPr>
        <p:spPr>
          <a:xfrm xmlns:a="http://schemas.openxmlformats.org/drawingml/2006/main">
            <a:off x="5219700" y="5600700"/>
            <a:ext cx="36766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627083"/>
                </a:solidFill>
              </a:defRPr>
            </a:pPr>
            <a:r>
              <a:rPr sz="1125">
                <a:solidFill>
                  <a:srgbClr val="627083"/>
                </a:solidFill>
              </a:rPr>
              <a:t>spring, summer, fall, winter</a:t>
            </a:r>
          </a:p>
        </p:txBody>
      </p:sp>
      <p:sp>
        <p:nvSpPr>
          <p:cNvPr id="12" name="">
            <a:extLst xmlns:a="http://schemas.openxmlformats.org/drawingml/2006/main">
              <a:ext uri="{FF2B5EF4-FFF2-40B4-BE49-F238E27FC236}">
                <a16:creationId xmlns:a16="http://schemas.microsoft.com/office/drawing/2014/main" id="{176EE20D-F866-426F-9C3B-1872ABDA3093}"/>
              </a:ext>
            </a:extLst>
          </p:cNvPr>
          <p:cNvSpPr>
            <a:spLocks xmlns:a="http://schemas.openxmlformats.org/drawingml/2006/main" noGrp="1"/>
          </p:cNvSpPr>
          <p:nvPr/>
        </p:nvSpPr>
        <p:spPr>
          <a:xfrm xmlns:a="http://schemas.openxmlformats.org/drawingml/2006/main">
            <a:off x="9220200" y="4747260"/>
            <a:ext cx="4019550" cy="1203960"/>
          </a:xfrm>
          <a:prstGeom xmlns:a="http://schemas.openxmlformats.org/drawingml/2006/main" prst="roundRect">
            <a:avLst>
              <a:gd name="adj" fmla="val 9494"/>
            </a:avLst>
          </a:prstGeom>
          <a:solidFill xmlns:a="http://schemas.openxmlformats.org/drawingml/2006/main">
            <a:srgbClr val="FFFFFF"/>
          </a:solidFill>
          <a:ln xmlns:a="http://schemas.openxmlformats.org/drawingml/2006/main" w="9525">
            <a:solidFill>
              <a:srgbClr val="DCE3EC"/>
            </a:solidFill>
            <a:prstDash val="solid"/>
          </a:ln>
        </p:spPr>
      </p:sp>
      <p:sp>
        <p:nvSpPr>
          <p:cNvPr id="13" name="">
            <a:extLst xmlns:a="http://schemas.openxmlformats.org/drawingml/2006/main">
              <a:ext uri="{FF2B5EF4-FFF2-40B4-BE49-F238E27FC236}">
                <a16:creationId xmlns:a16="http://schemas.microsoft.com/office/drawing/2014/main" id="{30439DE4-54B9-4DF4-8587-3C07190C2CC2}"/>
              </a:ext>
            </a:extLst>
          </p:cNvPr>
          <p:cNvSpPr>
            <a:spLocks xmlns:a="http://schemas.openxmlformats.org/drawingml/2006/main" noGrp="1"/>
          </p:cNvSpPr>
          <p:nvPr/>
        </p:nvSpPr>
        <p:spPr>
          <a:xfrm xmlns:a="http://schemas.openxmlformats.org/drawingml/2006/main">
            <a:off x="9391650" y="4914900"/>
            <a:ext cx="36766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185ABC"/>
                </a:solidFill>
              </a:defRPr>
            </a:pPr>
            <a:r>
              <a:rPr sz="1950" b="1">
                <a:solidFill>
                  <a:srgbClr val="185ABC"/>
                </a:solidFill>
              </a:rPr>
              <a:t>+</a:t>
            </a:r>
          </a:p>
        </p:txBody>
      </p:sp>
      <p:sp>
        <p:nvSpPr>
          <p:cNvPr id="14" name="">
            <a:extLst xmlns:a="http://schemas.openxmlformats.org/drawingml/2006/main">
              <a:ext uri="{FF2B5EF4-FFF2-40B4-BE49-F238E27FC236}">
                <a16:creationId xmlns:a16="http://schemas.microsoft.com/office/drawing/2014/main" id="{12C1B1E6-395B-4CB7-9A3A-4B2B04988E99}"/>
              </a:ext>
            </a:extLst>
          </p:cNvPr>
          <p:cNvSpPr>
            <a:spLocks xmlns:a="http://schemas.openxmlformats.org/drawingml/2006/main" noGrp="1"/>
          </p:cNvSpPr>
          <p:nvPr/>
        </p:nvSpPr>
        <p:spPr>
          <a:xfrm xmlns:a="http://schemas.openxmlformats.org/drawingml/2006/main">
            <a:off x="9391650" y="5295900"/>
            <a:ext cx="36766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52033"/>
                </a:solidFill>
              </a:defRPr>
            </a:pPr>
            <a:r>
              <a:rPr sz="1575" b="1">
                <a:solidFill>
                  <a:srgbClr val="152033"/>
                </a:solidFill>
              </a:rPr>
              <a:t>years</a:t>
            </a:r>
          </a:p>
        </p:txBody>
      </p:sp>
      <p:sp>
        <p:nvSpPr>
          <p:cNvPr id="15" name="">
            <a:extLst xmlns:a="http://schemas.openxmlformats.org/drawingml/2006/main">
              <a:ext uri="{FF2B5EF4-FFF2-40B4-BE49-F238E27FC236}">
                <a16:creationId xmlns:a16="http://schemas.microsoft.com/office/drawing/2014/main" id="{040E404A-40A2-48FD-94FA-A0620DA3264E}"/>
              </a:ext>
            </a:extLst>
          </p:cNvPr>
          <p:cNvSpPr>
            <a:spLocks xmlns:a="http://schemas.openxmlformats.org/drawingml/2006/main" noGrp="1"/>
          </p:cNvSpPr>
          <p:nvPr/>
        </p:nvSpPr>
        <p:spPr>
          <a:xfrm xmlns:a="http://schemas.openxmlformats.org/drawingml/2006/main">
            <a:off x="9391650" y="5600700"/>
            <a:ext cx="36766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627083"/>
                </a:solidFill>
              </a:defRPr>
            </a:pPr>
            <a:r>
              <a:rPr sz="1125">
                <a:solidFill>
                  <a:srgbClr val="627083"/>
                </a:solidFill>
              </a:rPr>
              <a:t>1990 through 2025</a:t>
            </a:r>
          </a:p>
        </p:txBody>
      </p:sp>
      <p:sp>
        <p:nvSpPr>
          <p:cNvPr id="16" name="">
            <a:extLst xmlns:a="http://schemas.openxmlformats.org/drawingml/2006/main">
              <a:ext uri="{FF2B5EF4-FFF2-40B4-BE49-F238E27FC236}">
                <a16:creationId xmlns:a16="http://schemas.microsoft.com/office/drawing/2014/main" id="{1FD63000-7A20-40A8-9F76-662FE7A637B2}"/>
              </a:ext>
            </a:extLst>
          </p:cNvPr>
          <p:cNvSpPr>
            <a:spLocks xmlns:a="http://schemas.openxmlformats.org/drawingml/2006/main" noGrp="1"/>
          </p:cNvSpPr>
          <p:nvPr/>
        </p:nvSpPr>
        <p:spPr>
          <a:xfrm xmlns:a="http://schemas.openxmlformats.org/drawingml/2006/main">
            <a:off x="13392150" y="4747260"/>
            <a:ext cx="4019550" cy="1203960"/>
          </a:xfrm>
          <a:prstGeom xmlns:a="http://schemas.openxmlformats.org/drawingml/2006/main" prst="roundRect">
            <a:avLst>
              <a:gd name="adj" fmla="val 9494"/>
            </a:avLst>
          </a:prstGeom>
          <a:solidFill xmlns:a="http://schemas.openxmlformats.org/drawingml/2006/main">
            <a:srgbClr val="FFFFFF"/>
          </a:solidFill>
          <a:ln xmlns:a="http://schemas.openxmlformats.org/drawingml/2006/main" w="9525">
            <a:solidFill>
              <a:srgbClr val="DCE3EC"/>
            </a:solidFill>
            <a:prstDash val="solid"/>
          </a:ln>
        </p:spPr>
      </p:sp>
      <p:sp>
        <p:nvSpPr>
          <p:cNvPr id="17" name="">
            <a:extLst xmlns:a="http://schemas.openxmlformats.org/drawingml/2006/main">
              <a:ext uri="{FF2B5EF4-FFF2-40B4-BE49-F238E27FC236}">
                <a16:creationId xmlns:a16="http://schemas.microsoft.com/office/drawing/2014/main" id="{6C1F071C-109A-4CA8-A35A-6BFF25E1A321}"/>
              </a:ext>
            </a:extLst>
          </p:cNvPr>
          <p:cNvSpPr>
            <a:spLocks xmlns:a="http://schemas.openxmlformats.org/drawingml/2006/main" noGrp="1"/>
          </p:cNvSpPr>
          <p:nvPr/>
        </p:nvSpPr>
        <p:spPr>
          <a:xfrm xmlns:a="http://schemas.openxmlformats.org/drawingml/2006/main">
            <a:off x="13563600" y="4914900"/>
            <a:ext cx="36766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185ABC"/>
                </a:solidFill>
              </a:defRPr>
            </a:pPr>
            <a:r>
              <a:rPr sz="1950" b="1">
                <a:solidFill>
                  <a:srgbClr val="185ABC"/>
                </a:solidFill>
              </a:rPr>
              <a:t>+</a:t>
            </a:r>
          </a:p>
        </p:txBody>
      </p:sp>
      <p:sp>
        <p:nvSpPr>
          <p:cNvPr id="18" name="">
            <a:extLst xmlns:a="http://schemas.openxmlformats.org/drawingml/2006/main">
              <a:ext uri="{FF2B5EF4-FFF2-40B4-BE49-F238E27FC236}">
                <a16:creationId xmlns:a16="http://schemas.microsoft.com/office/drawing/2014/main" id="{86347805-2E04-417C-9964-B63DE1C4CC81}"/>
              </a:ext>
            </a:extLst>
          </p:cNvPr>
          <p:cNvSpPr>
            <a:spLocks xmlns:a="http://schemas.openxmlformats.org/drawingml/2006/main" noGrp="1"/>
          </p:cNvSpPr>
          <p:nvPr/>
        </p:nvSpPr>
        <p:spPr>
          <a:xfrm xmlns:a="http://schemas.openxmlformats.org/drawingml/2006/main">
            <a:off x="13563600" y="5295900"/>
            <a:ext cx="36766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52033"/>
                </a:solidFill>
              </a:defRPr>
            </a:pPr>
            <a:r>
              <a:rPr sz="1575" b="1">
                <a:solidFill>
                  <a:srgbClr val="152033"/>
                </a:solidFill>
              </a:rPr>
              <a:t>symbols</a:t>
            </a:r>
          </a:p>
        </p:txBody>
      </p:sp>
      <p:sp>
        <p:nvSpPr>
          <p:cNvPr id="19" name="">
            <a:extLst xmlns:a="http://schemas.openxmlformats.org/drawingml/2006/main">
              <a:ext uri="{FF2B5EF4-FFF2-40B4-BE49-F238E27FC236}">
                <a16:creationId xmlns:a16="http://schemas.microsoft.com/office/drawing/2014/main" id="{F3A24ECE-B687-41E6-A7CE-04F048670A18}"/>
              </a:ext>
            </a:extLst>
          </p:cNvPr>
          <p:cNvSpPr>
            <a:spLocks xmlns:a="http://schemas.openxmlformats.org/drawingml/2006/main" noGrp="1"/>
          </p:cNvSpPr>
          <p:nvPr/>
        </p:nvSpPr>
        <p:spPr>
          <a:xfrm xmlns:a="http://schemas.openxmlformats.org/drawingml/2006/main">
            <a:off x="13563600" y="5600700"/>
            <a:ext cx="36766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627083"/>
                </a:solidFill>
              </a:defRPr>
            </a:pPr>
            <a:r>
              <a:rPr sz="1125">
                <a:solidFill>
                  <a:srgbClr val="627083"/>
                </a:solidFill>
              </a:rPr>
              <a:t>@, !, #, underscore</a:t>
            </a:r>
          </a:p>
        </p:txBody>
      </p:sp>
      <p:sp>
        <p:nvSpPr>
          <p:cNvPr id="20" name="">
            <a:extLst xmlns:a="http://schemas.openxmlformats.org/drawingml/2006/main">
              <a:ext uri="{FF2B5EF4-FFF2-40B4-BE49-F238E27FC236}">
                <a16:creationId xmlns:a16="http://schemas.microsoft.com/office/drawing/2014/main" id="{78E7FA96-BBD3-4B6E-B3C3-150547A35A56}"/>
              </a:ext>
            </a:extLst>
          </p:cNvPr>
          <p:cNvSpPr>
            <a:spLocks xmlns:a="http://schemas.openxmlformats.org/drawingml/2006/main" noGrp="1"/>
          </p:cNvSpPr>
          <p:nvPr/>
        </p:nvSpPr>
        <p:spPr>
          <a:xfrm xmlns:a="http://schemas.openxmlformats.org/drawingml/2006/main">
            <a:off x="876300" y="6236970"/>
            <a:ext cx="16535400" cy="662940"/>
          </a:xfrm>
          <a:prstGeom xmlns:a="http://schemas.openxmlformats.org/drawingml/2006/main" prst="roundRect">
            <a:avLst>
              <a:gd name="adj" fmla="val 17241"/>
            </a:avLst>
          </a:prstGeom>
          <a:solidFill xmlns:a="http://schemas.openxmlformats.org/drawingml/2006/main">
            <a:srgbClr val="111827"/>
          </a:solidFill>
        </p:spPr>
      </p:sp>
      <p:sp>
        <p:nvSpPr>
          <p:cNvPr id="21" name="">
            <a:extLst xmlns:a="http://schemas.openxmlformats.org/drawingml/2006/main">
              <a:ext uri="{FF2B5EF4-FFF2-40B4-BE49-F238E27FC236}">
                <a16:creationId xmlns:a16="http://schemas.microsoft.com/office/drawing/2014/main" id="{5E7AF077-3065-444D-85AF-32371A014D19}"/>
              </a:ext>
            </a:extLst>
          </p:cNvPr>
          <p:cNvSpPr>
            <a:spLocks xmlns:a="http://schemas.openxmlformats.org/drawingml/2006/main" noGrp="1"/>
          </p:cNvSpPr>
          <p:nvPr/>
        </p:nvSpPr>
        <p:spPr>
          <a:xfrm xmlns:a="http://schemas.openxmlformats.org/drawingml/2006/main">
            <a:off x="1104900" y="6400800"/>
            <a:ext cx="160782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b="1">
                <a:solidFill>
                  <a:srgbClr val="FFFFFF"/>
                </a:solidFill>
              </a:defRPr>
            </a:pPr>
            <a:r>
              <a:rPr sz="2100" b="1">
                <a:solidFill>
                  <a:srgbClr val="FFFFFF"/>
                </a:solidFill>
              </a:rPr>
              <a:t>Example template: admin + 1997 + ! + spring → admin1997!spring!</a:t>
            </a:r>
          </a:p>
        </p:txBody>
      </p:sp>
    </p:spTree>
    <p:extLst>
      <p:ext uri="{BB962C8B-B14F-4D97-AF65-F5344CB8AC3E}">
        <p14:creationId xmlns:p14="http://schemas.microsoft.com/office/powerpoint/2010/main" val="138067587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root">
            <a:extLst xmlns:a="http://schemas.openxmlformats.org/drawingml/2006/main">
              <a:ext uri="{FF2B5EF4-FFF2-40B4-BE49-F238E27FC236}">
                <a16:creationId xmlns:a16="http://schemas.microsoft.com/office/drawing/2014/main" id="{FE4B44E1-7A28-4D95-9791-A45870785C4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6F8FB"/>
          </a:solidFill>
        </p:spPr>
      </p:sp>
      <p:sp>
        <p:nvSpPr>
          <p:cNvPr id="2" name="">
            <a:extLst xmlns:a="http://schemas.openxmlformats.org/drawingml/2006/main">
              <a:ext uri="{FF2B5EF4-FFF2-40B4-BE49-F238E27FC236}">
                <a16:creationId xmlns:a16="http://schemas.microsoft.com/office/drawing/2014/main" id="{65DA5D8E-22B2-4D24-B93D-3DF22A9EFACF}"/>
              </a:ext>
            </a:extLst>
          </p:cNvPr>
          <p:cNvSpPr>
            <a:spLocks xmlns:a="http://schemas.openxmlformats.org/drawingml/2006/main" noGrp="1"/>
          </p:cNvSpPr>
          <p:nvPr/>
        </p:nvSpPr>
        <p:spPr>
          <a:xfrm xmlns:a="http://schemas.openxmlformats.org/drawingml/2006/main">
            <a:off x="876300" y="3543300"/>
            <a:ext cx="165354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0796B"/>
                </a:solidFill>
              </a:defRPr>
            </a:pPr>
            <a:r>
              <a:rPr sz="1275" b="1">
                <a:solidFill>
                  <a:srgbClr val="00796B"/>
                </a:solidFill>
              </a:rPr>
              <a:t>Pipeline</a:t>
            </a:r>
          </a:p>
        </p:txBody>
      </p:sp>
      <p:sp>
        <p:nvSpPr>
          <p:cNvPr id="3" name="slide-title">
            <a:extLst xmlns:a="http://schemas.openxmlformats.org/drawingml/2006/main">
              <a:ext uri="{FF2B5EF4-FFF2-40B4-BE49-F238E27FC236}">
                <a16:creationId xmlns:a16="http://schemas.microsoft.com/office/drawing/2014/main" id="{D083C9C8-6B01-4895-9F10-598A4FD6C671}"/>
              </a:ext>
            </a:extLst>
          </p:cNvPr>
          <p:cNvSpPr>
            <a:spLocks xmlns:a="http://schemas.openxmlformats.org/drawingml/2006/main" noGrp="1"/>
          </p:cNvSpPr>
          <p:nvPr/>
        </p:nvSpPr>
        <p:spPr>
          <a:xfrm xmlns:a="http://schemas.openxmlformats.org/drawingml/2006/main">
            <a:off x="876300" y="4038600"/>
            <a:ext cx="165354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52033"/>
                </a:solidFill>
              </a:defRPr>
            </a:pPr>
            <a:r>
              <a:rPr sz="3900" b="1">
                <a:solidFill>
                  <a:srgbClr val="152033"/>
                </a:solidFill>
              </a:rPr>
              <a:t>Weak roots become high-score adversarial outputs.</a:t>
            </a:r>
          </a:p>
        </p:txBody>
      </p:sp>
      <p:sp>
        <p:nvSpPr>
          <p:cNvPr id="4" name="">
            <a:extLst xmlns:a="http://schemas.openxmlformats.org/drawingml/2006/main">
              <a:ext uri="{FF2B5EF4-FFF2-40B4-BE49-F238E27FC236}">
                <a16:creationId xmlns:a16="http://schemas.microsoft.com/office/drawing/2014/main" id="{DB46A637-7246-4C1B-B1CC-9677E0140C49}"/>
              </a:ext>
            </a:extLst>
          </p:cNvPr>
          <p:cNvSpPr>
            <a:spLocks xmlns:a="http://schemas.openxmlformats.org/drawingml/2006/main" noGrp="1"/>
          </p:cNvSpPr>
          <p:nvPr/>
        </p:nvSpPr>
        <p:spPr>
          <a:xfrm xmlns:a="http://schemas.openxmlformats.org/drawingml/2006/main">
            <a:off x="876300" y="4939665"/>
            <a:ext cx="3200400" cy="1203960"/>
          </a:xfrm>
          <a:prstGeom xmlns:a="http://schemas.openxmlformats.org/drawingml/2006/main" prst="roundRect">
            <a:avLst>
              <a:gd name="adj" fmla="val 9494"/>
            </a:avLst>
          </a:prstGeom>
          <a:solidFill xmlns:a="http://schemas.openxmlformats.org/drawingml/2006/main">
            <a:srgbClr val="FFFFFF"/>
          </a:solidFill>
          <a:ln xmlns:a="http://schemas.openxmlformats.org/drawingml/2006/main" w="9525">
            <a:solidFill>
              <a:srgbClr val="DCE3EC"/>
            </a:solidFill>
            <a:prstDash val="solid"/>
          </a:ln>
        </p:spPr>
      </p:sp>
      <p:sp>
        <p:nvSpPr>
          <p:cNvPr id="5" name="">
            <a:extLst xmlns:a="http://schemas.openxmlformats.org/drawingml/2006/main">
              <a:ext uri="{FF2B5EF4-FFF2-40B4-BE49-F238E27FC236}">
                <a16:creationId xmlns:a16="http://schemas.microsoft.com/office/drawing/2014/main" id="{94DBCCE8-4BF5-479B-B505-7699CE224D5C}"/>
              </a:ext>
            </a:extLst>
          </p:cNvPr>
          <p:cNvSpPr>
            <a:spLocks xmlns:a="http://schemas.openxmlformats.org/drawingml/2006/main" noGrp="1"/>
          </p:cNvSpPr>
          <p:nvPr/>
        </p:nvSpPr>
        <p:spPr>
          <a:xfrm xmlns:a="http://schemas.openxmlformats.org/drawingml/2006/main">
            <a:off x="1047750" y="5105400"/>
            <a:ext cx="28575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185ABC"/>
                </a:solidFill>
              </a:defRPr>
            </a:pPr>
            <a:r>
              <a:rPr sz="1950" b="1">
                <a:solidFill>
                  <a:srgbClr val="185ABC"/>
                </a:solidFill>
              </a:rPr>
              <a:t>1</a:t>
            </a:r>
          </a:p>
        </p:txBody>
      </p:sp>
      <p:sp>
        <p:nvSpPr>
          <p:cNvPr id="6" name="">
            <a:extLst xmlns:a="http://schemas.openxmlformats.org/drawingml/2006/main">
              <a:ext uri="{FF2B5EF4-FFF2-40B4-BE49-F238E27FC236}">
                <a16:creationId xmlns:a16="http://schemas.microsoft.com/office/drawing/2014/main" id="{30BE41BD-28EF-46A5-8945-B340EF73A689}"/>
              </a:ext>
            </a:extLst>
          </p:cNvPr>
          <p:cNvSpPr>
            <a:spLocks xmlns:a="http://schemas.openxmlformats.org/drawingml/2006/main" noGrp="1"/>
          </p:cNvSpPr>
          <p:nvPr/>
        </p:nvSpPr>
        <p:spPr>
          <a:xfrm xmlns:a="http://schemas.openxmlformats.org/drawingml/2006/main">
            <a:off x="1047750" y="5486400"/>
            <a:ext cx="28575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52033"/>
                </a:solidFill>
              </a:defRPr>
            </a:pPr>
            <a:r>
              <a:rPr sz="1575" b="1">
                <a:solidFill>
                  <a:srgbClr val="152033"/>
                </a:solidFill>
              </a:rPr>
              <a:t>Clean</a:t>
            </a:r>
          </a:p>
        </p:txBody>
      </p:sp>
      <p:sp>
        <p:nvSpPr>
          <p:cNvPr id="7" name="">
            <a:extLst xmlns:a="http://schemas.openxmlformats.org/drawingml/2006/main">
              <a:ext uri="{FF2B5EF4-FFF2-40B4-BE49-F238E27FC236}">
                <a16:creationId xmlns:a16="http://schemas.microsoft.com/office/drawing/2014/main" id="{9E8EC470-A3A9-4146-9767-75EBFDD9CF67}"/>
              </a:ext>
            </a:extLst>
          </p:cNvPr>
          <p:cNvSpPr>
            <a:spLocks xmlns:a="http://schemas.openxmlformats.org/drawingml/2006/main" noGrp="1"/>
          </p:cNvSpPr>
          <p:nvPr/>
        </p:nvSpPr>
        <p:spPr>
          <a:xfrm xmlns:a="http://schemas.openxmlformats.org/drawingml/2006/main">
            <a:off x="1047750" y="5810250"/>
            <a:ext cx="2857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627083"/>
                </a:solidFill>
              </a:defRPr>
            </a:pPr>
            <a:r>
              <a:rPr sz="1125">
                <a:solidFill>
                  <a:srgbClr val="627083"/>
                </a:solidFill>
              </a:rPr>
              <a:t>filter raw common passwords</a:t>
            </a:r>
          </a:p>
        </p:txBody>
      </p:sp>
      <p:sp>
        <p:nvSpPr>
          <p:cNvPr id="8" name="">
            <a:extLst xmlns:a="http://schemas.openxmlformats.org/drawingml/2006/main">
              <a:ext uri="{FF2B5EF4-FFF2-40B4-BE49-F238E27FC236}">
                <a16:creationId xmlns:a16="http://schemas.microsoft.com/office/drawing/2014/main" id="{445C08EA-5D53-4281-8AA1-8810249FEBF8}"/>
              </a:ext>
            </a:extLst>
          </p:cNvPr>
          <p:cNvSpPr>
            <a:spLocks xmlns:a="http://schemas.openxmlformats.org/drawingml/2006/main" noGrp="1"/>
          </p:cNvSpPr>
          <p:nvPr/>
        </p:nvSpPr>
        <p:spPr>
          <a:xfrm xmlns:a="http://schemas.openxmlformats.org/drawingml/2006/main">
            <a:off x="4210050" y="4939665"/>
            <a:ext cx="3200400" cy="1203960"/>
          </a:xfrm>
          <a:prstGeom xmlns:a="http://schemas.openxmlformats.org/drawingml/2006/main" prst="roundRect">
            <a:avLst>
              <a:gd name="adj" fmla="val 9494"/>
            </a:avLst>
          </a:prstGeom>
          <a:solidFill xmlns:a="http://schemas.openxmlformats.org/drawingml/2006/main">
            <a:srgbClr val="FFFFFF"/>
          </a:solidFill>
          <a:ln xmlns:a="http://schemas.openxmlformats.org/drawingml/2006/main" w="9525">
            <a:solidFill>
              <a:srgbClr val="DCE3EC"/>
            </a:solidFill>
            <a:prstDash val="solid"/>
          </a:ln>
        </p:spPr>
      </p:sp>
      <p:sp>
        <p:nvSpPr>
          <p:cNvPr id="9" name="">
            <a:extLst xmlns:a="http://schemas.openxmlformats.org/drawingml/2006/main">
              <a:ext uri="{FF2B5EF4-FFF2-40B4-BE49-F238E27FC236}">
                <a16:creationId xmlns:a16="http://schemas.microsoft.com/office/drawing/2014/main" id="{D5C3E9B7-2D7C-43A3-9040-EE671504211F}"/>
              </a:ext>
            </a:extLst>
          </p:cNvPr>
          <p:cNvSpPr>
            <a:spLocks xmlns:a="http://schemas.openxmlformats.org/drawingml/2006/main" noGrp="1"/>
          </p:cNvSpPr>
          <p:nvPr/>
        </p:nvSpPr>
        <p:spPr>
          <a:xfrm xmlns:a="http://schemas.openxmlformats.org/drawingml/2006/main">
            <a:off x="4381500" y="5105400"/>
            <a:ext cx="28575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185ABC"/>
                </a:solidFill>
              </a:defRPr>
            </a:pPr>
            <a:r>
              <a:rPr sz="1950" b="1">
                <a:solidFill>
                  <a:srgbClr val="185ABC"/>
                </a:solidFill>
              </a:rPr>
              <a:t>2</a:t>
            </a:r>
          </a:p>
        </p:txBody>
      </p:sp>
      <p:sp>
        <p:nvSpPr>
          <p:cNvPr id="10" name="">
            <a:extLst xmlns:a="http://schemas.openxmlformats.org/drawingml/2006/main">
              <a:ext uri="{FF2B5EF4-FFF2-40B4-BE49-F238E27FC236}">
                <a16:creationId xmlns:a16="http://schemas.microsoft.com/office/drawing/2014/main" id="{FC7A8BA9-7657-418F-A420-B7E4FD0EC272}"/>
              </a:ext>
            </a:extLst>
          </p:cNvPr>
          <p:cNvSpPr>
            <a:spLocks xmlns:a="http://schemas.openxmlformats.org/drawingml/2006/main" noGrp="1"/>
          </p:cNvSpPr>
          <p:nvPr/>
        </p:nvSpPr>
        <p:spPr>
          <a:xfrm xmlns:a="http://schemas.openxmlformats.org/drawingml/2006/main">
            <a:off x="4381500" y="5486400"/>
            <a:ext cx="28575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52033"/>
                </a:solidFill>
              </a:defRPr>
            </a:pPr>
            <a:r>
              <a:rPr sz="1575" b="1">
                <a:solidFill>
                  <a:srgbClr val="152033"/>
                </a:solidFill>
              </a:rPr>
              <a:t>Modify</a:t>
            </a:r>
          </a:p>
        </p:txBody>
      </p:sp>
      <p:sp>
        <p:nvSpPr>
          <p:cNvPr id="11" name="">
            <a:extLst xmlns:a="http://schemas.openxmlformats.org/drawingml/2006/main">
              <a:ext uri="{FF2B5EF4-FFF2-40B4-BE49-F238E27FC236}">
                <a16:creationId xmlns:a16="http://schemas.microsoft.com/office/drawing/2014/main" id="{27B67318-C3B9-41AD-AAF5-B6A9CECCC7B5}"/>
              </a:ext>
            </a:extLst>
          </p:cNvPr>
          <p:cNvSpPr>
            <a:spLocks xmlns:a="http://schemas.openxmlformats.org/drawingml/2006/main" noGrp="1"/>
          </p:cNvSpPr>
          <p:nvPr/>
        </p:nvSpPr>
        <p:spPr>
          <a:xfrm xmlns:a="http://schemas.openxmlformats.org/drawingml/2006/main">
            <a:off x="4381500" y="5810250"/>
            <a:ext cx="2857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627083"/>
                </a:solidFill>
              </a:defRPr>
            </a:pPr>
            <a:r>
              <a:rPr sz="1125">
                <a:solidFill>
                  <a:srgbClr val="627083"/>
                </a:solidFill>
              </a:rPr>
              <a:t>add rule-based templates</a:t>
            </a:r>
          </a:p>
        </p:txBody>
      </p:sp>
      <p:sp>
        <p:nvSpPr>
          <p:cNvPr id="12" name="">
            <a:extLst xmlns:a="http://schemas.openxmlformats.org/drawingml/2006/main">
              <a:ext uri="{FF2B5EF4-FFF2-40B4-BE49-F238E27FC236}">
                <a16:creationId xmlns:a16="http://schemas.microsoft.com/office/drawing/2014/main" id="{5E875709-05E3-4C3A-8EC0-325181158A5D}"/>
              </a:ext>
            </a:extLst>
          </p:cNvPr>
          <p:cNvSpPr>
            <a:spLocks xmlns:a="http://schemas.openxmlformats.org/drawingml/2006/main" noGrp="1"/>
          </p:cNvSpPr>
          <p:nvPr/>
        </p:nvSpPr>
        <p:spPr>
          <a:xfrm xmlns:a="http://schemas.openxmlformats.org/drawingml/2006/main">
            <a:off x="7543800" y="4939665"/>
            <a:ext cx="3200400" cy="1203960"/>
          </a:xfrm>
          <a:prstGeom xmlns:a="http://schemas.openxmlformats.org/drawingml/2006/main" prst="roundRect">
            <a:avLst>
              <a:gd name="adj" fmla="val 9494"/>
            </a:avLst>
          </a:prstGeom>
          <a:solidFill xmlns:a="http://schemas.openxmlformats.org/drawingml/2006/main">
            <a:srgbClr val="FFFFFF"/>
          </a:solidFill>
          <a:ln xmlns:a="http://schemas.openxmlformats.org/drawingml/2006/main" w="9525">
            <a:solidFill>
              <a:srgbClr val="DCE3EC"/>
            </a:solidFill>
            <a:prstDash val="solid"/>
          </a:ln>
        </p:spPr>
      </p:sp>
      <p:sp>
        <p:nvSpPr>
          <p:cNvPr id="13" name="">
            <a:extLst xmlns:a="http://schemas.openxmlformats.org/drawingml/2006/main">
              <a:ext uri="{FF2B5EF4-FFF2-40B4-BE49-F238E27FC236}">
                <a16:creationId xmlns:a16="http://schemas.microsoft.com/office/drawing/2014/main" id="{33727F5D-0791-4728-BC77-99DAAE6272AF}"/>
              </a:ext>
            </a:extLst>
          </p:cNvPr>
          <p:cNvSpPr>
            <a:spLocks xmlns:a="http://schemas.openxmlformats.org/drawingml/2006/main" noGrp="1"/>
          </p:cNvSpPr>
          <p:nvPr/>
        </p:nvSpPr>
        <p:spPr>
          <a:xfrm xmlns:a="http://schemas.openxmlformats.org/drawingml/2006/main">
            <a:off x="7715250" y="5105400"/>
            <a:ext cx="28575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185ABC"/>
                </a:solidFill>
              </a:defRPr>
            </a:pPr>
            <a:r>
              <a:rPr sz="1950" b="1">
                <a:solidFill>
                  <a:srgbClr val="185ABC"/>
                </a:solidFill>
              </a:rPr>
              <a:t>3</a:t>
            </a:r>
          </a:p>
        </p:txBody>
      </p:sp>
      <p:sp>
        <p:nvSpPr>
          <p:cNvPr id="14" name="">
            <a:extLst xmlns:a="http://schemas.openxmlformats.org/drawingml/2006/main">
              <a:ext uri="{FF2B5EF4-FFF2-40B4-BE49-F238E27FC236}">
                <a16:creationId xmlns:a16="http://schemas.microsoft.com/office/drawing/2014/main" id="{C276378F-BA6B-4271-95A7-A589DF6950A2}"/>
              </a:ext>
            </a:extLst>
          </p:cNvPr>
          <p:cNvSpPr>
            <a:spLocks xmlns:a="http://schemas.openxmlformats.org/drawingml/2006/main" noGrp="1"/>
          </p:cNvSpPr>
          <p:nvPr/>
        </p:nvSpPr>
        <p:spPr>
          <a:xfrm xmlns:a="http://schemas.openxmlformats.org/drawingml/2006/main">
            <a:off x="7715250" y="5486400"/>
            <a:ext cx="28575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52033"/>
                </a:solidFill>
              </a:defRPr>
            </a:pPr>
            <a:r>
              <a:rPr sz="1575" b="1">
                <a:solidFill>
                  <a:srgbClr val="152033"/>
                </a:solidFill>
              </a:rPr>
              <a:t>Score</a:t>
            </a:r>
          </a:p>
        </p:txBody>
      </p:sp>
      <p:sp>
        <p:nvSpPr>
          <p:cNvPr id="15" name="">
            <a:extLst xmlns:a="http://schemas.openxmlformats.org/drawingml/2006/main">
              <a:ext uri="{FF2B5EF4-FFF2-40B4-BE49-F238E27FC236}">
                <a16:creationId xmlns:a16="http://schemas.microsoft.com/office/drawing/2014/main" id="{EA62A176-8529-4129-AED4-F539D24A6A66}"/>
              </a:ext>
            </a:extLst>
          </p:cNvPr>
          <p:cNvSpPr>
            <a:spLocks xmlns:a="http://schemas.openxmlformats.org/drawingml/2006/main" noGrp="1"/>
          </p:cNvSpPr>
          <p:nvPr/>
        </p:nvSpPr>
        <p:spPr>
          <a:xfrm xmlns:a="http://schemas.openxmlformats.org/drawingml/2006/main">
            <a:off x="7715250" y="5810250"/>
            <a:ext cx="2857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627083"/>
                </a:solidFill>
              </a:defRPr>
            </a:pPr>
            <a:r>
              <a:rPr sz="1125">
                <a:solidFill>
                  <a:srgbClr val="627083"/>
                </a:solidFill>
              </a:rPr>
              <a:t>keep zxcvbn 4/4 examples</a:t>
            </a:r>
          </a:p>
        </p:txBody>
      </p:sp>
      <p:sp>
        <p:nvSpPr>
          <p:cNvPr id="16" name="">
            <a:extLst xmlns:a="http://schemas.openxmlformats.org/drawingml/2006/main">
              <a:ext uri="{FF2B5EF4-FFF2-40B4-BE49-F238E27FC236}">
                <a16:creationId xmlns:a16="http://schemas.microsoft.com/office/drawing/2014/main" id="{0DAED96F-6B35-4BA2-8A71-8AA696EFF3A9}"/>
              </a:ext>
            </a:extLst>
          </p:cNvPr>
          <p:cNvSpPr>
            <a:spLocks xmlns:a="http://schemas.openxmlformats.org/drawingml/2006/main" noGrp="1"/>
          </p:cNvSpPr>
          <p:nvPr/>
        </p:nvSpPr>
        <p:spPr>
          <a:xfrm xmlns:a="http://schemas.openxmlformats.org/drawingml/2006/main">
            <a:off x="10877550" y="4939665"/>
            <a:ext cx="3200400" cy="1203960"/>
          </a:xfrm>
          <a:prstGeom xmlns:a="http://schemas.openxmlformats.org/drawingml/2006/main" prst="roundRect">
            <a:avLst>
              <a:gd name="adj" fmla="val 9494"/>
            </a:avLst>
          </a:prstGeom>
          <a:solidFill xmlns:a="http://schemas.openxmlformats.org/drawingml/2006/main">
            <a:srgbClr val="FFFFFF"/>
          </a:solidFill>
          <a:ln xmlns:a="http://schemas.openxmlformats.org/drawingml/2006/main" w="9525">
            <a:solidFill>
              <a:srgbClr val="DCE3EC"/>
            </a:solidFill>
            <a:prstDash val="solid"/>
          </a:ln>
        </p:spPr>
      </p:sp>
      <p:sp>
        <p:nvSpPr>
          <p:cNvPr id="17" name="">
            <a:extLst xmlns:a="http://schemas.openxmlformats.org/drawingml/2006/main">
              <a:ext uri="{FF2B5EF4-FFF2-40B4-BE49-F238E27FC236}">
                <a16:creationId xmlns:a16="http://schemas.microsoft.com/office/drawing/2014/main" id="{A8062E27-1D07-4531-A694-0F06513157B0}"/>
              </a:ext>
            </a:extLst>
          </p:cNvPr>
          <p:cNvSpPr>
            <a:spLocks xmlns:a="http://schemas.openxmlformats.org/drawingml/2006/main" noGrp="1"/>
          </p:cNvSpPr>
          <p:nvPr/>
        </p:nvSpPr>
        <p:spPr>
          <a:xfrm xmlns:a="http://schemas.openxmlformats.org/drawingml/2006/main">
            <a:off x="11049000" y="5105400"/>
            <a:ext cx="28575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185ABC"/>
                </a:solidFill>
              </a:defRPr>
            </a:pPr>
            <a:r>
              <a:rPr sz="1950" b="1">
                <a:solidFill>
                  <a:srgbClr val="185ABC"/>
                </a:solidFill>
              </a:rPr>
              <a:t>4</a:t>
            </a:r>
          </a:p>
        </p:txBody>
      </p:sp>
      <p:sp>
        <p:nvSpPr>
          <p:cNvPr id="18" name="">
            <a:extLst xmlns:a="http://schemas.openxmlformats.org/drawingml/2006/main">
              <a:ext uri="{FF2B5EF4-FFF2-40B4-BE49-F238E27FC236}">
                <a16:creationId xmlns:a16="http://schemas.microsoft.com/office/drawing/2014/main" id="{8C776B8B-C21A-48CA-B861-FAACBB89E6F8}"/>
              </a:ext>
            </a:extLst>
          </p:cNvPr>
          <p:cNvSpPr>
            <a:spLocks xmlns:a="http://schemas.openxmlformats.org/drawingml/2006/main" noGrp="1"/>
          </p:cNvSpPr>
          <p:nvPr/>
        </p:nvSpPr>
        <p:spPr>
          <a:xfrm xmlns:a="http://schemas.openxmlformats.org/drawingml/2006/main">
            <a:off x="11049000" y="5486400"/>
            <a:ext cx="28575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52033"/>
                </a:solidFill>
              </a:defRPr>
            </a:pPr>
            <a:r>
              <a:rPr sz="1575" b="1">
                <a:solidFill>
                  <a:srgbClr val="152033"/>
                </a:solidFill>
              </a:rPr>
              <a:t>Train</a:t>
            </a:r>
          </a:p>
        </p:txBody>
      </p:sp>
      <p:sp>
        <p:nvSpPr>
          <p:cNvPr id="19" name="">
            <a:extLst xmlns:a="http://schemas.openxmlformats.org/drawingml/2006/main">
              <a:ext uri="{FF2B5EF4-FFF2-40B4-BE49-F238E27FC236}">
                <a16:creationId xmlns:a16="http://schemas.microsoft.com/office/drawing/2014/main" id="{AD52ED2B-B714-4A08-ACB1-E41C064E9417}"/>
              </a:ext>
            </a:extLst>
          </p:cNvPr>
          <p:cNvSpPr>
            <a:spLocks xmlns:a="http://schemas.openxmlformats.org/drawingml/2006/main" noGrp="1"/>
          </p:cNvSpPr>
          <p:nvPr/>
        </p:nvSpPr>
        <p:spPr>
          <a:xfrm xmlns:a="http://schemas.openxmlformats.org/drawingml/2006/main">
            <a:off x="11049000" y="5810250"/>
            <a:ext cx="2857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627083"/>
                </a:solidFill>
              </a:defRPr>
            </a:pPr>
            <a:r>
              <a:rPr sz="1125">
                <a:solidFill>
                  <a:srgbClr val="627083"/>
                </a:solidFill>
              </a:rPr>
              <a:t>fine-tune Qwen with LoRA</a:t>
            </a:r>
          </a:p>
        </p:txBody>
      </p:sp>
      <p:sp>
        <p:nvSpPr>
          <p:cNvPr id="20" name="">
            <a:extLst xmlns:a="http://schemas.openxmlformats.org/drawingml/2006/main">
              <a:ext uri="{FF2B5EF4-FFF2-40B4-BE49-F238E27FC236}">
                <a16:creationId xmlns:a16="http://schemas.microsoft.com/office/drawing/2014/main" id="{CF973146-A11D-4086-87A5-2F8598A13C65}"/>
              </a:ext>
            </a:extLst>
          </p:cNvPr>
          <p:cNvSpPr>
            <a:spLocks xmlns:a="http://schemas.openxmlformats.org/drawingml/2006/main" noGrp="1"/>
          </p:cNvSpPr>
          <p:nvPr/>
        </p:nvSpPr>
        <p:spPr>
          <a:xfrm xmlns:a="http://schemas.openxmlformats.org/drawingml/2006/main">
            <a:off x="14211300" y="4939665"/>
            <a:ext cx="3200400" cy="1203960"/>
          </a:xfrm>
          <a:prstGeom xmlns:a="http://schemas.openxmlformats.org/drawingml/2006/main" prst="roundRect">
            <a:avLst>
              <a:gd name="adj" fmla="val 9494"/>
            </a:avLst>
          </a:prstGeom>
          <a:solidFill xmlns:a="http://schemas.openxmlformats.org/drawingml/2006/main">
            <a:srgbClr val="FFFFFF"/>
          </a:solidFill>
          <a:ln xmlns:a="http://schemas.openxmlformats.org/drawingml/2006/main" w="9525">
            <a:solidFill>
              <a:srgbClr val="DCE3EC"/>
            </a:solidFill>
            <a:prstDash val="solid"/>
          </a:ln>
        </p:spPr>
      </p:sp>
      <p:sp>
        <p:nvSpPr>
          <p:cNvPr id="21" name="">
            <a:extLst xmlns:a="http://schemas.openxmlformats.org/drawingml/2006/main">
              <a:ext uri="{FF2B5EF4-FFF2-40B4-BE49-F238E27FC236}">
                <a16:creationId xmlns:a16="http://schemas.microsoft.com/office/drawing/2014/main" id="{2502FECB-A698-4752-B2A8-0715AE5DAA65}"/>
              </a:ext>
            </a:extLst>
          </p:cNvPr>
          <p:cNvSpPr>
            <a:spLocks xmlns:a="http://schemas.openxmlformats.org/drawingml/2006/main" noGrp="1"/>
          </p:cNvSpPr>
          <p:nvPr/>
        </p:nvSpPr>
        <p:spPr>
          <a:xfrm xmlns:a="http://schemas.openxmlformats.org/drawingml/2006/main">
            <a:off x="14382750" y="5105400"/>
            <a:ext cx="28575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185ABC"/>
                </a:solidFill>
              </a:defRPr>
            </a:pPr>
            <a:r>
              <a:rPr sz="1950" b="1">
                <a:solidFill>
                  <a:srgbClr val="185ABC"/>
                </a:solidFill>
              </a:rPr>
              <a:t>5</a:t>
            </a:r>
          </a:p>
        </p:txBody>
      </p:sp>
      <p:sp>
        <p:nvSpPr>
          <p:cNvPr id="22" name="">
            <a:extLst xmlns:a="http://schemas.openxmlformats.org/drawingml/2006/main">
              <a:ext uri="{FF2B5EF4-FFF2-40B4-BE49-F238E27FC236}">
                <a16:creationId xmlns:a16="http://schemas.microsoft.com/office/drawing/2014/main" id="{952E26CD-B1FA-4DB5-9EB9-8D9CFE6EDA28}"/>
              </a:ext>
            </a:extLst>
          </p:cNvPr>
          <p:cNvSpPr>
            <a:spLocks xmlns:a="http://schemas.openxmlformats.org/drawingml/2006/main" noGrp="1"/>
          </p:cNvSpPr>
          <p:nvPr/>
        </p:nvSpPr>
        <p:spPr>
          <a:xfrm xmlns:a="http://schemas.openxmlformats.org/drawingml/2006/main">
            <a:off x="14382750" y="5486400"/>
            <a:ext cx="28575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52033"/>
                </a:solidFill>
              </a:defRPr>
            </a:pPr>
            <a:r>
              <a:rPr sz="1575" b="1">
                <a:solidFill>
                  <a:srgbClr val="152033"/>
                </a:solidFill>
              </a:rPr>
              <a:t>Generate</a:t>
            </a:r>
          </a:p>
        </p:txBody>
      </p:sp>
      <p:sp>
        <p:nvSpPr>
          <p:cNvPr id="23" name="">
            <a:extLst xmlns:a="http://schemas.openxmlformats.org/drawingml/2006/main">
              <a:ext uri="{FF2B5EF4-FFF2-40B4-BE49-F238E27FC236}">
                <a16:creationId xmlns:a16="http://schemas.microsoft.com/office/drawing/2014/main" id="{53D3F37C-4E1C-4797-9509-27D0A3E902CA}"/>
              </a:ext>
            </a:extLst>
          </p:cNvPr>
          <p:cNvSpPr>
            <a:spLocks xmlns:a="http://schemas.openxmlformats.org/drawingml/2006/main" noGrp="1"/>
          </p:cNvSpPr>
          <p:nvPr/>
        </p:nvSpPr>
        <p:spPr>
          <a:xfrm xmlns:a="http://schemas.openxmlformats.org/drawingml/2006/main">
            <a:off x="14382750" y="5810250"/>
            <a:ext cx="285750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627083"/>
                </a:solidFill>
              </a:defRPr>
            </a:pPr>
            <a:r>
              <a:rPr sz="1125">
                <a:solidFill>
                  <a:srgbClr val="627083"/>
                </a:solidFill>
              </a:rPr>
              <a:t>filter and analyze outputs</a:t>
            </a:r>
          </a:p>
        </p:txBody>
      </p:sp>
      <p:sp>
        <p:nvSpPr>
          <p:cNvPr id="24" name="slide-subtitle">
            <a:extLst xmlns:a="http://schemas.openxmlformats.org/drawingml/2006/main">
              <a:ext uri="{FF2B5EF4-FFF2-40B4-BE49-F238E27FC236}">
                <a16:creationId xmlns:a16="http://schemas.microsoft.com/office/drawing/2014/main" id="{966FD202-3792-4E31-B1D4-82D2CB3BCBE6}"/>
              </a:ext>
            </a:extLst>
          </p:cNvPr>
          <p:cNvSpPr>
            <a:spLocks xmlns:a="http://schemas.openxmlformats.org/drawingml/2006/main" noGrp="1"/>
          </p:cNvSpPr>
          <p:nvPr/>
        </p:nvSpPr>
        <p:spPr>
          <a:xfrm xmlns:a="http://schemas.openxmlformats.org/drawingml/2006/main">
            <a:off x="876300" y="6457950"/>
            <a:ext cx="165354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627083"/>
                </a:solidFill>
              </a:defRPr>
            </a:pPr>
            <a:r>
              <a:rPr sz="1950">
                <a:solidFill>
                  <a:srgbClr val="627083"/>
                </a:solidFill>
              </a:rPr>
              <a:t>The model learns the distribution of passwords that pass the meter.</a:t>
            </a:r>
          </a:p>
        </p:txBody>
      </p:sp>
    </p:spTree>
    <p:extLst>
      <p:ext uri="{BB962C8B-B14F-4D97-AF65-F5344CB8AC3E}">
        <p14:creationId xmlns:p14="http://schemas.microsoft.com/office/powerpoint/2010/main" val="203688676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root">
            <a:extLst xmlns:a="http://schemas.openxmlformats.org/drawingml/2006/main">
              <a:ext uri="{FF2B5EF4-FFF2-40B4-BE49-F238E27FC236}">
                <a16:creationId xmlns:a16="http://schemas.microsoft.com/office/drawing/2014/main" id="{1E8A1DAF-AA02-42E4-9F0D-E1E4CFDA6FE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6F8FB"/>
          </a:solidFill>
        </p:spPr>
      </p:sp>
      <p:sp>
        <p:nvSpPr>
          <p:cNvPr id="2" name="">
            <a:extLst xmlns:a="http://schemas.openxmlformats.org/drawingml/2006/main">
              <a:ext uri="{FF2B5EF4-FFF2-40B4-BE49-F238E27FC236}">
                <a16:creationId xmlns:a16="http://schemas.microsoft.com/office/drawing/2014/main" id="{4E1D304F-3C2D-453C-BFE9-1DE1FF2E5ABA}"/>
              </a:ext>
            </a:extLst>
          </p:cNvPr>
          <p:cNvSpPr>
            <a:spLocks xmlns:a="http://schemas.openxmlformats.org/drawingml/2006/main" noGrp="1"/>
          </p:cNvSpPr>
          <p:nvPr/>
        </p:nvSpPr>
        <p:spPr>
          <a:xfrm xmlns:a="http://schemas.openxmlformats.org/drawingml/2006/main">
            <a:off x="876300" y="4095750"/>
            <a:ext cx="758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0796B"/>
                </a:solidFill>
              </a:defRPr>
            </a:pPr>
            <a:r>
              <a:rPr sz="1275" b="1">
                <a:solidFill>
                  <a:srgbClr val="00796B"/>
                </a:solidFill>
              </a:rPr>
              <a:t>Model</a:t>
            </a:r>
          </a:p>
        </p:txBody>
      </p:sp>
      <p:sp>
        <p:nvSpPr>
          <p:cNvPr id="3" name="slide-title">
            <a:extLst xmlns:a="http://schemas.openxmlformats.org/drawingml/2006/main">
              <a:ext uri="{FF2B5EF4-FFF2-40B4-BE49-F238E27FC236}">
                <a16:creationId xmlns:a16="http://schemas.microsoft.com/office/drawing/2014/main" id="{92F46783-82BC-45AE-B1B9-7A5433F0346A}"/>
              </a:ext>
            </a:extLst>
          </p:cNvPr>
          <p:cNvSpPr>
            <a:spLocks xmlns:a="http://schemas.openxmlformats.org/drawingml/2006/main" noGrp="1"/>
          </p:cNvSpPr>
          <p:nvPr/>
        </p:nvSpPr>
        <p:spPr>
          <a:xfrm xmlns:a="http://schemas.openxmlformats.org/drawingml/2006/main">
            <a:off x="876300" y="4495800"/>
            <a:ext cx="75819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52033"/>
                </a:solidFill>
              </a:defRPr>
            </a:pPr>
            <a:r>
              <a:rPr sz="3900" b="1">
                <a:solidFill>
                  <a:srgbClr val="152033"/>
                </a:solidFill>
              </a:rPr>
              <a:t>Qwen2-0.5B + LoRA keeps the ML piece practical.</a:t>
            </a:r>
          </a:p>
        </p:txBody>
      </p:sp>
      <p:sp>
        <p:nvSpPr>
          <p:cNvPr id="4" name="slide-subtitle">
            <a:extLst xmlns:a="http://schemas.openxmlformats.org/drawingml/2006/main">
              <a:ext uri="{FF2B5EF4-FFF2-40B4-BE49-F238E27FC236}">
                <a16:creationId xmlns:a16="http://schemas.microsoft.com/office/drawing/2014/main" id="{9556874B-3023-4010-A0B1-929C83C8CEDD}"/>
              </a:ext>
            </a:extLst>
          </p:cNvPr>
          <p:cNvSpPr>
            <a:spLocks xmlns:a="http://schemas.openxmlformats.org/drawingml/2006/main" noGrp="1"/>
          </p:cNvSpPr>
          <p:nvPr/>
        </p:nvSpPr>
        <p:spPr>
          <a:xfrm xmlns:a="http://schemas.openxmlformats.org/drawingml/2006/main">
            <a:off x="876300" y="5905500"/>
            <a:ext cx="75819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627083"/>
                </a:solidFill>
              </a:defRPr>
            </a:pPr>
            <a:r>
              <a:rPr sz="1950">
                <a:solidFill>
                  <a:srgbClr val="627083"/>
                </a:solidFill>
              </a:rPr>
              <a:t>LoRA trains small adapter weights instead of retraining the full model.</a:t>
            </a:r>
          </a:p>
        </p:txBody>
      </p:sp>
      <p:sp>
        <p:nvSpPr>
          <p:cNvPr id="5" name="">
            <a:extLst xmlns:a="http://schemas.openxmlformats.org/drawingml/2006/main">
              <a:ext uri="{FF2B5EF4-FFF2-40B4-BE49-F238E27FC236}">
                <a16:creationId xmlns:a16="http://schemas.microsoft.com/office/drawing/2014/main" id="{D11EA382-0AC5-47BE-9BFB-FD6CFCB2AE79}"/>
              </a:ext>
            </a:extLst>
          </p:cNvPr>
          <p:cNvSpPr>
            <a:spLocks xmlns:a="http://schemas.openxmlformats.org/drawingml/2006/main" noGrp="1"/>
          </p:cNvSpPr>
          <p:nvPr/>
        </p:nvSpPr>
        <p:spPr>
          <a:xfrm xmlns:a="http://schemas.openxmlformats.org/drawingml/2006/main">
            <a:off x="9030653" y="407670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6" name="">
            <a:extLst xmlns:a="http://schemas.openxmlformats.org/drawingml/2006/main">
              <a:ext uri="{FF2B5EF4-FFF2-40B4-BE49-F238E27FC236}">
                <a16:creationId xmlns:a16="http://schemas.microsoft.com/office/drawing/2014/main" id="{2AE60BE7-058E-40F7-B7BF-E5E5FF2E61A5}"/>
              </a:ext>
            </a:extLst>
          </p:cNvPr>
          <p:cNvSpPr>
            <a:spLocks xmlns:a="http://schemas.openxmlformats.org/drawingml/2006/main" noGrp="1"/>
          </p:cNvSpPr>
          <p:nvPr/>
        </p:nvSpPr>
        <p:spPr>
          <a:xfrm xmlns:a="http://schemas.openxmlformats.org/drawingml/2006/main">
            <a:off x="9334500" y="4076700"/>
            <a:ext cx="80772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Base model</a:t>
            </a:r>
          </a:p>
        </p:txBody>
      </p:sp>
      <p:sp>
        <p:nvSpPr>
          <p:cNvPr id="7" name="">
            <a:extLst xmlns:a="http://schemas.openxmlformats.org/drawingml/2006/main">
              <a:ext uri="{FF2B5EF4-FFF2-40B4-BE49-F238E27FC236}">
                <a16:creationId xmlns:a16="http://schemas.microsoft.com/office/drawing/2014/main" id="{02FE376D-2072-4EFA-9245-E310EDA5A684}"/>
              </a:ext>
            </a:extLst>
          </p:cNvPr>
          <p:cNvSpPr>
            <a:spLocks xmlns:a="http://schemas.openxmlformats.org/drawingml/2006/main" noGrp="1"/>
          </p:cNvSpPr>
          <p:nvPr/>
        </p:nvSpPr>
        <p:spPr>
          <a:xfrm xmlns:a="http://schemas.openxmlformats.org/drawingml/2006/main">
            <a:off x="9334500" y="4419600"/>
            <a:ext cx="80772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Qwen/Qwen2-0.5B causal language model.</a:t>
            </a:r>
          </a:p>
        </p:txBody>
      </p:sp>
      <p:sp>
        <p:nvSpPr>
          <p:cNvPr id="8" name="">
            <a:extLst xmlns:a="http://schemas.openxmlformats.org/drawingml/2006/main">
              <a:ext uri="{FF2B5EF4-FFF2-40B4-BE49-F238E27FC236}">
                <a16:creationId xmlns:a16="http://schemas.microsoft.com/office/drawing/2014/main" id="{EAC18485-4A43-4BC3-9C4A-A90CF8A556A8}"/>
              </a:ext>
            </a:extLst>
          </p:cNvPr>
          <p:cNvSpPr>
            <a:spLocks xmlns:a="http://schemas.openxmlformats.org/drawingml/2006/main" noGrp="1"/>
          </p:cNvSpPr>
          <p:nvPr/>
        </p:nvSpPr>
        <p:spPr>
          <a:xfrm xmlns:a="http://schemas.openxmlformats.org/drawingml/2006/main">
            <a:off x="9030653" y="485394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9" name="">
            <a:extLst xmlns:a="http://schemas.openxmlformats.org/drawingml/2006/main">
              <a:ext uri="{FF2B5EF4-FFF2-40B4-BE49-F238E27FC236}">
                <a16:creationId xmlns:a16="http://schemas.microsoft.com/office/drawing/2014/main" id="{EAE39537-4115-40C2-80D9-A4EEE87E2201}"/>
              </a:ext>
            </a:extLst>
          </p:cNvPr>
          <p:cNvSpPr>
            <a:spLocks xmlns:a="http://schemas.openxmlformats.org/drawingml/2006/main" noGrp="1"/>
          </p:cNvSpPr>
          <p:nvPr/>
        </p:nvSpPr>
        <p:spPr>
          <a:xfrm xmlns:a="http://schemas.openxmlformats.org/drawingml/2006/main">
            <a:off x="9334500" y="4857750"/>
            <a:ext cx="80772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Training format</a:t>
            </a:r>
          </a:p>
        </p:txBody>
      </p:sp>
      <p:sp>
        <p:nvSpPr>
          <p:cNvPr id="10" name="">
            <a:extLst xmlns:a="http://schemas.openxmlformats.org/drawingml/2006/main">
              <a:ext uri="{FF2B5EF4-FFF2-40B4-BE49-F238E27FC236}">
                <a16:creationId xmlns:a16="http://schemas.microsoft.com/office/drawing/2014/main" id="{F86A43E2-B3C1-4C18-92C3-8F9238A5D273}"/>
              </a:ext>
            </a:extLst>
          </p:cNvPr>
          <p:cNvSpPr>
            <a:spLocks xmlns:a="http://schemas.openxmlformats.org/drawingml/2006/main" noGrp="1"/>
          </p:cNvSpPr>
          <p:nvPr/>
        </p:nvSpPr>
        <p:spPr>
          <a:xfrm xmlns:a="http://schemas.openxmlformats.org/drawingml/2006/main">
            <a:off x="9334500" y="5200650"/>
            <a:ext cx="80772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Instruction-response JSONL: prompt in, password out.</a:t>
            </a:r>
          </a:p>
        </p:txBody>
      </p:sp>
      <p:sp>
        <p:nvSpPr>
          <p:cNvPr id="11" name="">
            <a:extLst xmlns:a="http://schemas.openxmlformats.org/drawingml/2006/main">
              <a:ext uri="{FF2B5EF4-FFF2-40B4-BE49-F238E27FC236}">
                <a16:creationId xmlns:a16="http://schemas.microsoft.com/office/drawing/2014/main" id="{460C9A76-F87B-4AAF-9F01-1BEE3EA2DEE2}"/>
              </a:ext>
            </a:extLst>
          </p:cNvPr>
          <p:cNvSpPr>
            <a:spLocks xmlns:a="http://schemas.openxmlformats.org/drawingml/2006/main" noGrp="1"/>
          </p:cNvSpPr>
          <p:nvPr/>
        </p:nvSpPr>
        <p:spPr>
          <a:xfrm xmlns:a="http://schemas.openxmlformats.org/drawingml/2006/main">
            <a:off x="9030653" y="563118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12" name="">
            <a:extLst xmlns:a="http://schemas.openxmlformats.org/drawingml/2006/main">
              <a:ext uri="{FF2B5EF4-FFF2-40B4-BE49-F238E27FC236}">
                <a16:creationId xmlns:a16="http://schemas.microsoft.com/office/drawing/2014/main" id="{0E36BC09-67C5-42B5-BD15-315F52AD0A1C}"/>
              </a:ext>
            </a:extLst>
          </p:cNvPr>
          <p:cNvSpPr>
            <a:spLocks xmlns:a="http://schemas.openxmlformats.org/drawingml/2006/main" noGrp="1"/>
          </p:cNvSpPr>
          <p:nvPr/>
        </p:nvSpPr>
        <p:spPr>
          <a:xfrm xmlns:a="http://schemas.openxmlformats.org/drawingml/2006/main">
            <a:off x="9334500" y="5638800"/>
            <a:ext cx="80772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Generation loop</a:t>
            </a:r>
          </a:p>
        </p:txBody>
      </p:sp>
      <p:sp>
        <p:nvSpPr>
          <p:cNvPr id="13" name="">
            <a:extLst xmlns:a="http://schemas.openxmlformats.org/drawingml/2006/main">
              <a:ext uri="{FF2B5EF4-FFF2-40B4-BE49-F238E27FC236}">
                <a16:creationId xmlns:a16="http://schemas.microsoft.com/office/drawing/2014/main" id="{BDC56D89-2831-476C-ADA7-976B614EB6BE}"/>
              </a:ext>
            </a:extLst>
          </p:cNvPr>
          <p:cNvSpPr>
            <a:spLocks xmlns:a="http://schemas.openxmlformats.org/drawingml/2006/main" noGrp="1"/>
          </p:cNvSpPr>
          <p:nvPr/>
        </p:nvSpPr>
        <p:spPr>
          <a:xfrm xmlns:a="http://schemas.openxmlformats.org/drawingml/2006/main">
            <a:off x="9334500" y="5981700"/>
            <a:ext cx="80772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Sample candidates, clean outputs, keep zxcvbn score 4.</a:t>
            </a:r>
          </a:p>
        </p:txBody>
      </p:sp>
    </p:spTree>
    <p:extLst>
      <p:ext uri="{BB962C8B-B14F-4D97-AF65-F5344CB8AC3E}">
        <p14:creationId xmlns:p14="http://schemas.microsoft.com/office/powerpoint/2010/main" val="133547872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slide-root">
            <a:extLst xmlns:a="http://schemas.openxmlformats.org/drawingml/2006/main">
              <a:ext uri="{FF2B5EF4-FFF2-40B4-BE49-F238E27FC236}">
                <a16:creationId xmlns:a16="http://schemas.microsoft.com/office/drawing/2014/main" id="{EBE28D2A-2AE1-4B05-9ED3-C7B7CAA0411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6F8FB"/>
          </a:solidFill>
        </p:spPr>
      </p:sp>
      <p:sp>
        <p:nvSpPr>
          <p:cNvPr id="2" name="">
            <a:extLst xmlns:a="http://schemas.openxmlformats.org/drawingml/2006/main">
              <a:ext uri="{FF2B5EF4-FFF2-40B4-BE49-F238E27FC236}">
                <a16:creationId xmlns:a16="http://schemas.microsoft.com/office/drawing/2014/main" id="{97A3633A-D269-4EFC-B12E-9CF07FA228C7}"/>
              </a:ext>
            </a:extLst>
          </p:cNvPr>
          <p:cNvSpPr>
            <a:spLocks xmlns:a="http://schemas.openxmlformats.org/drawingml/2006/main" noGrp="1"/>
          </p:cNvSpPr>
          <p:nvPr/>
        </p:nvSpPr>
        <p:spPr>
          <a:xfrm xmlns:a="http://schemas.openxmlformats.org/drawingml/2006/main">
            <a:off x="876300" y="3409950"/>
            <a:ext cx="165354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0796B"/>
                </a:solidFill>
              </a:defRPr>
            </a:pPr>
            <a:r>
              <a:rPr sz="1275" b="1">
                <a:solidFill>
                  <a:srgbClr val="00796B"/>
                </a:solidFill>
              </a:rPr>
              <a:t>Result</a:t>
            </a:r>
          </a:p>
        </p:txBody>
      </p:sp>
      <p:sp>
        <p:nvSpPr>
          <p:cNvPr id="3" name="slide-title">
            <a:extLst xmlns:a="http://schemas.openxmlformats.org/drawingml/2006/main">
              <a:ext uri="{FF2B5EF4-FFF2-40B4-BE49-F238E27FC236}">
                <a16:creationId xmlns:a16="http://schemas.microsoft.com/office/drawing/2014/main" id="{F0F7DFAD-FD96-46E4-AAC6-32FDF3896E5E}"/>
              </a:ext>
            </a:extLst>
          </p:cNvPr>
          <p:cNvSpPr>
            <a:spLocks xmlns:a="http://schemas.openxmlformats.org/drawingml/2006/main" noGrp="1"/>
          </p:cNvSpPr>
          <p:nvPr/>
        </p:nvSpPr>
        <p:spPr>
          <a:xfrm xmlns:a="http://schemas.openxmlformats.org/drawingml/2006/main">
            <a:off x="876300" y="3962400"/>
            <a:ext cx="165354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52033"/>
                </a:solidFill>
              </a:defRPr>
            </a:pPr>
            <a:r>
              <a:rPr sz="3900" b="1">
                <a:solidFill>
                  <a:srgbClr val="152033"/>
                </a:solidFill>
              </a:rPr>
              <a:t>The generated dataset satisfies the core deliverable.</a:t>
            </a:r>
          </a:p>
        </p:txBody>
      </p:sp>
      <p:sp>
        <p:nvSpPr>
          <p:cNvPr id="4" name="">
            <a:extLst xmlns:a="http://schemas.openxmlformats.org/drawingml/2006/main">
              <a:ext uri="{FF2B5EF4-FFF2-40B4-BE49-F238E27FC236}">
                <a16:creationId xmlns:a16="http://schemas.microsoft.com/office/drawing/2014/main" id="{56A05C7F-08B8-45BC-AF83-F0D3E374264C}"/>
              </a:ext>
            </a:extLst>
          </p:cNvPr>
          <p:cNvSpPr>
            <a:spLocks xmlns:a="http://schemas.openxmlformats.org/drawingml/2006/main" noGrp="1"/>
          </p:cNvSpPr>
          <p:nvPr/>
        </p:nvSpPr>
        <p:spPr>
          <a:xfrm xmlns:a="http://schemas.openxmlformats.org/drawingml/2006/main">
            <a:off x="876300" y="4914900"/>
            <a:ext cx="50673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85ABC"/>
                </a:solidFill>
              </a:defRPr>
            </a:pPr>
            <a:r>
              <a:rPr sz="3750" b="1">
                <a:solidFill>
                  <a:srgbClr val="185ABC"/>
                </a:solidFill>
              </a:rPr>
              <a:t>19,574</a:t>
            </a:r>
          </a:p>
        </p:txBody>
      </p:sp>
      <p:sp>
        <p:nvSpPr>
          <p:cNvPr id="5" name="">
            <a:extLst xmlns:a="http://schemas.openxmlformats.org/drawingml/2006/main">
              <a:ext uri="{FF2B5EF4-FFF2-40B4-BE49-F238E27FC236}">
                <a16:creationId xmlns:a16="http://schemas.microsoft.com/office/drawing/2014/main" id="{1EB26281-FC62-41C7-8092-ACE7F779552D}"/>
              </a:ext>
            </a:extLst>
          </p:cNvPr>
          <p:cNvSpPr>
            <a:spLocks xmlns:a="http://schemas.openxmlformats.org/drawingml/2006/main" noGrp="1"/>
          </p:cNvSpPr>
          <p:nvPr/>
        </p:nvSpPr>
        <p:spPr>
          <a:xfrm xmlns:a="http://schemas.openxmlformats.org/drawingml/2006/main">
            <a:off x="876300" y="5543550"/>
            <a:ext cx="50673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627083"/>
                </a:solidFill>
              </a:defRPr>
            </a:pPr>
            <a:r>
              <a:rPr sz="1425">
                <a:solidFill>
                  <a:srgbClr val="627083"/>
                </a:solidFill>
              </a:rPr>
              <a:t>unique generated passwords</a:t>
            </a:r>
          </a:p>
        </p:txBody>
      </p:sp>
      <p:sp>
        <p:nvSpPr>
          <p:cNvPr id="6" name="">
            <a:extLst xmlns:a="http://schemas.openxmlformats.org/drawingml/2006/main">
              <a:ext uri="{FF2B5EF4-FFF2-40B4-BE49-F238E27FC236}">
                <a16:creationId xmlns:a16="http://schemas.microsoft.com/office/drawing/2014/main" id="{E7C96B26-491F-4195-9AE9-668E55B5ACD3}"/>
              </a:ext>
            </a:extLst>
          </p:cNvPr>
          <p:cNvSpPr>
            <a:spLocks xmlns:a="http://schemas.openxmlformats.org/drawingml/2006/main" noGrp="1"/>
          </p:cNvSpPr>
          <p:nvPr/>
        </p:nvSpPr>
        <p:spPr>
          <a:xfrm xmlns:a="http://schemas.openxmlformats.org/drawingml/2006/main">
            <a:off x="6610350" y="4914900"/>
            <a:ext cx="50673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00796B"/>
                </a:solidFill>
              </a:defRPr>
            </a:pPr>
            <a:r>
              <a:rPr sz="3750" b="1">
                <a:solidFill>
                  <a:srgbClr val="00796B"/>
                </a:solidFill>
              </a:rPr>
              <a:t>100%</a:t>
            </a:r>
          </a:p>
        </p:txBody>
      </p:sp>
      <p:sp>
        <p:nvSpPr>
          <p:cNvPr id="7" name="">
            <a:extLst xmlns:a="http://schemas.openxmlformats.org/drawingml/2006/main">
              <a:ext uri="{FF2B5EF4-FFF2-40B4-BE49-F238E27FC236}">
                <a16:creationId xmlns:a16="http://schemas.microsoft.com/office/drawing/2014/main" id="{F5099008-B63C-4AFF-8648-DFD01D99BEF5}"/>
              </a:ext>
            </a:extLst>
          </p:cNvPr>
          <p:cNvSpPr>
            <a:spLocks xmlns:a="http://schemas.openxmlformats.org/drawingml/2006/main" noGrp="1"/>
          </p:cNvSpPr>
          <p:nvPr/>
        </p:nvSpPr>
        <p:spPr>
          <a:xfrm xmlns:a="http://schemas.openxmlformats.org/drawingml/2006/main">
            <a:off x="6610350" y="5543550"/>
            <a:ext cx="50673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627083"/>
                </a:solidFill>
              </a:defRPr>
            </a:pPr>
            <a:r>
              <a:rPr sz="1425">
                <a:solidFill>
                  <a:srgbClr val="627083"/>
                </a:solidFill>
              </a:rPr>
              <a:t>score 4/4 on zxcvbn</a:t>
            </a:r>
          </a:p>
        </p:txBody>
      </p:sp>
      <p:sp>
        <p:nvSpPr>
          <p:cNvPr id="8" name="">
            <a:extLst xmlns:a="http://schemas.openxmlformats.org/drawingml/2006/main">
              <a:ext uri="{FF2B5EF4-FFF2-40B4-BE49-F238E27FC236}">
                <a16:creationId xmlns:a16="http://schemas.microsoft.com/office/drawing/2014/main" id="{7C31A3D4-1A78-4C3F-89E3-C8E2C7AF334D}"/>
              </a:ext>
            </a:extLst>
          </p:cNvPr>
          <p:cNvSpPr>
            <a:spLocks xmlns:a="http://schemas.openxmlformats.org/drawingml/2006/main" noGrp="1"/>
          </p:cNvSpPr>
          <p:nvPr/>
        </p:nvSpPr>
        <p:spPr>
          <a:xfrm xmlns:a="http://schemas.openxmlformats.org/drawingml/2006/main">
            <a:off x="12344400" y="4914900"/>
            <a:ext cx="5067300" cy="571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A45B00"/>
                </a:solidFill>
              </a:defRPr>
            </a:pPr>
            <a:r>
              <a:rPr sz="3750" b="1">
                <a:solidFill>
                  <a:srgbClr val="A45B00"/>
                </a:solidFill>
              </a:rPr>
              <a:t>16.5</a:t>
            </a:r>
          </a:p>
        </p:txBody>
      </p:sp>
      <p:sp>
        <p:nvSpPr>
          <p:cNvPr id="9" name="">
            <a:extLst xmlns:a="http://schemas.openxmlformats.org/drawingml/2006/main">
              <a:ext uri="{FF2B5EF4-FFF2-40B4-BE49-F238E27FC236}">
                <a16:creationId xmlns:a16="http://schemas.microsoft.com/office/drawing/2014/main" id="{AA04131D-DB3D-496D-8694-14430F0F1F52}"/>
              </a:ext>
            </a:extLst>
          </p:cNvPr>
          <p:cNvSpPr>
            <a:spLocks xmlns:a="http://schemas.openxmlformats.org/drawingml/2006/main" noGrp="1"/>
          </p:cNvSpPr>
          <p:nvPr/>
        </p:nvSpPr>
        <p:spPr>
          <a:xfrm xmlns:a="http://schemas.openxmlformats.org/drawingml/2006/main">
            <a:off x="12344400" y="5543550"/>
            <a:ext cx="50673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627083"/>
                </a:solidFill>
              </a:defRPr>
            </a:pPr>
            <a:r>
              <a:rPr sz="1425">
                <a:solidFill>
                  <a:srgbClr val="627083"/>
                </a:solidFill>
              </a:rPr>
              <a:t>average length</a:t>
            </a:r>
          </a:p>
        </p:txBody>
      </p:sp>
      <p:sp>
        <p:nvSpPr>
          <p:cNvPr id="10" name="">
            <a:extLst xmlns:a="http://schemas.openxmlformats.org/drawingml/2006/main">
              <a:ext uri="{FF2B5EF4-FFF2-40B4-BE49-F238E27FC236}">
                <a16:creationId xmlns:a16="http://schemas.microsoft.com/office/drawing/2014/main" id="{100F97E9-F524-4003-8AF0-5FF1BB7FB1F4}"/>
              </a:ext>
            </a:extLst>
          </p:cNvPr>
          <p:cNvSpPr>
            <a:spLocks xmlns:a="http://schemas.openxmlformats.org/drawingml/2006/main" noGrp="1"/>
          </p:cNvSpPr>
          <p:nvPr/>
        </p:nvSpPr>
        <p:spPr>
          <a:xfrm xmlns:a="http://schemas.openxmlformats.org/drawingml/2006/main">
            <a:off x="876300" y="6122670"/>
            <a:ext cx="16535400" cy="762000"/>
          </a:xfrm>
          <a:prstGeom xmlns:a="http://schemas.openxmlformats.org/drawingml/2006/main" prst="roundRect">
            <a:avLst>
              <a:gd name="adj" fmla="val 17500"/>
            </a:avLst>
          </a:prstGeom>
          <a:solidFill xmlns:a="http://schemas.openxmlformats.org/drawingml/2006/main">
            <a:srgbClr val="111827"/>
          </a:solidFill>
        </p:spPr>
      </p:sp>
      <p:sp>
        <p:nvSpPr>
          <p:cNvPr id="11" name="">
            <a:extLst xmlns:a="http://schemas.openxmlformats.org/drawingml/2006/main">
              <a:ext uri="{FF2B5EF4-FFF2-40B4-BE49-F238E27FC236}">
                <a16:creationId xmlns:a16="http://schemas.microsoft.com/office/drawing/2014/main" id="{F05A484B-4078-40E3-9E55-1E147392C7A4}"/>
              </a:ext>
            </a:extLst>
          </p:cNvPr>
          <p:cNvSpPr>
            <a:spLocks xmlns:a="http://schemas.openxmlformats.org/drawingml/2006/main" noGrp="1"/>
          </p:cNvSpPr>
          <p:nvPr/>
        </p:nvSpPr>
        <p:spPr>
          <a:xfrm xmlns:a="http://schemas.openxmlformats.org/drawingml/2006/main">
            <a:off x="1143000" y="6324600"/>
            <a:ext cx="51435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FFFFFF"/>
                </a:solidFill>
              </a:defRPr>
            </a:pPr>
            <a:r>
              <a:rPr sz="2250" b="1">
                <a:solidFill>
                  <a:srgbClr val="FFFFFF"/>
                </a:solidFill>
              </a:rPr>
              <a:t>@2021userfall</a:t>
            </a:r>
          </a:p>
        </p:txBody>
      </p:sp>
      <p:sp>
        <p:nvSpPr>
          <p:cNvPr id="12" name="">
            <a:extLst xmlns:a="http://schemas.openxmlformats.org/drawingml/2006/main">
              <a:ext uri="{FF2B5EF4-FFF2-40B4-BE49-F238E27FC236}">
                <a16:creationId xmlns:a16="http://schemas.microsoft.com/office/drawing/2014/main" id="{35B4AFB7-5263-40D9-801E-388BAA7E7EEA}"/>
              </a:ext>
            </a:extLst>
          </p:cNvPr>
          <p:cNvSpPr>
            <a:spLocks xmlns:a="http://schemas.openxmlformats.org/drawingml/2006/main" noGrp="1"/>
          </p:cNvSpPr>
          <p:nvPr/>
        </p:nvSpPr>
        <p:spPr>
          <a:xfrm xmlns:a="http://schemas.openxmlformats.org/drawingml/2006/main">
            <a:off x="6572250" y="6324600"/>
            <a:ext cx="51435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FFFFFF"/>
                </a:solidFill>
              </a:defRPr>
            </a:pPr>
            <a:r>
              <a:rPr sz="2250" b="1">
                <a:solidFill>
                  <a:srgbClr val="FFFFFF"/>
                </a:solidFill>
              </a:rPr>
              <a:t>admin1997!spring!</a:t>
            </a:r>
          </a:p>
        </p:txBody>
      </p:sp>
      <p:sp>
        <p:nvSpPr>
          <p:cNvPr id="13" name="">
            <a:extLst xmlns:a="http://schemas.openxmlformats.org/drawingml/2006/main">
              <a:ext uri="{FF2B5EF4-FFF2-40B4-BE49-F238E27FC236}">
                <a16:creationId xmlns:a16="http://schemas.microsoft.com/office/drawing/2014/main" id="{4CCC96A1-C783-43B9-B399-9246A25E5C1E}"/>
              </a:ext>
            </a:extLst>
          </p:cNvPr>
          <p:cNvSpPr>
            <a:spLocks xmlns:a="http://schemas.openxmlformats.org/drawingml/2006/main" noGrp="1"/>
          </p:cNvSpPr>
          <p:nvPr/>
        </p:nvSpPr>
        <p:spPr>
          <a:xfrm xmlns:a="http://schemas.openxmlformats.org/drawingml/2006/main">
            <a:off x="12001500" y="6324600"/>
            <a:ext cx="51435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250" b="1">
                <a:solidFill>
                  <a:srgbClr val="FFFFFF"/>
                </a:solidFill>
              </a:defRPr>
            </a:pPr>
            <a:r>
              <a:rPr sz="2250" b="1">
                <a:solidFill>
                  <a:srgbClr val="FFFFFF"/>
                </a:solidFill>
              </a:rPr>
              <a:t>#2015springfalluser</a:t>
            </a:r>
          </a:p>
        </p:txBody>
      </p:sp>
    </p:spTree>
    <p:extLst>
      <p:ext uri="{BB962C8B-B14F-4D97-AF65-F5344CB8AC3E}">
        <p14:creationId xmlns:p14="http://schemas.microsoft.com/office/powerpoint/2010/main" val="42099542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slide-root">
            <a:extLst xmlns:a="http://schemas.openxmlformats.org/drawingml/2006/main">
              <a:ext uri="{FF2B5EF4-FFF2-40B4-BE49-F238E27FC236}">
                <a16:creationId xmlns:a16="http://schemas.microsoft.com/office/drawing/2014/main" id="{C08F06FA-59EA-4998-BE57-8059D080749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6F8FB"/>
          </a:solidFill>
        </p:spPr>
      </p:sp>
      <p:sp>
        <p:nvSpPr>
          <p:cNvPr id="2" name="">
            <a:extLst xmlns:a="http://schemas.openxmlformats.org/drawingml/2006/main">
              <a:ext uri="{FF2B5EF4-FFF2-40B4-BE49-F238E27FC236}">
                <a16:creationId xmlns:a16="http://schemas.microsoft.com/office/drawing/2014/main" id="{DD668293-D296-42F1-85F3-4510F52B5BD4}"/>
              </a:ext>
            </a:extLst>
          </p:cNvPr>
          <p:cNvSpPr>
            <a:spLocks xmlns:a="http://schemas.openxmlformats.org/drawingml/2006/main" noGrp="1"/>
          </p:cNvSpPr>
          <p:nvPr/>
        </p:nvSpPr>
        <p:spPr>
          <a:xfrm xmlns:a="http://schemas.openxmlformats.org/drawingml/2006/main">
            <a:off x="876300" y="609600"/>
            <a:ext cx="165354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0796B"/>
                </a:solidFill>
              </a:defRPr>
            </a:pPr>
            <a:r>
              <a:rPr sz="1275" b="1">
                <a:solidFill>
                  <a:srgbClr val="00796B"/>
                </a:solidFill>
              </a:rPr>
              <a:t>Weakness Evidence</a:t>
            </a:r>
          </a:p>
        </p:txBody>
      </p:sp>
      <p:sp>
        <p:nvSpPr>
          <p:cNvPr id="3" name="slide-title">
            <a:extLst xmlns:a="http://schemas.openxmlformats.org/drawingml/2006/main">
              <a:ext uri="{FF2B5EF4-FFF2-40B4-BE49-F238E27FC236}">
                <a16:creationId xmlns:a16="http://schemas.microsoft.com/office/drawing/2014/main" id="{5AF1D407-6543-40CE-9A7F-A445BA95AE34}"/>
              </a:ext>
            </a:extLst>
          </p:cNvPr>
          <p:cNvSpPr>
            <a:spLocks xmlns:a="http://schemas.openxmlformats.org/drawingml/2006/main" noGrp="1"/>
          </p:cNvSpPr>
          <p:nvPr/>
        </p:nvSpPr>
        <p:spPr>
          <a:xfrm xmlns:a="http://schemas.openxmlformats.org/drawingml/2006/main">
            <a:off x="876300" y="1009650"/>
            <a:ext cx="1653540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52033"/>
                </a:solidFill>
              </a:defRPr>
            </a:pPr>
            <a:r>
              <a:rPr sz="3900" b="1">
                <a:solidFill>
                  <a:srgbClr val="152033"/>
                </a:solidFill>
              </a:rPr>
              <a:t>High-scoring does not mean random.</a:t>
            </a:r>
          </a:p>
        </p:txBody>
      </p:sp>
      <p:sp>
        <p:nvSpPr>
          <p:cNvPr id="4" name="slide-subtitle">
            <a:extLst xmlns:a="http://schemas.openxmlformats.org/drawingml/2006/main">
              <a:ext uri="{FF2B5EF4-FFF2-40B4-BE49-F238E27FC236}">
                <a16:creationId xmlns:a16="http://schemas.microsoft.com/office/drawing/2014/main" id="{117988E5-35C0-4B0B-B384-C405449F1EEA}"/>
              </a:ext>
            </a:extLst>
          </p:cNvPr>
          <p:cNvSpPr>
            <a:spLocks xmlns:a="http://schemas.openxmlformats.org/drawingml/2006/main" noGrp="1"/>
          </p:cNvSpPr>
          <p:nvPr/>
        </p:nvSpPr>
        <p:spPr>
          <a:xfrm xmlns:a="http://schemas.openxmlformats.org/drawingml/2006/main">
            <a:off x="876300" y="1809750"/>
            <a:ext cx="165354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627083"/>
                </a:solidFill>
              </a:defRPr>
            </a:pPr>
            <a:r>
              <a:rPr sz="1950">
                <a:solidFill>
                  <a:srgbClr val="627083"/>
                </a:solidFill>
              </a:rPr>
              <a:t>Most generated passwords contain targeted-rule ingredients.</a:t>
            </a:r>
          </a:p>
        </p:txBody>
      </p:sp>
      <p:sp>
        <p:nvSpPr>
          <p:cNvPr id="5" name="">
            <a:extLst xmlns:a="http://schemas.openxmlformats.org/drawingml/2006/main">
              <a:ext uri="{FF2B5EF4-FFF2-40B4-BE49-F238E27FC236}">
                <a16:creationId xmlns:a16="http://schemas.microsoft.com/office/drawing/2014/main" id="{D47D213D-E556-4B17-834F-36AF7AB233F1}"/>
              </a:ext>
            </a:extLst>
          </p:cNvPr>
          <p:cNvSpPr>
            <a:spLocks xmlns:a="http://schemas.openxmlformats.org/drawingml/2006/main" noGrp="1"/>
          </p:cNvSpPr>
          <p:nvPr/>
        </p:nvSpPr>
        <p:spPr>
          <a:xfrm xmlns:a="http://schemas.openxmlformats.org/drawingml/2006/main">
            <a:off x="876300" y="2438400"/>
            <a:ext cx="61150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52033"/>
                </a:solidFill>
              </a:defRPr>
            </a:pPr>
            <a:r>
              <a:rPr sz="1575" b="1">
                <a:solidFill>
                  <a:srgbClr val="152033"/>
                </a:solidFill>
              </a:rPr>
              <a:t>Contains year-like value</a:t>
            </a:r>
          </a:p>
        </p:txBody>
      </p:sp>
      <p:sp>
        <p:nvSpPr>
          <p:cNvPr id="6" name="">
            <a:extLst xmlns:a="http://schemas.openxmlformats.org/drawingml/2006/main">
              <a:ext uri="{FF2B5EF4-FFF2-40B4-BE49-F238E27FC236}">
                <a16:creationId xmlns:a16="http://schemas.microsoft.com/office/drawing/2014/main" id="{F9A9AF6F-955D-4433-BD3F-31EF500FFC70}"/>
              </a:ext>
            </a:extLst>
          </p:cNvPr>
          <p:cNvSpPr>
            <a:spLocks xmlns:a="http://schemas.openxmlformats.org/drawingml/2006/main" noGrp="1"/>
          </p:cNvSpPr>
          <p:nvPr/>
        </p:nvSpPr>
        <p:spPr>
          <a:xfrm xmlns:a="http://schemas.openxmlformats.org/drawingml/2006/main">
            <a:off x="876300" y="2705100"/>
            <a:ext cx="61150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627083"/>
                </a:solidFill>
              </a:defRPr>
            </a:pPr>
            <a:r>
              <a:rPr sz="1125">
                <a:solidFill>
                  <a:srgbClr val="627083"/>
                </a:solidFill>
              </a:rPr>
              <a:t>19,411 passwords</a:t>
            </a:r>
          </a:p>
        </p:txBody>
      </p:sp>
      <p:sp>
        <p:nvSpPr>
          <p:cNvPr id="7" name="">
            <a:extLst xmlns:a="http://schemas.openxmlformats.org/drawingml/2006/main">
              <a:ext uri="{FF2B5EF4-FFF2-40B4-BE49-F238E27FC236}">
                <a16:creationId xmlns:a16="http://schemas.microsoft.com/office/drawing/2014/main" id="{63ECF66E-C1C2-4775-B982-414282E3D1E8}"/>
              </a:ext>
            </a:extLst>
          </p:cNvPr>
          <p:cNvSpPr>
            <a:spLocks xmlns:a="http://schemas.openxmlformats.org/drawingml/2006/main" noGrp="1"/>
          </p:cNvSpPr>
          <p:nvPr/>
        </p:nvSpPr>
        <p:spPr>
          <a:xfrm xmlns:a="http://schemas.openxmlformats.org/drawingml/2006/main">
            <a:off x="7166162" y="2590800"/>
            <a:ext cx="8740588" cy="171450"/>
          </a:xfrm>
          <a:prstGeom xmlns:a="http://schemas.openxmlformats.org/drawingml/2006/main" prst="roundRect">
            <a:avLst>
              <a:gd name="adj" fmla="val 50000"/>
            </a:avLst>
          </a:prstGeom>
          <a:solidFill xmlns:a="http://schemas.openxmlformats.org/drawingml/2006/main">
            <a:srgbClr val="E5EAF1"/>
          </a:solidFill>
        </p:spPr>
      </p:sp>
      <p:sp>
        <p:nvSpPr>
          <p:cNvPr id="8" name="">
            <a:extLst xmlns:a="http://schemas.openxmlformats.org/drawingml/2006/main">
              <a:ext uri="{FF2B5EF4-FFF2-40B4-BE49-F238E27FC236}">
                <a16:creationId xmlns:a16="http://schemas.microsoft.com/office/drawing/2014/main" id="{FD21C449-B927-4974-8094-697F40BC3199}"/>
              </a:ext>
            </a:extLst>
          </p:cNvPr>
          <p:cNvSpPr>
            <a:spLocks xmlns:a="http://schemas.openxmlformats.org/drawingml/2006/main" noGrp="1"/>
          </p:cNvSpPr>
          <p:nvPr/>
        </p:nvSpPr>
        <p:spPr>
          <a:xfrm xmlns:a="http://schemas.openxmlformats.org/drawingml/2006/main">
            <a:off x="7166162" y="2590800"/>
            <a:ext cx="6515100" cy="171450"/>
          </a:xfrm>
          <a:prstGeom xmlns:a="http://schemas.openxmlformats.org/drawingml/2006/main" prst="roundRect">
            <a:avLst>
              <a:gd name="adj" fmla="val 50000"/>
            </a:avLst>
          </a:prstGeom>
          <a:solidFill xmlns:a="http://schemas.openxmlformats.org/drawingml/2006/main">
            <a:srgbClr val="185ABC"/>
          </a:solidFill>
        </p:spPr>
      </p:sp>
      <p:sp>
        <p:nvSpPr>
          <p:cNvPr id="9" name="">
            <a:extLst xmlns:a="http://schemas.openxmlformats.org/drawingml/2006/main">
              <a:ext uri="{FF2B5EF4-FFF2-40B4-BE49-F238E27FC236}">
                <a16:creationId xmlns:a16="http://schemas.microsoft.com/office/drawing/2014/main" id="{663C4644-2FFD-4877-8B8E-ED13A1379D2F}"/>
              </a:ext>
            </a:extLst>
          </p:cNvPr>
          <p:cNvSpPr>
            <a:spLocks xmlns:a="http://schemas.openxmlformats.org/drawingml/2006/main" noGrp="1"/>
          </p:cNvSpPr>
          <p:nvPr/>
        </p:nvSpPr>
        <p:spPr>
          <a:xfrm xmlns:a="http://schemas.openxmlformats.org/drawingml/2006/main">
            <a:off x="16078200" y="2514600"/>
            <a:ext cx="13335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52033"/>
                </a:solidFill>
              </a:defRPr>
            </a:pPr>
            <a:r>
              <a:rPr sz="1875" b="1">
                <a:solidFill>
                  <a:srgbClr val="152033"/>
                </a:solidFill>
              </a:rPr>
              <a:t>99.2%</a:t>
            </a:r>
          </a:p>
        </p:txBody>
      </p:sp>
      <p:sp>
        <p:nvSpPr>
          <p:cNvPr id="10" name="">
            <a:extLst xmlns:a="http://schemas.openxmlformats.org/drawingml/2006/main">
              <a:ext uri="{FF2B5EF4-FFF2-40B4-BE49-F238E27FC236}">
                <a16:creationId xmlns:a16="http://schemas.microsoft.com/office/drawing/2014/main" id="{3625D343-1B99-4F27-BF85-5436F6C3FEA0}"/>
              </a:ext>
            </a:extLst>
          </p:cNvPr>
          <p:cNvSpPr>
            <a:spLocks xmlns:a="http://schemas.openxmlformats.org/drawingml/2006/main" noGrp="1"/>
          </p:cNvSpPr>
          <p:nvPr/>
        </p:nvSpPr>
        <p:spPr>
          <a:xfrm xmlns:a="http://schemas.openxmlformats.org/drawingml/2006/main">
            <a:off x="876300" y="3238500"/>
            <a:ext cx="61150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52033"/>
                </a:solidFill>
              </a:defRPr>
            </a:pPr>
            <a:r>
              <a:rPr sz="1575" b="1">
                <a:solidFill>
                  <a:srgbClr val="152033"/>
                </a:solidFill>
              </a:rPr>
              <a:t>Contains a season</a:t>
            </a:r>
          </a:p>
        </p:txBody>
      </p:sp>
      <p:sp>
        <p:nvSpPr>
          <p:cNvPr id="11" name="">
            <a:extLst xmlns:a="http://schemas.openxmlformats.org/drawingml/2006/main">
              <a:ext uri="{FF2B5EF4-FFF2-40B4-BE49-F238E27FC236}">
                <a16:creationId xmlns:a16="http://schemas.microsoft.com/office/drawing/2014/main" id="{F6257084-E6EE-4B2B-BE47-30D2B9FA15DC}"/>
              </a:ext>
            </a:extLst>
          </p:cNvPr>
          <p:cNvSpPr>
            <a:spLocks xmlns:a="http://schemas.openxmlformats.org/drawingml/2006/main" noGrp="1"/>
          </p:cNvSpPr>
          <p:nvPr/>
        </p:nvSpPr>
        <p:spPr>
          <a:xfrm xmlns:a="http://schemas.openxmlformats.org/drawingml/2006/main">
            <a:off x="876300" y="3505200"/>
            <a:ext cx="61150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627083"/>
                </a:solidFill>
              </a:defRPr>
            </a:pPr>
            <a:r>
              <a:rPr sz="1125">
                <a:solidFill>
                  <a:srgbClr val="627083"/>
                </a:solidFill>
              </a:rPr>
              <a:t>16,542 passwords</a:t>
            </a:r>
          </a:p>
        </p:txBody>
      </p:sp>
      <p:sp>
        <p:nvSpPr>
          <p:cNvPr id="12" name="">
            <a:extLst xmlns:a="http://schemas.openxmlformats.org/drawingml/2006/main">
              <a:ext uri="{FF2B5EF4-FFF2-40B4-BE49-F238E27FC236}">
                <a16:creationId xmlns:a16="http://schemas.microsoft.com/office/drawing/2014/main" id="{78178BCB-9D45-425F-AD93-61253182F897}"/>
              </a:ext>
            </a:extLst>
          </p:cNvPr>
          <p:cNvSpPr>
            <a:spLocks xmlns:a="http://schemas.openxmlformats.org/drawingml/2006/main" noGrp="1"/>
          </p:cNvSpPr>
          <p:nvPr/>
        </p:nvSpPr>
        <p:spPr>
          <a:xfrm xmlns:a="http://schemas.openxmlformats.org/drawingml/2006/main">
            <a:off x="7166162" y="3390900"/>
            <a:ext cx="8740588" cy="171450"/>
          </a:xfrm>
          <a:prstGeom xmlns:a="http://schemas.openxmlformats.org/drawingml/2006/main" prst="roundRect">
            <a:avLst>
              <a:gd name="adj" fmla="val 50000"/>
            </a:avLst>
          </a:prstGeom>
          <a:solidFill xmlns:a="http://schemas.openxmlformats.org/drawingml/2006/main">
            <a:srgbClr val="E5EAF1"/>
          </a:solidFill>
        </p:spPr>
      </p:sp>
      <p:sp>
        <p:nvSpPr>
          <p:cNvPr id="13" name="">
            <a:extLst xmlns:a="http://schemas.openxmlformats.org/drawingml/2006/main">
              <a:ext uri="{FF2B5EF4-FFF2-40B4-BE49-F238E27FC236}">
                <a16:creationId xmlns:a16="http://schemas.microsoft.com/office/drawing/2014/main" id="{278F8866-407C-4CB2-9746-6438FAC2E55F}"/>
              </a:ext>
            </a:extLst>
          </p:cNvPr>
          <p:cNvSpPr>
            <a:spLocks xmlns:a="http://schemas.openxmlformats.org/drawingml/2006/main" noGrp="1"/>
          </p:cNvSpPr>
          <p:nvPr/>
        </p:nvSpPr>
        <p:spPr>
          <a:xfrm xmlns:a="http://schemas.openxmlformats.org/drawingml/2006/main">
            <a:off x="7166162" y="3390900"/>
            <a:ext cx="5553075" cy="171450"/>
          </a:xfrm>
          <a:prstGeom xmlns:a="http://schemas.openxmlformats.org/drawingml/2006/main" prst="roundRect">
            <a:avLst>
              <a:gd name="adj" fmla="val 50000"/>
            </a:avLst>
          </a:prstGeom>
          <a:solidFill xmlns:a="http://schemas.openxmlformats.org/drawingml/2006/main">
            <a:srgbClr val="00796B"/>
          </a:solidFill>
        </p:spPr>
      </p:sp>
      <p:sp>
        <p:nvSpPr>
          <p:cNvPr id="14" name="">
            <a:extLst xmlns:a="http://schemas.openxmlformats.org/drawingml/2006/main">
              <a:ext uri="{FF2B5EF4-FFF2-40B4-BE49-F238E27FC236}">
                <a16:creationId xmlns:a16="http://schemas.microsoft.com/office/drawing/2014/main" id="{05C34A98-289C-4CF8-926B-51B417F1D391}"/>
              </a:ext>
            </a:extLst>
          </p:cNvPr>
          <p:cNvSpPr>
            <a:spLocks xmlns:a="http://schemas.openxmlformats.org/drawingml/2006/main" noGrp="1"/>
          </p:cNvSpPr>
          <p:nvPr/>
        </p:nvSpPr>
        <p:spPr>
          <a:xfrm xmlns:a="http://schemas.openxmlformats.org/drawingml/2006/main">
            <a:off x="16078200" y="3314700"/>
            <a:ext cx="13335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52033"/>
                </a:solidFill>
              </a:defRPr>
            </a:pPr>
            <a:r>
              <a:rPr sz="1875" b="1">
                <a:solidFill>
                  <a:srgbClr val="152033"/>
                </a:solidFill>
              </a:rPr>
              <a:t>84.5%</a:t>
            </a:r>
          </a:p>
        </p:txBody>
      </p:sp>
      <p:sp>
        <p:nvSpPr>
          <p:cNvPr id="15" name="">
            <a:extLst xmlns:a="http://schemas.openxmlformats.org/drawingml/2006/main">
              <a:ext uri="{FF2B5EF4-FFF2-40B4-BE49-F238E27FC236}">
                <a16:creationId xmlns:a16="http://schemas.microsoft.com/office/drawing/2014/main" id="{0995806D-DF3D-4BD9-B844-6F6002ECCDA1}"/>
              </a:ext>
            </a:extLst>
          </p:cNvPr>
          <p:cNvSpPr>
            <a:spLocks xmlns:a="http://schemas.openxmlformats.org/drawingml/2006/main" noGrp="1"/>
          </p:cNvSpPr>
          <p:nvPr/>
        </p:nvSpPr>
        <p:spPr>
          <a:xfrm xmlns:a="http://schemas.openxmlformats.org/drawingml/2006/main">
            <a:off x="876300" y="4038600"/>
            <a:ext cx="61150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52033"/>
                </a:solidFill>
              </a:defRPr>
            </a:pPr>
            <a:r>
              <a:rPr sz="1575" b="1">
                <a:solidFill>
                  <a:srgbClr val="152033"/>
                </a:solidFill>
              </a:rPr>
              <a:t>Contains a symbol</a:t>
            </a:r>
          </a:p>
        </p:txBody>
      </p:sp>
      <p:sp>
        <p:nvSpPr>
          <p:cNvPr id="16" name="">
            <a:extLst xmlns:a="http://schemas.openxmlformats.org/drawingml/2006/main">
              <a:ext uri="{FF2B5EF4-FFF2-40B4-BE49-F238E27FC236}">
                <a16:creationId xmlns:a16="http://schemas.microsoft.com/office/drawing/2014/main" id="{2E6A66FB-6BEB-4AE7-90B8-DDD4B877F48C}"/>
              </a:ext>
            </a:extLst>
          </p:cNvPr>
          <p:cNvSpPr>
            <a:spLocks xmlns:a="http://schemas.openxmlformats.org/drawingml/2006/main" noGrp="1"/>
          </p:cNvSpPr>
          <p:nvPr/>
        </p:nvSpPr>
        <p:spPr>
          <a:xfrm xmlns:a="http://schemas.openxmlformats.org/drawingml/2006/main">
            <a:off x="876300" y="4305300"/>
            <a:ext cx="61150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627083"/>
                </a:solidFill>
              </a:defRPr>
            </a:pPr>
            <a:r>
              <a:rPr sz="1125">
                <a:solidFill>
                  <a:srgbClr val="627083"/>
                </a:solidFill>
              </a:rPr>
              <a:t>18,921 passwords</a:t>
            </a:r>
          </a:p>
        </p:txBody>
      </p:sp>
      <p:sp>
        <p:nvSpPr>
          <p:cNvPr id="17" name="">
            <a:extLst xmlns:a="http://schemas.openxmlformats.org/drawingml/2006/main">
              <a:ext uri="{FF2B5EF4-FFF2-40B4-BE49-F238E27FC236}">
                <a16:creationId xmlns:a16="http://schemas.microsoft.com/office/drawing/2014/main" id="{71518411-6112-4311-A4A4-906EEB257111}"/>
              </a:ext>
            </a:extLst>
          </p:cNvPr>
          <p:cNvSpPr>
            <a:spLocks xmlns:a="http://schemas.openxmlformats.org/drawingml/2006/main" noGrp="1"/>
          </p:cNvSpPr>
          <p:nvPr/>
        </p:nvSpPr>
        <p:spPr>
          <a:xfrm xmlns:a="http://schemas.openxmlformats.org/drawingml/2006/main">
            <a:off x="7166162" y="4191000"/>
            <a:ext cx="8740588" cy="171450"/>
          </a:xfrm>
          <a:prstGeom xmlns:a="http://schemas.openxmlformats.org/drawingml/2006/main" prst="roundRect">
            <a:avLst>
              <a:gd name="adj" fmla="val 50000"/>
            </a:avLst>
          </a:prstGeom>
          <a:solidFill xmlns:a="http://schemas.openxmlformats.org/drawingml/2006/main">
            <a:srgbClr val="E5EAF1"/>
          </a:solidFill>
        </p:spPr>
      </p:sp>
      <p:sp>
        <p:nvSpPr>
          <p:cNvPr id="18" name="">
            <a:extLst xmlns:a="http://schemas.openxmlformats.org/drawingml/2006/main">
              <a:ext uri="{FF2B5EF4-FFF2-40B4-BE49-F238E27FC236}">
                <a16:creationId xmlns:a16="http://schemas.microsoft.com/office/drawing/2014/main" id="{92E4F707-1CCB-4460-A50E-E063CBF71A64}"/>
              </a:ext>
            </a:extLst>
          </p:cNvPr>
          <p:cNvSpPr>
            <a:spLocks xmlns:a="http://schemas.openxmlformats.org/drawingml/2006/main" noGrp="1"/>
          </p:cNvSpPr>
          <p:nvPr/>
        </p:nvSpPr>
        <p:spPr>
          <a:xfrm xmlns:a="http://schemas.openxmlformats.org/drawingml/2006/main">
            <a:off x="7166162" y="4191000"/>
            <a:ext cx="6353175" cy="171450"/>
          </a:xfrm>
          <a:prstGeom xmlns:a="http://schemas.openxmlformats.org/drawingml/2006/main" prst="roundRect">
            <a:avLst>
              <a:gd name="adj" fmla="val 50000"/>
            </a:avLst>
          </a:prstGeom>
          <a:solidFill xmlns:a="http://schemas.openxmlformats.org/drawingml/2006/main">
            <a:srgbClr val="A45B00"/>
          </a:solidFill>
        </p:spPr>
      </p:sp>
      <p:sp>
        <p:nvSpPr>
          <p:cNvPr id="19" name="">
            <a:extLst xmlns:a="http://schemas.openxmlformats.org/drawingml/2006/main">
              <a:ext uri="{FF2B5EF4-FFF2-40B4-BE49-F238E27FC236}">
                <a16:creationId xmlns:a16="http://schemas.microsoft.com/office/drawing/2014/main" id="{A46EF423-B2A4-42A2-BC32-5817B7E143D5}"/>
              </a:ext>
            </a:extLst>
          </p:cNvPr>
          <p:cNvSpPr>
            <a:spLocks xmlns:a="http://schemas.openxmlformats.org/drawingml/2006/main" noGrp="1"/>
          </p:cNvSpPr>
          <p:nvPr/>
        </p:nvSpPr>
        <p:spPr>
          <a:xfrm xmlns:a="http://schemas.openxmlformats.org/drawingml/2006/main">
            <a:off x="16078200" y="4114800"/>
            <a:ext cx="13335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52033"/>
                </a:solidFill>
              </a:defRPr>
            </a:pPr>
            <a:r>
              <a:rPr sz="1875" b="1">
                <a:solidFill>
                  <a:srgbClr val="152033"/>
                </a:solidFill>
              </a:rPr>
              <a:t>96.7%</a:t>
            </a:r>
          </a:p>
        </p:txBody>
      </p:sp>
      <p:sp>
        <p:nvSpPr>
          <p:cNvPr id="20" name="">
            <a:extLst xmlns:a="http://schemas.openxmlformats.org/drawingml/2006/main">
              <a:ext uri="{FF2B5EF4-FFF2-40B4-BE49-F238E27FC236}">
                <a16:creationId xmlns:a16="http://schemas.microsoft.com/office/drawing/2014/main" id="{4F9F5C52-6093-4B60-9BF0-183D13A92929}"/>
              </a:ext>
            </a:extLst>
          </p:cNvPr>
          <p:cNvSpPr>
            <a:spLocks xmlns:a="http://schemas.openxmlformats.org/drawingml/2006/main" noGrp="1"/>
          </p:cNvSpPr>
          <p:nvPr/>
        </p:nvSpPr>
        <p:spPr>
          <a:xfrm xmlns:a="http://schemas.openxmlformats.org/drawingml/2006/main">
            <a:off x="876300" y="4838700"/>
            <a:ext cx="61150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b="1">
                <a:solidFill>
                  <a:srgbClr val="152033"/>
                </a:solidFill>
              </a:defRPr>
            </a:pPr>
            <a:r>
              <a:rPr sz="1575" b="1">
                <a:solidFill>
                  <a:srgbClr val="152033"/>
                </a:solidFill>
              </a:rPr>
              <a:t>Contains both season and year</a:t>
            </a:r>
          </a:p>
        </p:txBody>
      </p:sp>
      <p:sp>
        <p:nvSpPr>
          <p:cNvPr id="21" name="">
            <a:extLst xmlns:a="http://schemas.openxmlformats.org/drawingml/2006/main">
              <a:ext uri="{FF2B5EF4-FFF2-40B4-BE49-F238E27FC236}">
                <a16:creationId xmlns:a16="http://schemas.microsoft.com/office/drawing/2014/main" id="{27826EFA-F3C7-4B7A-AFAB-70CE99C232B0}"/>
              </a:ext>
            </a:extLst>
          </p:cNvPr>
          <p:cNvSpPr>
            <a:spLocks xmlns:a="http://schemas.openxmlformats.org/drawingml/2006/main" noGrp="1"/>
          </p:cNvSpPr>
          <p:nvPr/>
        </p:nvSpPr>
        <p:spPr>
          <a:xfrm xmlns:a="http://schemas.openxmlformats.org/drawingml/2006/main">
            <a:off x="876300" y="5105400"/>
            <a:ext cx="6115050" cy="171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125">
                <a:solidFill>
                  <a:srgbClr val="627083"/>
                </a:solidFill>
              </a:defRPr>
            </a:pPr>
            <a:r>
              <a:rPr sz="1125">
                <a:solidFill>
                  <a:srgbClr val="627083"/>
                </a:solidFill>
              </a:rPr>
              <a:t>16,395 passwords</a:t>
            </a:r>
          </a:p>
        </p:txBody>
      </p:sp>
      <p:sp>
        <p:nvSpPr>
          <p:cNvPr id="22" name="">
            <a:extLst xmlns:a="http://schemas.openxmlformats.org/drawingml/2006/main">
              <a:ext uri="{FF2B5EF4-FFF2-40B4-BE49-F238E27FC236}">
                <a16:creationId xmlns:a16="http://schemas.microsoft.com/office/drawing/2014/main" id="{0A36CB1E-538E-4B20-9790-DF91B1C2717C}"/>
              </a:ext>
            </a:extLst>
          </p:cNvPr>
          <p:cNvSpPr>
            <a:spLocks xmlns:a="http://schemas.openxmlformats.org/drawingml/2006/main" noGrp="1"/>
          </p:cNvSpPr>
          <p:nvPr/>
        </p:nvSpPr>
        <p:spPr>
          <a:xfrm xmlns:a="http://schemas.openxmlformats.org/drawingml/2006/main">
            <a:off x="7166162" y="4991100"/>
            <a:ext cx="8740588" cy="171450"/>
          </a:xfrm>
          <a:prstGeom xmlns:a="http://schemas.openxmlformats.org/drawingml/2006/main" prst="roundRect">
            <a:avLst>
              <a:gd name="adj" fmla="val 50000"/>
            </a:avLst>
          </a:prstGeom>
          <a:solidFill xmlns:a="http://schemas.openxmlformats.org/drawingml/2006/main">
            <a:srgbClr val="E5EAF1"/>
          </a:solidFill>
        </p:spPr>
      </p:sp>
      <p:sp>
        <p:nvSpPr>
          <p:cNvPr id="23" name="">
            <a:extLst xmlns:a="http://schemas.openxmlformats.org/drawingml/2006/main">
              <a:ext uri="{FF2B5EF4-FFF2-40B4-BE49-F238E27FC236}">
                <a16:creationId xmlns:a16="http://schemas.microsoft.com/office/drawing/2014/main" id="{623273D4-0A32-40C4-8774-B0E64F8EE7E5}"/>
              </a:ext>
            </a:extLst>
          </p:cNvPr>
          <p:cNvSpPr>
            <a:spLocks xmlns:a="http://schemas.openxmlformats.org/drawingml/2006/main" noGrp="1"/>
          </p:cNvSpPr>
          <p:nvPr/>
        </p:nvSpPr>
        <p:spPr>
          <a:xfrm xmlns:a="http://schemas.openxmlformats.org/drawingml/2006/main">
            <a:off x="7166162" y="4991100"/>
            <a:ext cx="5505450" cy="171450"/>
          </a:xfrm>
          <a:prstGeom xmlns:a="http://schemas.openxmlformats.org/drawingml/2006/main" prst="roundRect">
            <a:avLst>
              <a:gd name="adj" fmla="val 50000"/>
            </a:avLst>
          </a:prstGeom>
          <a:solidFill xmlns:a="http://schemas.openxmlformats.org/drawingml/2006/main">
            <a:srgbClr val="B13B3B"/>
          </a:solidFill>
        </p:spPr>
      </p:sp>
      <p:sp>
        <p:nvSpPr>
          <p:cNvPr id="24" name="">
            <a:extLst xmlns:a="http://schemas.openxmlformats.org/drawingml/2006/main">
              <a:ext uri="{FF2B5EF4-FFF2-40B4-BE49-F238E27FC236}">
                <a16:creationId xmlns:a16="http://schemas.microsoft.com/office/drawing/2014/main" id="{667E8E4E-967A-49D3-9D5B-A2086C336D36}"/>
              </a:ext>
            </a:extLst>
          </p:cNvPr>
          <p:cNvSpPr>
            <a:spLocks xmlns:a="http://schemas.openxmlformats.org/drawingml/2006/main" noGrp="1"/>
          </p:cNvSpPr>
          <p:nvPr/>
        </p:nvSpPr>
        <p:spPr>
          <a:xfrm xmlns:a="http://schemas.openxmlformats.org/drawingml/2006/main">
            <a:off x="16078200" y="4914900"/>
            <a:ext cx="13335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b="1">
                <a:solidFill>
                  <a:srgbClr val="152033"/>
                </a:solidFill>
              </a:defRPr>
            </a:pPr>
            <a:r>
              <a:rPr sz="1875" b="1">
                <a:solidFill>
                  <a:srgbClr val="152033"/>
                </a:solidFill>
              </a:rPr>
              <a:t>83.8%</a:t>
            </a:r>
          </a:p>
        </p:txBody>
      </p:sp>
    </p:spTree>
    <p:extLst>
      <p:ext uri="{BB962C8B-B14F-4D97-AF65-F5344CB8AC3E}">
        <p14:creationId xmlns:p14="http://schemas.microsoft.com/office/powerpoint/2010/main" val="46201768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slide-root">
            <a:extLst xmlns:a="http://schemas.openxmlformats.org/drawingml/2006/main">
              <a:ext uri="{FF2B5EF4-FFF2-40B4-BE49-F238E27FC236}">
                <a16:creationId xmlns:a16="http://schemas.microsoft.com/office/drawing/2014/main" id="{897A3736-7547-4711-9C9A-D1F81790626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6F8FB"/>
          </a:solidFill>
        </p:spPr>
      </p:sp>
      <p:sp>
        <p:nvSpPr>
          <p:cNvPr id="2" name="">
            <a:extLst xmlns:a="http://schemas.openxmlformats.org/drawingml/2006/main">
              <a:ext uri="{FF2B5EF4-FFF2-40B4-BE49-F238E27FC236}">
                <a16:creationId xmlns:a16="http://schemas.microsoft.com/office/drawing/2014/main" id="{433F384E-1D30-4288-A485-91F307957641}"/>
              </a:ext>
            </a:extLst>
          </p:cNvPr>
          <p:cNvSpPr>
            <a:spLocks xmlns:a="http://schemas.openxmlformats.org/drawingml/2006/main" noGrp="1"/>
          </p:cNvSpPr>
          <p:nvPr/>
        </p:nvSpPr>
        <p:spPr>
          <a:xfrm xmlns:a="http://schemas.openxmlformats.org/drawingml/2006/main">
            <a:off x="876300" y="4114800"/>
            <a:ext cx="75819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0796B"/>
                </a:solidFill>
              </a:defRPr>
            </a:pPr>
            <a:r>
              <a:rPr sz="1275" b="1">
                <a:solidFill>
                  <a:srgbClr val="00796B"/>
                </a:solidFill>
              </a:rPr>
              <a:t>Attack Simulation</a:t>
            </a:r>
          </a:p>
        </p:txBody>
      </p:sp>
      <p:sp>
        <p:nvSpPr>
          <p:cNvPr id="3" name="slide-title">
            <a:extLst xmlns:a="http://schemas.openxmlformats.org/drawingml/2006/main">
              <a:ext uri="{FF2B5EF4-FFF2-40B4-BE49-F238E27FC236}">
                <a16:creationId xmlns:a16="http://schemas.microsoft.com/office/drawing/2014/main" id="{B71AEA14-7E14-4767-A4F5-4CFAC3867DC8}"/>
              </a:ext>
            </a:extLst>
          </p:cNvPr>
          <p:cNvSpPr>
            <a:spLocks xmlns:a="http://schemas.openxmlformats.org/drawingml/2006/main" noGrp="1"/>
          </p:cNvSpPr>
          <p:nvPr/>
        </p:nvSpPr>
        <p:spPr>
          <a:xfrm xmlns:a="http://schemas.openxmlformats.org/drawingml/2006/main">
            <a:off x="876300" y="4495800"/>
            <a:ext cx="758190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52033"/>
                </a:solidFill>
              </a:defRPr>
            </a:pPr>
            <a:r>
              <a:rPr sz="3900" b="1">
                <a:solidFill>
                  <a:srgbClr val="152033"/>
                </a:solidFill>
              </a:rPr>
              <a:t>A simple targeted rule set recovers real outputs.</a:t>
            </a:r>
          </a:p>
        </p:txBody>
      </p:sp>
      <p:sp>
        <p:nvSpPr>
          <p:cNvPr id="4" name="slide-subtitle">
            <a:extLst xmlns:a="http://schemas.openxmlformats.org/drawingml/2006/main">
              <a:ext uri="{FF2B5EF4-FFF2-40B4-BE49-F238E27FC236}">
                <a16:creationId xmlns:a16="http://schemas.microsoft.com/office/drawing/2014/main" id="{8C52F0FD-15B8-43E2-84C5-565BC970FC40}"/>
              </a:ext>
            </a:extLst>
          </p:cNvPr>
          <p:cNvSpPr>
            <a:spLocks xmlns:a="http://schemas.openxmlformats.org/drawingml/2006/main" noGrp="1"/>
          </p:cNvSpPr>
          <p:nvPr/>
        </p:nvSpPr>
        <p:spPr>
          <a:xfrm xmlns:a="http://schemas.openxmlformats.org/drawingml/2006/main">
            <a:off x="876300" y="5886450"/>
            <a:ext cx="75819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627083"/>
                </a:solidFill>
              </a:defRPr>
            </a:pPr>
            <a:r>
              <a:rPr sz="1950">
                <a:solidFill>
                  <a:srgbClr val="627083"/>
                </a:solidFill>
              </a:rPr>
              <a:t>Using only 100 common roots plus seasons, years, and symbols.</a:t>
            </a:r>
          </a:p>
        </p:txBody>
      </p:sp>
      <p:sp>
        <p:nvSpPr>
          <p:cNvPr id="5" name="">
            <a:extLst xmlns:a="http://schemas.openxmlformats.org/drawingml/2006/main">
              <a:ext uri="{FF2B5EF4-FFF2-40B4-BE49-F238E27FC236}">
                <a16:creationId xmlns:a16="http://schemas.microsoft.com/office/drawing/2014/main" id="{47325008-0A83-4EE0-AD48-6CC379E2C277}"/>
              </a:ext>
            </a:extLst>
          </p:cNvPr>
          <p:cNvSpPr>
            <a:spLocks xmlns:a="http://schemas.openxmlformats.org/drawingml/2006/main" noGrp="1"/>
          </p:cNvSpPr>
          <p:nvPr/>
        </p:nvSpPr>
        <p:spPr>
          <a:xfrm xmlns:a="http://schemas.openxmlformats.org/drawingml/2006/main">
            <a:off x="9029700" y="3752850"/>
            <a:ext cx="83820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a:solidFill>
                  <a:srgbClr val="185ABC"/>
                </a:solidFill>
              </a:defRPr>
            </a:pPr>
            <a:r>
              <a:rPr sz="3300" b="1">
                <a:solidFill>
                  <a:srgbClr val="185ABC"/>
                </a:solidFill>
              </a:rPr>
              <a:t>488,448</a:t>
            </a:r>
          </a:p>
        </p:txBody>
      </p:sp>
      <p:sp>
        <p:nvSpPr>
          <p:cNvPr id="6" name="">
            <a:extLst xmlns:a="http://schemas.openxmlformats.org/drawingml/2006/main">
              <a:ext uri="{FF2B5EF4-FFF2-40B4-BE49-F238E27FC236}">
                <a16:creationId xmlns:a16="http://schemas.microsoft.com/office/drawing/2014/main" id="{8E47DE53-FAC5-400D-BA5D-898E396820B7}"/>
              </a:ext>
            </a:extLst>
          </p:cNvPr>
          <p:cNvSpPr>
            <a:spLocks xmlns:a="http://schemas.openxmlformats.org/drawingml/2006/main" noGrp="1"/>
          </p:cNvSpPr>
          <p:nvPr/>
        </p:nvSpPr>
        <p:spPr>
          <a:xfrm xmlns:a="http://schemas.openxmlformats.org/drawingml/2006/main">
            <a:off x="9029700" y="4305300"/>
            <a:ext cx="8382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627083"/>
                </a:solidFill>
              </a:defRPr>
            </a:pPr>
            <a:r>
              <a:rPr sz="1425">
                <a:solidFill>
                  <a:srgbClr val="627083"/>
                </a:solidFill>
              </a:rPr>
              <a:t>rule guesses generated</a:t>
            </a:r>
          </a:p>
        </p:txBody>
      </p:sp>
      <p:sp>
        <p:nvSpPr>
          <p:cNvPr id="7" name="">
            <a:extLst xmlns:a="http://schemas.openxmlformats.org/drawingml/2006/main">
              <a:ext uri="{FF2B5EF4-FFF2-40B4-BE49-F238E27FC236}">
                <a16:creationId xmlns:a16="http://schemas.microsoft.com/office/drawing/2014/main" id="{218DA55F-3E24-4D44-975F-21DB43E0E263}"/>
              </a:ext>
            </a:extLst>
          </p:cNvPr>
          <p:cNvSpPr>
            <a:spLocks xmlns:a="http://schemas.openxmlformats.org/drawingml/2006/main" noGrp="1"/>
          </p:cNvSpPr>
          <p:nvPr/>
        </p:nvSpPr>
        <p:spPr>
          <a:xfrm xmlns:a="http://schemas.openxmlformats.org/drawingml/2006/main">
            <a:off x="9029700" y="4762500"/>
            <a:ext cx="83820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a:solidFill>
                  <a:srgbClr val="B13B3B"/>
                </a:solidFill>
              </a:defRPr>
            </a:pPr>
            <a:r>
              <a:rPr sz="3300" b="1">
                <a:solidFill>
                  <a:srgbClr val="B13B3B"/>
                </a:solidFill>
              </a:rPr>
              <a:t>2,808</a:t>
            </a:r>
          </a:p>
        </p:txBody>
      </p:sp>
      <p:sp>
        <p:nvSpPr>
          <p:cNvPr id="8" name="">
            <a:extLst xmlns:a="http://schemas.openxmlformats.org/drawingml/2006/main">
              <a:ext uri="{FF2B5EF4-FFF2-40B4-BE49-F238E27FC236}">
                <a16:creationId xmlns:a16="http://schemas.microsoft.com/office/drawing/2014/main" id="{814B36D3-F28D-4253-BAB1-8D1C2560DB09}"/>
              </a:ext>
            </a:extLst>
          </p:cNvPr>
          <p:cNvSpPr>
            <a:spLocks xmlns:a="http://schemas.openxmlformats.org/drawingml/2006/main" noGrp="1"/>
          </p:cNvSpPr>
          <p:nvPr/>
        </p:nvSpPr>
        <p:spPr>
          <a:xfrm xmlns:a="http://schemas.openxmlformats.org/drawingml/2006/main">
            <a:off x="9029700" y="5314950"/>
            <a:ext cx="8382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627083"/>
                </a:solidFill>
              </a:defRPr>
            </a:pPr>
            <a:r>
              <a:rPr sz="1425">
                <a:solidFill>
                  <a:srgbClr val="627083"/>
                </a:solidFill>
              </a:rPr>
              <a:t>generated passwords recovered</a:t>
            </a:r>
          </a:p>
        </p:txBody>
      </p:sp>
      <p:sp>
        <p:nvSpPr>
          <p:cNvPr id="9" name="">
            <a:extLst xmlns:a="http://schemas.openxmlformats.org/drawingml/2006/main">
              <a:ext uri="{FF2B5EF4-FFF2-40B4-BE49-F238E27FC236}">
                <a16:creationId xmlns:a16="http://schemas.microsoft.com/office/drawing/2014/main" id="{E47C9BCD-2479-4C9D-907C-7AFCB3827D00}"/>
              </a:ext>
            </a:extLst>
          </p:cNvPr>
          <p:cNvSpPr>
            <a:spLocks xmlns:a="http://schemas.openxmlformats.org/drawingml/2006/main" noGrp="1"/>
          </p:cNvSpPr>
          <p:nvPr/>
        </p:nvSpPr>
        <p:spPr>
          <a:xfrm xmlns:a="http://schemas.openxmlformats.org/drawingml/2006/main">
            <a:off x="9029700" y="5772150"/>
            <a:ext cx="8382000" cy="514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300" b="1">
                <a:solidFill>
                  <a:srgbClr val="00796B"/>
                </a:solidFill>
              </a:defRPr>
            </a:pPr>
            <a:r>
              <a:rPr sz="3300" b="1">
                <a:solidFill>
                  <a:srgbClr val="00796B"/>
                </a:solidFill>
              </a:rPr>
              <a:t>14.3%</a:t>
            </a:r>
          </a:p>
        </p:txBody>
      </p:sp>
      <p:sp>
        <p:nvSpPr>
          <p:cNvPr id="10" name="">
            <a:extLst xmlns:a="http://schemas.openxmlformats.org/drawingml/2006/main">
              <a:ext uri="{FF2B5EF4-FFF2-40B4-BE49-F238E27FC236}">
                <a16:creationId xmlns:a16="http://schemas.microsoft.com/office/drawing/2014/main" id="{AE1C6F34-EC93-4586-8004-219303E65224}"/>
              </a:ext>
            </a:extLst>
          </p:cNvPr>
          <p:cNvSpPr>
            <a:spLocks xmlns:a="http://schemas.openxmlformats.org/drawingml/2006/main" noGrp="1"/>
          </p:cNvSpPr>
          <p:nvPr/>
        </p:nvSpPr>
        <p:spPr>
          <a:xfrm xmlns:a="http://schemas.openxmlformats.org/drawingml/2006/main">
            <a:off x="9029700" y="6324600"/>
            <a:ext cx="8382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425">
                <a:solidFill>
                  <a:srgbClr val="627083"/>
                </a:solidFill>
              </a:defRPr>
            </a:pPr>
            <a:r>
              <a:rPr sz="1425">
                <a:solidFill>
                  <a:srgbClr val="627083"/>
                </a:solidFill>
              </a:rPr>
              <a:t>of the dataset recovered</a:t>
            </a:r>
          </a:p>
        </p:txBody>
      </p:sp>
    </p:spTree>
    <p:extLst>
      <p:ext uri="{BB962C8B-B14F-4D97-AF65-F5344CB8AC3E}">
        <p14:creationId xmlns:p14="http://schemas.microsoft.com/office/powerpoint/2010/main" val="62874555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slide-root">
            <a:extLst xmlns:a="http://schemas.openxmlformats.org/drawingml/2006/main">
              <a:ext uri="{FF2B5EF4-FFF2-40B4-BE49-F238E27FC236}">
                <a16:creationId xmlns:a16="http://schemas.microsoft.com/office/drawing/2014/main" id="{49EEC1A2-7D8B-4F8D-913F-D0921F35798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6F8FB"/>
          </a:solidFill>
        </p:spPr>
      </p:sp>
      <p:sp>
        <p:nvSpPr>
          <p:cNvPr id="2" name="">
            <a:extLst xmlns:a="http://schemas.openxmlformats.org/drawingml/2006/main">
              <a:ext uri="{FF2B5EF4-FFF2-40B4-BE49-F238E27FC236}">
                <a16:creationId xmlns:a16="http://schemas.microsoft.com/office/drawing/2014/main" id="{6B587F1A-A051-43A2-A932-E7A02D8D56C0}"/>
              </a:ext>
            </a:extLst>
          </p:cNvPr>
          <p:cNvSpPr>
            <a:spLocks xmlns:a="http://schemas.openxmlformats.org/drawingml/2006/main" noGrp="1"/>
          </p:cNvSpPr>
          <p:nvPr/>
        </p:nvSpPr>
        <p:spPr>
          <a:xfrm xmlns:a="http://schemas.openxmlformats.org/drawingml/2006/main">
            <a:off x="876300" y="3124200"/>
            <a:ext cx="165354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0796B"/>
                </a:solidFill>
              </a:defRPr>
            </a:pPr>
            <a:r>
              <a:rPr sz="1275" b="1">
                <a:solidFill>
                  <a:srgbClr val="00796B"/>
                </a:solidFill>
              </a:rPr>
              <a:t>Baseline Comparison</a:t>
            </a:r>
          </a:p>
        </p:txBody>
      </p:sp>
      <p:sp>
        <p:nvSpPr>
          <p:cNvPr id="3" name="slide-title">
            <a:extLst xmlns:a="http://schemas.openxmlformats.org/drawingml/2006/main">
              <a:ext uri="{FF2B5EF4-FFF2-40B4-BE49-F238E27FC236}">
                <a16:creationId xmlns:a16="http://schemas.microsoft.com/office/drawing/2014/main" id="{136E576C-DD48-44BB-B383-B8644CEA02CF}"/>
              </a:ext>
            </a:extLst>
          </p:cNvPr>
          <p:cNvSpPr>
            <a:spLocks xmlns:a="http://schemas.openxmlformats.org/drawingml/2006/main" noGrp="1"/>
          </p:cNvSpPr>
          <p:nvPr/>
        </p:nvSpPr>
        <p:spPr>
          <a:xfrm xmlns:a="http://schemas.openxmlformats.org/drawingml/2006/main">
            <a:off x="876300" y="3562350"/>
            <a:ext cx="16535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600" b="1">
                <a:solidFill>
                  <a:srgbClr val="152033"/>
                </a:solidFill>
              </a:defRPr>
            </a:pPr>
            <a:r>
              <a:rPr sz="3600" b="1">
                <a:solidFill>
                  <a:srgbClr val="152033"/>
                </a:solidFill>
              </a:rPr>
              <a:t>Generated passwords score like random ones, but pattern like weak ones.</a:t>
            </a:r>
          </a:p>
        </p:txBody>
      </p:sp>
      <p:sp>
        <p:nvSpPr>
          <p:cNvPr id="4" name="">
            <a:extLst xmlns:a="http://schemas.openxmlformats.org/drawingml/2006/main">
              <a:ext uri="{FF2B5EF4-FFF2-40B4-BE49-F238E27FC236}">
                <a16:creationId xmlns:a16="http://schemas.microsoft.com/office/drawing/2014/main" id="{215B3681-1948-4A17-9FC9-021F2BA11DE0}"/>
              </a:ext>
            </a:extLst>
          </p:cNvPr>
          <p:cNvSpPr>
            <a:spLocks xmlns:a="http://schemas.openxmlformats.org/drawingml/2006/main" noGrp="1"/>
          </p:cNvSpPr>
          <p:nvPr/>
        </p:nvSpPr>
        <p:spPr>
          <a:xfrm xmlns:a="http://schemas.openxmlformats.org/drawingml/2006/main">
            <a:off x="876300" y="4356735"/>
            <a:ext cx="3307080" cy="495300"/>
          </a:xfrm>
          <a:prstGeom xmlns:a="http://schemas.openxmlformats.org/drawingml/2006/main" prst="rect">
            <a:avLst/>
          </a:prstGeom>
          <a:solidFill xmlns:a="http://schemas.openxmlformats.org/drawingml/2006/main">
            <a:srgbClr val="EEF3F8"/>
          </a:solidFill>
        </p:spPr>
      </p:sp>
      <p:sp>
        <p:nvSpPr>
          <p:cNvPr id="5" name="">
            <a:extLst xmlns:a="http://schemas.openxmlformats.org/drawingml/2006/main">
              <a:ext uri="{FF2B5EF4-FFF2-40B4-BE49-F238E27FC236}">
                <a16:creationId xmlns:a16="http://schemas.microsoft.com/office/drawing/2014/main" id="{A489B700-0E90-4C43-8429-DF164335F342}"/>
              </a:ext>
            </a:extLst>
          </p:cNvPr>
          <p:cNvSpPr>
            <a:spLocks xmlns:a="http://schemas.openxmlformats.org/drawingml/2006/main" noGrp="1"/>
          </p:cNvSpPr>
          <p:nvPr/>
        </p:nvSpPr>
        <p:spPr>
          <a:xfrm xmlns:a="http://schemas.openxmlformats.org/drawingml/2006/main">
            <a:off x="990600" y="447675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52033"/>
                </a:solidFill>
              </a:defRPr>
            </a:pPr>
            <a:r>
              <a:rPr sz="1350" b="1">
                <a:solidFill>
                  <a:srgbClr val="152033"/>
                </a:solidFill>
              </a:rPr>
              <a:t>Dataset</a:t>
            </a:r>
          </a:p>
        </p:txBody>
      </p:sp>
      <p:sp>
        <p:nvSpPr>
          <p:cNvPr id="6" name="">
            <a:extLst xmlns:a="http://schemas.openxmlformats.org/drawingml/2006/main">
              <a:ext uri="{FF2B5EF4-FFF2-40B4-BE49-F238E27FC236}">
                <a16:creationId xmlns:a16="http://schemas.microsoft.com/office/drawing/2014/main" id="{C54E283A-219B-4EF7-926A-D52189BB9B3A}"/>
              </a:ext>
            </a:extLst>
          </p:cNvPr>
          <p:cNvSpPr>
            <a:spLocks xmlns:a="http://schemas.openxmlformats.org/drawingml/2006/main" noGrp="1"/>
          </p:cNvSpPr>
          <p:nvPr/>
        </p:nvSpPr>
        <p:spPr>
          <a:xfrm xmlns:a="http://schemas.openxmlformats.org/drawingml/2006/main">
            <a:off x="4183380" y="4356735"/>
            <a:ext cx="3307080" cy="495300"/>
          </a:xfrm>
          <a:prstGeom xmlns:a="http://schemas.openxmlformats.org/drawingml/2006/main" prst="rect">
            <a:avLst/>
          </a:prstGeom>
          <a:solidFill xmlns:a="http://schemas.openxmlformats.org/drawingml/2006/main">
            <a:srgbClr val="EEF3F8"/>
          </a:solidFill>
        </p:spPr>
      </p:sp>
      <p:sp>
        <p:nvSpPr>
          <p:cNvPr id="7" name="">
            <a:extLst xmlns:a="http://schemas.openxmlformats.org/drawingml/2006/main">
              <a:ext uri="{FF2B5EF4-FFF2-40B4-BE49-F238E27FC236}">
                <a16:creationId xmlns:a16="http://schemas.microsoft.com/office/drawing/2014/main" id="{B4ED807D-9D4D-47F5-87DA-161901DA68FB}"/>
              </a:ext>
            </a:extLst>
          </p:cNvPr>
          <p:cNvSpPr>
            <a:spLocks xmlns:a="http://schemas.openxmlformats.org/drawingml/2006/main" noGrp="1"/>
          </p:cNvSpPr>
          <p:nvPr/>
        </p:nvSpPr>
        <p:spPr>
          <a:xfrm xmlns:a="http://schemas.openxmlformats.org/drawingml/2006/main">
            <a:off x="4305300" y="447675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52033"/>
                </a:solidFill>
              </a:defRPr>
            </a:pPr>
            <a:r>
              <a:rPr sz="1350" b="1">
                <a:solidFill>
                  <a:srgbClr val="152033"/>
                </a:solidFill>
              </a:rPr>
              <a:t>Avg score</a:t>
            </a:r>
          </a:p>
        </p:txBody>
      </p:sp>
      <p:sp>
        <p:nvSpPr>
          <p:cNvPr id="8" name="">
            <a:extLst xmlns:a="http://schemas.openxmlformats.org/drawingml/2006/main">
              <a:ext uri="{FF2B5EF4-FFF2-40B4-BE49-F238E27FC236}">
                <a16:creationId xmlns:a16="http://schemas.microsoft.com/office/drawing/2014/main" id="{7C2573FC-F7A6-4DE3-B922-6434551798ED}"/>
              </a:ext>
            </a:extLst>
          </p:cNvPr>
          <p:cNvSpPr>
            <a:spLocks xmlns:a="http://schemas.openxmlformats.org/drawingml/2006/main" noGrp="1"/>
          </p:cNvSpPr>
          <p:nvPr/>
        </p:nvSpPr>
        <p:spPr>
          <a:xfrm xmlns:a="http://schemas.openxmlformats.org/drawingml/2006/main">
            <a:off x="7490460" y="4356735"/>
            <a:ext cx="3307080" cy="495300"/>
          </a:xfrm>
          <a:prstGeom xmlns:a="http://schemas.openxmlformats.org/drawingml/2006/main" prst="rect">
            <a:avLst/>
          </a:prstGeom>
          <a:solidFill xmlns:a="http://schemas.openxmlformats.org/drawingml/2006/main">
            <a:srgbClr val="EEF3F8"/>
          </a:solidFill>
        </p:spPr>
      </p:sp>
      <p:sp>
        <p:nvSpPr>
          <p:cNvPr id="9" name="">
            <a:extLst xmlns:a="http://schemas.openxmlformats.org/drawingml/2006/main">
              <a:ext uri="{FF2B5EF4-FFF2-40B4-BE49-F238E27FC236}">
                <a16:creationId xmlns:a16="http://schemas.microsoft.com/office/drawing/2014/main" id="{51671551-3D92-4071-971B-3C0CD98F5DB8}"/>
              </a:ext>
            </a:extLst>
          </p:cNvPr>
          <p:cNvSpPr>
            <a:spLocks xmlns:a="http://schemas.openxmlformats.org/drawingml/2006/main" noGrp="1"/>
          </p:cNvSpPr>
          <p:nvPr/>
        </p:nvSpPr>
        <p:spPr>
          <a:xfrm xmlns:a="http://schemas.openxmlformats.org/drawingml/2006/main">
            <a:off x="7600950" y="447675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52033"/>
                </a:solidFill>
              </a:defRPr>
            </a:pPr>
            <a:r>
              <a:rPr sz="1350" b="1">
                <a:solidFill>
                  <a:srgbClr val="152033"/>
                </a:solidFill>
              </a:rPr>
              <a:t>Score 4/4</a:t>
            </a:r>
          </a:p>
        </p:txBody>
      </p:sp>
      <p:sp>
        <p:nvSpPr>
          <p:cNvPr id="10" name="">
            <a:extLst xmlns:a="http://schemas.openxmlformats.org/drawingml/2006/main">
              <a:ext uri="{FF2B5EF4-FFF2-40B4-BE49-F238E27FC236}">
                <a16:creationId xmlns:a16="http://schemas.microsoft.com/office/drawing/2014/main" id="{38A451EC-9121-430D-AAB7-A0EB2F318821}"/>
              </a:ext>
            </a:extLst>
          </p:cNvPr>
          <p:cNvSpPr>
            <a:spLocks xmlns:a="http://schemas.openxmlformats.org/drawingml/2006/main" noGrp="1"/>
          </p:cNvSpPr>
          <p:nvPr/>
        </p:nvSpPr>
        <p:spPr>
          <a:xfrm xmlns:a="http://schemas.openxmlformats.org/drawingml/2006/main">
            <a:off x="10797540" y="4356735"/>
            <a:ext cx="3307080" cy="495300"/>
          </a:xfrm>
          <a:prstGeom xmlns:a="http://schemas.openxmlformats.org/drawingml/2006/main" prst="rect">
            <a:avLst/>
          </a:prstGeom>
          <a:solidFill xmlns:a="http://schemas.openxmlformats.org/drawingml/2006/main">
            <a:srgbClr val="EEF3F8"/>
          </a:solidFill>
        </p:spPr>
      </p:sp>
      <p:sp>
        <p:nvSpPr>
          <p:cNvPr id="11" name="">
            <a:extLst xmlns:a="http://schemas.openxmlformats.org/drawingml/2006/main">
              <a:ext uri="{FF2B5EF4-FFF2-40B4-BE49-F238E27FC236}">
                <a16:creationId xmlns:a16="http://schemas.microsoft.com/office/drawing/2014/main" id="{3169BAA5-B60E-418D-BCBE-2DCDC2267C08}"/>
              </a:ext>
            </a:extLst>
          </p:cNvPr>
          <p:cNvSpPr>
            <a:spLocks xmlns:a="http://schemas.openxmlformats.org/drawingml/2006/main" noGrp="1"/>
          </p:cNvSpPr>
          <p:nvPr/>
        </p:nvSpPr>
        <p:spPr>
          <a:xfrm xmlns:a="http://schemas.openxmlformats.org/drawingml/2006/main">
            <a:off x="10915650" y="447675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52033"/>
                </a:solidFill>
              </a:defRPr>
            </a:pPr>
            <a:r>
              <a:rPr sz="1350" b="1">
                <a:solidFill>
                  <a:srgbClr val="152033"/>
                </a:solidFill>
              </a:rPr>
              <a:t>Avg length</a:t>
            </a:r>
          </a:p>
        </p:txBody>
      </p:sp>
      <p:sp>
        <p:nvSpPr>
          <p:cNvPr id="12" name="">
            <a:extLst xmlns:a="http://schemas.openxmlformats.org/drawingml/2006/main">
              <a:ext uri="{FF2B5EF4-FFF2-40B4-BE49-F238E27FC236}">
                <a16:creationId xmlns:a16="http://schemas.microsoft.com/office/drawing/2014/main" id="{1C264D37-888B-4DA9-945E-5D6582E9C9C8}"/>
              </a:ext>
            </a:extLst>
          </p:cNvPr>
          <p:cNvSpPr>
            <a:spLocks xmlns:a="http://schemas.openxmlformats.org/drawingml/2006/main" noGrp="1"/>
          </p:cNvSpPr>
          <p:nvPr/>
        </p:nvSpPr>
        <p:spPr>
          <a:xfrm xmlns:a="http://schemas.openxmlformats.org/drawingml/2006/main">
            <a:off x="14104620" y="4356735"/>
            <a:ext cx="3307080" cy="495300"/>
          </a:xfrm>
          <a:prstGeom xmlns:a="http://schemas.openxmlformats.org/drawingml/2006/main" prst="rect">
            <a:avLst/>
          </a:prstGeom>
          <a:solidFill xmlns:a="http://schemas.openxmlformats.org/drawingml/2006/main">
            <a:srgbClr val="EEF3F8"/>
          </a:solidFill>
        </p:spPr>
      </p:sp>
      <p:sp>
        <p:nvSpPr>
          <p:cNvPr id="13" name="">
            <a:extLst xmlns:a="http://schemas.openxmlformats.org/drawingml/2006/main">
              <a:ext uri="{FF2B5EF4-FFF2-40B4-BE49-F238E27FC236}">
                <a16:creationId xmlns:a16="http://schemas.microsoft.com/office/drawing/2014/main" id="{C7FF02BD-6269-4701-9EF8-CFB2FDCFC7BA}"/>
              </a:ext>
            </a:extLst>
          </p:cNvPr>
          <p:cNvSpPr>
            <a:spLocks xmlns:a="http://schemas.openxmlformats.org/drawingml/2006/main" noGrp="1"/>
          </p:cNvSpPr>
          <p:nvPr/>
        </p:nvSpPr>
        <p:spPr>
          <a:xfrm xmlns:a="http://schemas.openxmlformats.org/drawingml/2006/main">
            <a:off x="14211300" y="447675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52033"/>
                </a:solidFill>
              </a:defRPr>
            </a:pPr>
            <a:r>
              <a:rPr sz="1350" b="1">
                <a:solidFill>
                  <a:srgbClr val="152033"/>
                </a:solidFill>
              </a:rPr>
              <a:t>Season + year</a:t>
            </a:r>
          </a:p>
        </p:txBody>
      </p:sp>
      <p:sp>
        <p:nvSpPr>
          <p:cNvPr id="14" name="">
            <a:extLst xmlns:a="http://schemas.openxmlformats.org/drawingml/2006/main">
              <a:ext uri="{FF2B5EF4-FFF2-40B4-BE49-F238E27FC236}">
                <a16:creationId xmlns:a16="http://schemas.microsoft.com/office/drawing/2014/main" id="{F7607B95-F48C-4432-9909-2324B6847ACD}"/>
              </a:ext>
            </a:extLst>
          </p:cNvPr>
          <p:cNvSpPr>
            <a:spLocks xmlns:a="http://schemas.openxmlformats.org/drawingml/2006/main" noGrp="1"/>
          </p:cNvSpPr>
          <p:nvPr/>
        </p:nvSpPr>
        <p:spPr>
          <a:xfrm xmlns:a="http://schemas.openxmlformats.org/drawingml/2006/main">
            <a:off x="876300" y="4852035"/>
            <a:ext cx="3307080" cy="590550"/>
          </a:xfrm>
          <a:prstGeom xmlns:a="http://schemas.openxmlformats.org/drawingml/2006/main" prst="rect">
            <a:avLst/>
          </a:prstGeom>
          <a:solidFill xmlns:a="http://schemas.openxmlformats.org/drawingml/2006/main">
            <a:srgbClr val="FAFBFD"/>
          </a:solidFill>
          <a:ln xmlns:a="http://schemas.openxmlformats.org/drawingml/2006/main" w="9525">
            <a:solidFill>
              <a:srgbClr val="DCE3EC"/>
            </a:solidFill>
            <a:prstDash val="solid"/>
          </a:ln>
        </p:spPr>
      </p:sp>
      <p:sp>
        <p:nvSpPr>
          <p:cNvPr id="15" name="">
            <a:extLst xmlns:a="http://schemas.openxmlformats.org/drawingml/2006/main">
              <a:ext uri="{FF2B5EF4-FFF2-40B4-BE49-F238E27FC236}">
                <a16:creationId xmlns:a16="http://schemas.microsoft.com/office/drawing/2014/main" id="{EF1549F6-7C4B-4881-8C03-328E45CE05E4}"/>
              </a:ext>
            </a:extLst>
          </p:cNvPr>
          <p:cNvSpPr>
            <a:spLocks xmlns:a="http://schemas.openxmlformats.org/drawingml/2006/main" noGrp="1"/>
          </p:cNvSpPr>
          <p:nvPr/>
        </p:nvSpPr>
        <p:spPr>
          <a:xfrm xmlns:a="http://schemas.openxmlformats.org/drawingml/2006/main">
            <a:off x="990600" y="499110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52033"/>
                </a:solidFill>
              </a:defRPr>
            </a:pPr>
            <a:r>
              <a:rPr sz="1350" b="1">
                <a:solidFill>
                  <a:srgbClr val="152033"/>
                </a:solidFill>
              </a:rPr>
              <a:t>Common weak</a:t>
            </a:r>
          </a:p>
        </p:txBody>
      </p:sp>
      <p:sp>
        <p:nvSpPr>
          <p:cNvPr id="16" name="">
            <a:extLst xmlns:a="http://schemas.openxmlformats.org/drawingml/2006/main">
              <a:ext uri="{FF2B5EF4-FFF2-40B4-BE49-F238E27FC236}">
                <a16:creationId xmlns:a16="http://schemas.microsoft.com/office/drawing/2014/main" id="{8258F76C-659E-4157-98B4-A44B79D05087}"/>
              </a:ext>
            </a:extLst>
          </p:cNvPr>
          <p:cNvSpPr>
            <a:spLocks xmlns:a="http://schemas.openxmlformats.org/drawingml/2006/main" noGrp="1"/>
          </p:cNvSpPr>
          <p:nvPr/>
        </p:nvSpPr>
        <p:spPr>
          <a:xfrm xmlns:a="http://schemas.openxmlformats.org/drawingml/2006/main">
            <a:off x="4183380" y="4852035"/>
            <a:ext cx="330708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C"/>
            </a:solidFill>
            <a:prstDash val="solid"/>
          </a:ln>
        </p:spPr>
      </p:sp>
      <p:sp>
        <p:nvSpPr>
          <p:cNvPr id="17" name="">
            <a:extLst xmlns:a="http://schemas.openxmlformats.org/drawingml/2006/main">
              <a:ext uri="{FF2B5EF4-FFF2-40B4-BE49-F238E27FC236}">
                <a16:creationId xmlns:a16="http://schemas.microsoft.com/office/drawing/2014/main" id="{523506A0-FFAD-4DD8-8F19-966BBFB7D732}"/>
              </a:ext>
            </a:extLst>
          </p:cNvPr>
          <p:cNvSpPr>
            <a:spLocks xmlns:a="http://schemas.openxmlformats.org/drawingml/2006/main" noGrp="1"/>
          </p:cNvSpPr>
          <p:nvPr/>
        </p:nvSpPr>
        <p:spPr>
          <a:xfrm xmlns:a="http://schemas.openxmlformats.org/drawingml/2006/main">
            <a:off x="4305300" y="499110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27083"/>
                </a:solidFill>
              </a:defRPr>
            </a:pPr>
            <a:r>
              <a:rPr sz="1350" b="0">
                <a:solidFill>
                  <a:srgbClr val="627083"/>
                </a:solidFill>
              </a:rPr>
              <a:t>0.01/4</a:t>
            </a:r>
          </a:p>
        </p:txBody>
      </p:sp>
      <p:sp>
        <p:nvSpPr>
          <p:cNvPr id="18" name="">
            <a:extLst xmlns:a="http://schemas.openxmlformats.org/drawingml/2006/main">
              <a:ext uri="{FF2B5EF4-FFF2-40B4-BE49-F238E27FC236}">
                <a16:creationId xmlns:a16="http://schemas.microsoft.com/office/drawing/2014/main" id="{BF3A1A0F-F386-445B-B02D-B356134B6E60}"/>
              </a:ext>
            </a:extLst>
          </p:cNvPr>
          <p:cNvSpPr>
            <a:spLocks xmlns:a="http://schemas.openxmlformats.org/drawingml/2006/main" noGrp="1"/>
          </p:cNvSpPr>
          <p:nvPr/>
        </p:nvSpPr>
        <p:spPr>
          <a:xfrm xmlns:a="http://schemas.openxmlformats.org/drawingml/2006/main">
            <a:off x="7490460" y="4852035"/>
            <a:ext cx="330708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C"/>
            </a:solidFill>
            <a:prstDash val="solid"/>
          </a:ln>
        </p:spPr>
      </p:sp>
      <p:sp>
        <p:nvSpPr>
          <p:cNvPr id="19" name="">
            <a:extLst xmlns:a="http://schemas.openxmlformats.org/drawingml/2006/main">
              <a:ext uri="{FF2B5EF4-FFF2-40B4-BE49-F238E27FC236}">
                <a16:creationId xmlns:a16="http://schemas.microsoft.com/office/drawing/2014/main" id="{602A1704-AE76-4C98-A307-03C0BA5346A5}"/>
              </a:ext>
            </a:extLst>
          </p:cNvPr>
          <p:cNvSpPr>
            <a:spLocks xmlns:a="http://schemas.openxmlformats.org/drawingml/2006/main" noGrp="1"/>
          </p:cNvSpPr>
          <p:nvPr/>
        </p:nvSpPr>
        <p:spPr>
          <a:xfrm xmlns:a="http://schemas.openxmlformats.org/drawingml/2006/main">
            <a:off x="7600950" y="499110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27083"/>
                </a:solidFill>
              </a:defRPr>
            </a:pPr>
            <a:r>
              <a:rPr sz="1350" b="0">
                <a:solidFill>
                  <a:srgbClr val="627083"/>
                </a:solidFill>
              </a:rPr>
              <a:t>0.0%</a:t>
            </a:r>
          </a:p>
        </p:txBody>
      </p:sp>
      <p:sp>
        <p:nvSpPr>
          <p:cNvPr id="20" name="">
            <a:extLst xmlns:a="http://schemas.openxmlformats.org/drawingml/2006/main">
              <a:ext uri="{FF2B5EF4-FFF2-40B4-BE49-F238E27FC236}">
                <a16:creationId xmlns:a16="http://schemas.microsoft.com/office/drawing/2014/main" id="{97AFBFC3-BE4D-403D-A9C0-F954D5C0D5E0}"/>
              </a:ext>
            </a:extLst>
          </p:cNvPr>
          <p:cNvSpPr>
            <a:spLocks xmlns:a="http://schemas.openxmlformats.org/drawingml/2006/main" noGrp="1"/>
          </p:cNvSpPr>
          <p:nvPr/>
        </p:nvSpPr>
        <p:spPr>
          <a:xfrm xmlns:a="http://schemas.openxmlformats.org/drawingml/2006/main">
            <a:off x="10797540" y="4852035"/>
            <a:ext cx="330708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C"/>
            </a:solidFill>
            <a:prstDash val="solid"/>
          </a:ln>
        </p:spPr>
      </p:sp>
      <p:sp>
        <p:nvSpPr>
          <p:cNvPr id="21" name="">
            <a:extLst xmlns:a="http://schemas.openxmlformats.org/drawingml/2006/main">
              <a:ext uri="{FF2B5EF4-FFF2-40B4-BE49-F238E27FC236}">
                <a16:creationId xmlns:a16="http://schemas.microsoft.com/office/drawing/2014/main" id="{BE845075-9895-47A2-A337-E88D917A9302}"/>
              </a:ext>
            </a:extLst>
          </p:cNvPr>
          <p:cNvSpPr>
            <a:spLocks xmlns:a="http://schemas.openxmlformats.org/drawingml/2006/main" noGrp="1"/>
          </p:cNvSpPr>
          <p:nvPr/>
        </p:nvSpPr>
        <p:spPr>
          <a:xfrm xmlns:a="http://schemas.openxmlformats.org/drawingml/2006/main">
            <a:off x="10915650" y="499110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27083"/>
                </a:solidFill>
              </a:defRPr>
            </a:pPr>
            <a:r>
              <a:rPr sz="1350" b="0">
                <a:solidFill>
                  <a:srgbClr val="627083"/>
                </a:solidFill>
              </a:rPr>
              <a:t>6.4</a:t>
            </a:r>
          </a:p>
        </p:txBody>
      </p:sp>
      <p:sp>
        <p:nvSpPr>
          <p:cNvPr id="22" name="">
            <a:extLst xmlns:a="http://schemas.openxmlformats.org/drawingml/2006/main">
              <a:ext uri="{FF2B5EF4-FFF2-40B4-BE49-F238E27FC236}">
                <a16:creationId xmlns:a16="http://schemas.microsoft.com/office/drawing/2014/main" id="{557E0BE8-3477-4324-BBB9-3450E22F0815}"/>
              </a:ext>
            </a:extLst>
          </p:cNvPr>
          <p:cNvSpPr>
            <a:spLocks xmlns:a="http://schemas.openxmlformats.org/drawingml/2006/main" noGrp="1"/>
          </p:cNvSpPr>
          <p:nvPr/>
        </p:nvSpPr>
        <p:spPr>
          <a:xfrm xmlns:a="http://schemas.openxmlformats.org/drawingml/2006/main">
            <a:off x="14104620" y="4852035"/>
            <a:ext cx="330708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C"/>
            </a:solidFill>
            <a:prstDash val="solid"/>
          </a:ln>
        </p:spPr>
      </p:sp>
      <p:sp>
        <p:nvSpPr>
          <p:cNvPr id="23" name="">
            <a:extLst xmlns:a="http://schemas.openxmlformats.org/drawingml/2006/main">
              <a:ext uri="{FF2B5EF4-FFF2-40B4-BE49-F238E27FC236}">
                <a16:creationId xmlns:a16="http://schemas.microsoft.com/office/drawing/2014/main" id="{D4E47240-6863-4DA4-BB97-0ACB37F18724}"/>
              </a:ext>
            </a:extLst>
          </p:cNvPr>
          <p:cNvSpPr>
            <a:spLocks xmlns:a="http://schemas.openxmlformats.org/drawingml/2006/main" noGrp="1"/>
          </p:cNvSpPr>
          <p:nvPr/>
        </p:nvSpPr>
        <p:spPr>
          <a:xfrm xmlns:a="http://schemas.openxmlformats.org/drawingml/2006/main">
            <a:off x="14211300" y="499110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27083"/>
                </a:solidFill>
              </a:defRPr>
            </a:pPr>
            <a:r>
              <a:rPr sz="1350" b="0">
                <a:solidFill>
                  <a:srgbClr val="627083"/>
                </a:solidFill>
              </a:rPr>
              <a:t>0.0%</a:t>
            </a:r>
          </a:p>
        </p:txBody>
      </p:sp>
      <p:sp>
        <p:nvSpPr>
          <p:cNvPr id="24" name="">
            <a:extLst xmlns:a="http://schemas.openxmlformats.org/drawingml/2006/main">
              <a:ext uri="{FF2B5EF4-FFF2-40B4-BE49-F238E27FC236}">
                <a16:creationId xmlns:a16="http://schemas.microsoft.com/office/drawing/2014/main" id="{DF810741-A846-46BB-9AA9-23BA37333A06}"/>
              </a:ext>
            </a:extLst>
          </p:cNvPr>
          <p:cNvSpPr>
            <a:spLocks xmlns:a="http://schemas.openxmlformats.org/drawingml/2006/main" noGrp="1"/>
          </p:cNvSpPr>
          <p:nvPr/>
        </p:nvSpPr>
        <p:spPr>
          <a:xfrm xmlns:a="http://schemas.openxmlformats.org/drawingml/2006/main">
            <a:off x="876300" y="5442585"/>
            <a:ext cx="3307080" cy="590550"/>
          </a:xfrm>
          <a:prstGeom xmlns:a="http://schemas.openxmlformats.org/drawingml/2006/main" prst="rect">
            <a:avLst/>
          </a:prstGeom>
          <a:solidFill xmlns:a="http://schemas.openxmlformats.org/drawingml/2006/main">
            <a:srgbClr val="FAFBFD"/>
          </a:solidFill>
          <a:ln xmlns:a="http://schemas.openxmlformats.org/drawingml/2006/main" w="9525">
            <a:solidFill>
              <a:srgbClr val="DCE3EC"/>
            </a:solidFill>
            <a:prstDash val="solid"/>
          </a:ln>
        </p:spPr>
      </p:sp>
      <p:sp>
        <p:nvSpPr>
          <p:cNvPr id="25" name="">
            <a:extLst xmlns:a="http://schemas.openxmlformats.org/drawingml/2006/main">
              <a:ext uri="{FF2B5EF4-FFF2-40B4-BE49-F238E27FC236}">
                <a16:creationId xmlns:a16="http://schemas.microsoft.com/office/drawing/2014/main" id="{F60E5D50-BAF2-4A0F-BEE4-66E989FC24ED}"/>
              </a:ext>
            </a:extLst>
          </p:cNvPr>
          <p:cNvSpPr>
            <a:spLocks xmlns:a="http://schemas.openxmlformats.org/drawingml/2006/main" noGrp="1"/>
          </p:cNvSpPr>
          <p:nvPr/>
        </p:nvSpPr>
        <p:spPr>
          <a:xfrm xmlns:a="http://schemas.openxmlformats.org/drawingml/2006/main">
            <a:off x="990600" y="558165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52033"/>
                </a:solidFill>
              </a:defRPr>
            </a:pPr>
            <a:r>
              <a:rPr sz="1350" b="1">
                <a:solidFill>
                  <a:srgbClr val="152033"/>
                </a:solidFill>
              </a:rPr>
              <a:t>Generated adversarial</a:t>
            </a:r>
          </a:p>
        </p:txBody>
      </p:sp>
      <p:sp>
        <p:nvSpPr>
          <p:cNvPr id="26" name="">
            <a:extLst xmlns:a="http://schemas.openxmlformats.org/drawingml/2006/main">
              <a:ext uri="{FF2B5EF4-FFF2-40B4-BE49-F238E27FC236}">
                <a16:creationId xmlns:a16="http://schemas.microsoft.com/office/drawing/2014/main" id="{2B490942-A096-4D75-8248-4560F1E4FFB0}"/>
              </a:ext>
            </a:extLst>
          </p:cNvPr>
          <p:cNvSpPr>
            <a:spLocks xmlns:a="http://schemas.openxmlformats.org/drawingml/2006/main" noGrp="1"/>
          </p:cNvSpPr>
          <p:nvPr/>
        </p:nvSpPr>
        <p:spPr>
          <a:xfrm xmlns:a="http://schemas.openxmlformats.org/drawingml/2006/main">
            <a:off x="4183380" y="5442585"/>
            <a:ext cx="330708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C"/>
            </a:solidFill>
            <a:prstDash val="solid"/>
          </a:ln>
        </p:spPr>
      </p:sp>
      <p:sp>
        <p:nvSpPr>
          <p:cNvPr id="27" name="">
            <a:extLst xmlns:a="http://schemas.openxmlformats.org/drawingml/2006/main">
              <a:ext uri="{FF2B5EF4-FFF2-40B4-BE49-F238E27FC236}">
                <a16:creationId xmlns:a16="http://schemas.microsoft.com/office/drawing/2014/main" id="{83A2FB83-5C57-406B-B043-A395634788F4}"/>
              </a:ext>
            </a:extLst>
          </p:cNvPr>
          <p:cNvSpPr>
            <a:spLocks xmlns:a="http://schemas.openxmlformats.org/drawingml/2006/main" noGrp="1"/>
          </p:cNvSpPr>
          <p:nvPr/>
        </p:nvSpPr>
        <p:spPr>
          <a:xfrm xmlns:a="http://schemas.openxmlformats.org/drawingml/2006/main">
            <a:off x="4305300" y="558165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27083"/>
                </a:solidFill>
              </a:defRPr>
            </a:pPr>
            <a:r>
              <a:rPr sz="1350" b="0">
                <a:solidFill>
                  <a:srgbClr val="627083"/>
                </a:solidFill>
              </a:rPr>
              <a:t>4.00/4</a:t>
            </a:r>
          </a:p>
        </p:txBody>
      </p:sp>
      <p:sp>
        <p:nvSpPr>
          <p:cNvPr id="28" name="">
            <a:extLst xmlns:a="http://schemas.openxmlformats.org/drawingml/2006/main">
              <a:ext uri="{FF2B5EF4-FFF2-40B4-BE49-F238E27FC236}">
                <a16:creationId xmlns:a16="http://schemas.microsoft.com/office/drawing/2014/main" id="{BF4623AE-8B6F-4D8E-825F-27AF831E0C19}"/>
              </a:ext>
            </a:extLst>
          </p:cNvPr>
          <p:cNvSpPr>
            <a:spLocks xmlns:a="http://schemas.openxmlformats.org/drawingml/2006/main" noGrp="1"/>
          </p:cNvSpPr>
          <p:nvPr/>
        </p:nvSpPr>
        <p:spPr>
          <a:xfrm xmlns:a="http://schemas.openxmlformats.org/drawingml/2006/main">
            <a:off x="7490460" y="5442585"/>
            <a:ext cx="330708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C"/>
            </a:solidFill>
            <a:prstDash val="solid"/>
          </a:ln>
        </p:spPr>
      </p:sp>
      <p:sp>
        <p:nvSpPr>
          <p:cNvPr id="29" name="">
            <a:extLst xmlns:a="http://schemas.openxmlformats.org/drawingml/2006/main">
              <a:ext uri="{FF2B5EF4-FFF2-40B4-BE49-F238E27FC236}">
                <a16:creationId xmlns:a16="http://schemas.microsoft.com/office/drawing/2014/main" id="{A76BE138-5416-4543-B0CB-8211F408C83B}"/>
              </a:ext>
            </a:extLst>
          </p:cNvPr>
          <p:cNvSpPr>
            <a:spLocks xmlns:a="http://schemas.openxmlformats.org/drawingml/2006/main" noGrp="1"/>
          </p:cNvSpPr>
          <p:nvPr/>
        </p:nvSpPr>
        <p:spPr>
          <a:xfrm xmlns:a="http://schemas.openxmlformats.org/drawingml/2006/main">
            <a:off x="7600950" y="558165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27083"/>
                </a:solidFill>
              </a:defRPr>
            </a:pPr>
            <a:r>
              <a:rPr sz="1350" b="0">
                <a:solidFill>
                  <a:srgbClr val="627083"/>
                </a:solidFill>
              </a:rPr>
              <a:t>100.0%</a:t>
            </a:r>
          </a:p>
        </p:txBody>
      </p:sp>
      <p:sp>
        <p:nvSpPr>
          <p:cNvPr id="30" name="">
            <a:extLst xmlns:a="http://schemas.openxmlformats.org/drawingml/2006/main">
              <a:ext uri="{FF2B5EF4-FFF2-40B4-BE49-F238E27FC236}">
                <a16:creationId xmlns:a16="http://schemas.microsoft.com/office/drawing/2014/main" id="{FB1D3614-F24A-4FC8-B905-703237664001}"/>
              </a:ext>
            </a:extLst>
          </p:cNvPr>
          <p:cNvSpPr>
            <a:spLocks xmlns:a="http://schemas.openxmlformats.org/drawingml/2006/main" noGrp="1"/>
          </p:cNvSpPr>
          <p:nvPr/>
        </p:nvSpPr>
        <p:spPr>
          <a:xfrm xmlns:a="http://schemas.openxmlformats.org/drawingml/2006/main">
            <a:off x="10797540" y="5442585"/>
            <a:ext cx="330708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C"/>
            </a:solidFill>
            <a:prstDash val="solid"/>
          </a:ln>
        </p:spPr>
      </p:sp>
      <p:sp>
        <p:nvSpPr>
          <p:cNvPr id="31" name="">
            <a:extLst xmlns:a="http://schemas.openxmlformats.org/drawingml/2006/main">
              <a:ext uri="{FF2B5EF4-FFF2-40B4-BE49-F238E27FC236}">
                <a16:creationId xmlns:a16="http://schemas.microsoft.com/office/drawing/2014/main" id="{CAD55B62-1AC3-4A25-A8B9-A8BDF77CAA11}"/>
              </a:ext>
            </a:extLst>
          </p:cNvPr>
          <p:cNvSpPr>
            <a:spLocks xmlns:a="http://schemas.openxmlformats.org/drawingml/2006/main" noGrp="1"/>
          </p:cNvSpPr>
          <p:nvPr/>
        </p:nvSpPr>
        <p:spPr>
          <a:xfrm xmlns:a="http://schemas.openxmlformats.org/drawingml/2006/main">
            <a:off x="10915650" y="558165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27083"/>
                </a:solidFill>
              </a:defRPr>
            </a:pPr>
            <a:r>
              <a:rPr sz="1350" b="0">
                <a:solidFill>
                  <a:srgbClr val="627083"/>
                </a:solidFill>
              </a:rPr>
              <a:t>16.4</a:t>
            </a:r>
          </a:p>
        </p:txBody>
      </p:sp>
      <p:sp>
        <p:nvSpPr>
          <p:cNvPr id="32" name="">
            <a:extLst xmlns:a="http://schemas.openxmlformats.org/drawingml/2006/main">
              <a:ext uri="{FF2B5EF4-FFF2-40B4-BE49-F238E27FC236}">
                <a16:creationId xmlns:a16="http://schemas.microsoft.com/office/drawing/2014/main" id="{9035690A-CAA2-486E-9C98-6C692B12DF6C}"/>
              </a:ext>
            </a:extLst>
          </p:cNvPr>
          <p:cNvSpPr>
            <a:spLocks xmlns:a="http://schemas.openxmlformats.org/drawingml/2006/main" noGrp="1"/>
          </p:cNvSpPr>
          <p:nvPr/>
        </p:nvSpPr>
        <p:spPr>
          <a:xfrm xmlns:a="http://schemas.openxmlformats.org/drawingml/2006/main">
            <a:off x="14104620" y="5442585"/>
            <a:ext cx="330708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C"/>
            </a:solidFill>
            <a:prstDash val="solid"/>
          </a:ln>
        </p:spPr>
      </p:sp>
      <p:sp>
        <p:nvSpPr>
          <p:cNvPr id="33" name="">
            <a:extLst xmlns:a="http://schemas.openxmlformats.org/drawingml/2006/main">
              <a:ext uri="{FF2B5EF4-FFF2-40B4-BE49-F238E27FC236}">
                <a16:creationId xmlns:a16="http://schemas.microsoft.com/office/drawing/2014/main" id="{DD555348-FE10-4932-B334-1C502A32DB5E}"/>
              </a:ext>
            </a:extLst>
          </p:cNvPr>
          <p:cNvSpPr>
            <a:spLocks xmlns:a="http://schemas.openxmlformats.org/drawingml/2006/main" noGrp="1"/>
          </p:cNvSpPr>
          <p:nvPr/>
        </p:nvSpPr>
        <p:spPr>
          <a:xfrm xmlns:a="http://schemas.openxmlformats.org/drawingml/2006/main">
            <a:off x="14211300" y="558165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27083"/>
                </a:solidFill>
              </a:defRPr>
            </a:pPr>
            <a:r>
              <a:rPr sz="1350" b="0">
                <a:solidFill>
                  <a:srgbClr val="627083"/>
                </a:solidFill>
              </a:rPr>
              <a:t>81.3%</a:t>
            </a:r>
          </a:p>
        </p:txBody>
      </p:sp>
      <p:sp>
        <p:nvSpPr>
          <p:cNvPr id="34" name="">
            <a:extLst xmlns:a="http://schemas.openxmlformats.org/drawingml/2006/main">
              <a:ext uri="{FF2B5EF4-FFF2-40B4-BE49-F238E27FC236}">
                <a16:creationId xmlns:a16="http://schemas.microsoft.com/office/drawing/2014/main" id="{D911AC3B-8114-43D0-8C4A-B8B50F7D5168}"/>
              </a:ext>
            </a:extLst>
          </p:cNvPr>
          <p:cNvSpPr>
            <a:spLocks xmlns:a="http://schemas.openxmlformats.org/drawingml/2006/main" noGrp="1"/>
          </p:cNvSpPr>
          <p:nvPr/>
        </p:nvSpPr>
        <p:spPr>
          <a:xfrm xmlns:a="http://schemas.openxmlformats.org/drawingml/2006/main">
            <a:off x="876300" y="6033135"/>
            <a:ext cx="3307080" cy="590550"/>
          </a:xfrm>
          <a:prstGeom xmlns:a="http://schemas.openxmlformats.org/drawingml/2006/main" prst="rect">
            <a:avLst/>
          </a:prstGeom>
          <a:solidFill xmlns:a="http://schemas.openxmlformats.org/drawingml/2006/main">
            <a:srgbClr val="FAFBFD"/>
          </a:solidFill>
          <a:ln xmlns:a="http://schemas.openxmlformats.org/drawingml/2006/main" w="9525">
            <a:solidFill>
              <a:srgbClr val="DCE3EC"/>
            </a:solidFill>
            <a:prstDash val="solid"/>
          </a:ln>
        </p:spPr>
      </p:sp>
      <p:sp>
        <p:nvSpPr>
          <p:cNvPr id="35" name="">
            <a:extLst xmlns:a="http://schemas.openxmlformats.org/drawingml/2006/main">
              <a:ext uri="{FF2B5EF4-FFF2-40B4-BE49-F238E27FC236}">
                <a16:creationId xmlns:a16="http://schemas.microsoft.com/office/drawing/2014/main" id="{8FB90DF9-D72F-42FB-A913-AADB3A2829F3}"/>
              </a:ext>
            </a:extLst>
          </p:cNvPr>
          <p:cNvSpPr>
            <a:spLocks xmlns:a="http://schemas.openxmlformats.org/drawingml/2006/main" noGrp="1"/>
          </p:cNvSpPr>
          <p:nvPr/>
        </p:nvSpPr>
        <p:spPr>
          <a:xfrm xmlns:a="http://schemas.openxmlformats.org/drawingml/2006/main">
            <a:off x="990600" y="617220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152033"/>
                </a:solidFill>
              </a:defRPr>
            </a:pPr>
            <a:r>
              <a:rPr sz="1350" b="1">
                <a:solidFill>
                  <a:srgbClr val="152033"/>
                </a:solidFill>
              </a:rPr>
              <a:t>Random baseline</a:t>
            </a:r>
          </a:p>
        </p:txBody>
      </p:sp>
      <p:sp>
        <p:nvSpPr>
          <p:cNvPr id="36" name="">
            <a:extLst xmlns:a="http://schemas.openxmlformats.org/drawingml/2006/main">
              <a:ext uri="{FF2B5EF4-FFF2-40B4-BE49-F238E27FC236}">
                <a16:creationId xmlns:a16="http://schemas.microsoft.com/office/drawing/2014/main" id="{D9609452-3C59-476D-B9DE-357A3F66F673}"/>
              </a:ext>
            </a:extLst>
          </p:cNvPr>
          <p:cNvSpPr>
            <a:spLocks xmlns:a="http://schemas.openxmlformats.org/drawingml/2006/main" noGrp="1"/>
          </p:cNvSpPr>
          <p:nvPr/>
        </p:nvSpPr>
        <p:spPr>
          <a:xfrm xmlns:a="http://schemas.openxmlformats.org/drawingml/2006/main">
            <a:off x="4183380" y="6033135"/>
            <a:ext cx="330708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C"/>
            </a:solidFill>
            <a:prstDash val="solid"/>
          </a:ln>
        </p:spPr>
      </p:sp>
      <p:sp>
        <p:nvSpPr>
          <p:cNvPr id="37" name="">
            <a:extLst xmlns:a="http://schemas.openxmlformats.org/drawingml/2006/main">
              <a:ext uri="{FF2B5EF4-FFF2-40B4-BE49-F238E27FC236}">
                <a16:creationId xmlns:a16="http://schemas.microsoft.com/office/drawing/2014/main" id="{7B21F3D9-5E98-4A93-AC04-6C05A079391C}"/>
              </a:ext>
            </a:extLst>
          </p:cNvPr>
          <p:cNvSpPr>
            <a:spLocks xmlns:a="http://schemas.openxmlformats.org/drawingml/2006/main" noGrp="1"/>
          </p:cNvSpPr>
          <p:nvPr/>
        </p:nvSpPr>
        <p:spPr>
          <a:xfrm xmlns:a="http://schemas.openxmlformats.org/drawingml/2006/main">
            <a:off x="4305300" y="617220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27083"/>
                </a:solidFill>
              </a:defRPr>
            </a:pPr>
            <a:r>
              <a:rPr sz="1350" b="0">
                <a:solidFill>
                  <a:srgbClr val="627083"/>
                </a:solidFill>
              </a:rPr>
              <a:t>4.00/4</a:t>
            </a:r>
          </a:p>
        </p:txBody>
      </p:sp>
      <p:sp>
        <p:nvSpPr>
          <p:cNvPr id="38" name="">
            <a:extLst xmlns:a="http://schemas.openxmlformats.org/drawingml/2006/main">
              <a:ext uri="{FF2B5EF4-FFF2-40B4-BE49-F238E27FC236}">
                <a16:creationId xmlns:a16="http://schemas.microsoft.com/office/drawing/2014/main" id="{5960FCDF-5F22-487F-B563-8350871E773E}"/>
              </a:ext>
            </a:extLst>
          </p:cNvPr>
          <p:cNvSpPr>
            <a:spLocks xmlns:a="http://schemas.openxmlformats.org/drawingml/2006/main" noGrp="1"/>
          </p:cNvSpPr>
          <p:nvPr/>
        </p:nvSpPr>
        <p:spPr>
          <a:xfrm xmlns:a="http://schemas.openxmlformats.org/drawingml/2006/main">
            <a:off x="7490460" y="6033135"/>
            <a:ext cx="330708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C"/>
            </a:solidFill>
            <a:prstDash val="solid"/>
          </a:ln>
        </p:spPr>
      </p:sp>
      <p:sp>
        <p:nvSpPr>
          <p:cNvPr id="39" name="">
            <a:extLst xmlns:a="http://schemas.openxmlformats.org/drawingml/2006/main">
              <a:ext uri="{FF2B5EF4-FFF2-40B4-BE49-F238E27FC236}">
                <a16:creationId xmlns:a16="http://schemas.microsoft.com/office/drawing/2014/main" id="{A2AC08BA-DCA1-417E-BA43-8FD5FA98CB8E}"/>
              </a:ext>
            </a:extLst>
          </p:cNvPr>
          <p:cNvSpPr>
            <a:spLocks xmlns:a="http://schemas.openxmlformats.org/drawingml/2006/main" noGrp="1"/>
          </p:cNvSpPr>
          <p:nvPr/>
        </p:nvSpPr>
        <p:spPr>
          <a:xfrm xmlns:a="http://schemas.openxmlformats.org/drawingml/2006/main">
            <a:off x="7600950" y="617220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27083"/>
                </a:solidFill>
              </a:defRPr>
            </a:pPr>
            <a:r>
              <a:rPr sz="1350" b="0">
                <a:solidFill>
                  <a:srgbClr val="627083"/>
                </a:solidFill>
              </a:rPr>
              <a:t>100.0%</a:t>
            </a:r>
          </a:p>
        </p:txBody>
      </p:sp>
      <p:sp>
        <p:nvSpPr>
          <p:cNvPr id="40" name="">
            <a:extLst xmlns:a="http://schemas.openxmlformats.org/drawingml/2006/main">
              <a:ext uri="{FF2B5EF4-FFF2-40B4-BE49-F238E27FC236}">
                <a16:creationId xmlns:a16="http://schemas.microsoft.com/office/drawing/2014/main" id="{42EED823-CEC6-4F2E-90E2-FEF8F771D17F}"/>
              </a:ext>
            </a:extLst>
          </p:cNvPr>
          <p:cNvSpPr>
            <a:spLocks xmlns:a="http://schemas.openxmlformats.org/drawingml/2006/main" noGrp="1"/>
          </p:cNvSpPr>
          <p:nvPr/>
        </p:nvSpPr>
        <p:spPr>
          <a:xfrm xmlns:a="http://schemas.openxmlformats.org/drawingml/2006/main">
            <a:off x="10797540" y="6033135"/>
            <a:ext cx="330708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C"/>
            </a:solidFill>
            <a:prstDash val="solid"/>
          </a:ln>
        </p:spPr>
      </p:sp>
      <p:sp>
        <p:nvSpPr>
          <p:cNvPr id="41" name="">
            <a:extLst xmlns:a="http://schemas.openxmlformats.org/drawingml/2006/main">
              <a:ext uri="{FF2B5EF4-FFF2-40B4-BE49-F238E27FC236}">
                <a16:creationId xmlns:a16="http://schemas.microsoft.com/office/drawing/2014/main" id="{1F981DA2-1742-42F3-A095-2609F2224D0F}"/>
              </a:ext>
            </a:extLst>
          </p:cNvPr>
          <p:cNvSpPr>
            <a:spLocks xmlns:a="http://schemas.openxmlformats.org/drawingml/2006/main" noGrp="1"/>
          </p:cNvSpPr>
          <p:nvPr/>
        </p:nvSpPr>
        <p:spPr>
          <a:xfrm xmlns:a="http://schemas.openxmlformats.org/drawingml/2006/main">
            <a:off x="10915650" y="617220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27083"/>
                </a:solidFill>
              </a:defRPr>
            </a:pPr>
            <a:r>
              <a:rPr sz="1350" b="0">
                <a:solidFill>
                  <a:srgbClr val="627083"/>
                </a:solidFill>
              </a:rPr>
              <a:t>16.0</a:t>
            </a:r>
          </a:p>
        </p:txBody>
      </p:sp>
      <p:sp>
        <p:nvSpPr>
          <p:cNvPr id="42" name="">
            <a:extLst xmlns:a="http://schemas.openxmlformats.org/drawingml/2006/main">
              <a:ext uri="{FF2B5EF4-FFF2-40B4-BE49-F238E27FC236}">
                <a16:creationId xmlns:a16="http://schemas.microsoft.com/office/drawing/2014/main" id="{E7DF1888-B4D7-4A8B-B75E-65C35815E5DF}"/>
              </a:ext>
            </a:extLst>
          </p:cNvPr>
          <p:cNvSpPr>
            <a:spLocks xmlns:a="http://schemas.openxmlformats.org/drawingml/2006/main" noGrp="1"/>
          </p:cNvSpPr>
          <p:nvPr/>
        </p:nvSpPr>
        <p:spPr>
          <a:xfrm xmlns:a="http://schemas.openxmlformats.org/drawingml/2006/main">
            <a:off x="14104620" y="6033135"/>
            <a:ext cx="330708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CE3EC"/>
            </a:solidFill>
            <a:prstDash val="solid"/>
          </a:ln>
        </p:spPr>
      </p:sp>
      <p:sp>
        <p:nvSpPr>
          <p:cNvPr id="43" name="">
            <a:extLst xmlns:a="http://schemas.openxmlformats.org/drawingml/2006/main">
              <a:ext uri="{FF2B5EF4-FFF2-40B4-BE49-F238E27FC236}">
                <a16:creationId xmlns:a16="http://schemas.microsoft.com/office/drawing/2014/main" id="{2AB97939-FB62-409A-840E-2DFA2A52584B}"/>
              </a:ext>
            </a:extLst>
          </p:cNvPr>
          <p:cNvSpPr>
            <a:spLocks xmlns:a="http://schemas.openxmlformats.org/drawingml/2006/main" noGrp="1"/>
          </p:cNvSpPr>
          <p:nvPr/>
        </p:nvSpPr>
        <p:spPr>
          <a:xfrm xmlns:a="http://schemas.openxmlformats.org/drawingml/2006/main">
            <a:off x="14211300" y="6172200"/>
            <a:ext cx="30861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0">
                <a:solidFill>
                  <a:srgbClr val="627083"/>
                </a:solidFill>
              </a:defRPr>
            </a:pPr>
            <a:r>
              <a:rPr sz="1350" b="0">
                <a:solidFill>
                  <a:srgbClr val="627083"/>
                </a:solidFill>
              </a:rPr>
              <a:t>0.0%</a:t>
            </a:r>
          </a:p>
        </p:txBody>
      </p:sp>
      <p:sp>
        <p:nvSpPr>
          <p:cNvPr id="44" name="slide-subtitle">
            <a:extLst xmlns:a="http://schemas.openxmlformats.org/drawingml/2006/main">
              <a:ext uri="{FF2B5EF4-FFF2-40B4-BE49-F238E27FC236}">
                <a16:creationId xmlns:a16="http://schemas.microsoft.com/office/drawing/2014/main" id="{21F2DFE7-2E1B-4E2D-AE62-CA482FC1E4B4}"/>
              </a:ext>
            </a:extLst>
          </p:cNvPr>
          <p:cNvSpPr>
            <a:spLocks xmlns:a="http://schemas.openxmlformats.org/drawingml/2006/main" noGrp="1"/>
          </p:cNvSpPr>
          <p:nvPr/>
        </p:nvSpPr>
        <p:spPr>
          <a:xfrm xmlns:a="http://schemas.openxmlformats.org/drawingml/2006/main">
            <a:off x="876300" y="6877050"/>
            <a:ext cx="165354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627083"/>
                </a:solidFill>
              </a:defRPr>
            </a:pPr>
            <a:r>
              <a:rPr sz="1950">
                <a:solidFill>
                  <a:srgbClr val="627083"/>
                </a:solidFill>
              </a:rPr>
              <a:t>The key distinction is not score. It is predictable structure.</a:t>
            </a:r>
          </a:p>
        </p:txBody>
      </p:sp>
    </p:spTree>
    <p:extLst>
      <p:ext uri="{BB962C8B-B14F-4D97-AF65-F5344CB8AC3E}">
        <p14:creationId xmlns:p14="http://schemas.microsoft.com/office/powerpoint/2010/main" val="185280860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slide-root">
            <a:extLst xmlns:a="http://schemas.openxmlformats.org/drawingml/2006/main">
              <a:ext uri="{FF2B5EF4-FFF2-40B4-BE49-F238E27FC236}">
                <a16:creationId xmlns:a16="http://schemas.microsoft.com/office/drawing/2014/main" id="{35C75C76-54C9-4AEC-8575-9DB8F70949D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6F8FB"/>
          </a:solidFill>
        </p:spPr>
      </p:sp>
      <p:sp>
        <p:nvSpPr>
          <p:cNvPr id="2" name="">
            <a:extLst xmlns:a="http://schemas.openxmlformats.org/drawingml/2006/main">
              <a:ext uri="{FF2B5EF4-FFF2-40B4-BE49-F238E27FC236}">
                <a16:creationId xmlns:a16="http://schemas.microsoft.com/office/drawing/2014/main" id="{EFA2A3A2-4387-47F7-ABB8-62C66C5CD0A8}"/>
              </a:ext>
            </a:extLst>
          </p:cNvPr>
          <p:cNvSpPr>
            <a:spLocks xmlns:a="http://schemas.openxmlformats.org/drawingml/2006/main" noGrp="1"/>
          </p:cNvSpPr>
          <p:nvPr/>
        </p:nvSpPr>
        <p:spPr>
          <a:xfrm xmlns:a="http://schemas.openxmlformats.org/drawingml/2006/main">
            <a:off x="876300" y="4095750"/>
            <a:ext cx="79819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0796B"/>
                </a:solidFill>
              </a:defRPr>
            </a:pPr>
            <a:r>
              <a:rPr sz="1275" b="1">
                <a:solidFill>
                  <a:srgbClr val="00796B"/>
                </a:solidFill>
              </a:rPr>
              <a:t>Live Demo</a:t>
            </a:r>
          </a:p>
        </p:txBody>
      </p:sp>
      <p:sp>
        <p:nvSpPr>
          <p:cNvPr id="3" name="slide-title">
            <a:extLst xmlns:a="http://schemas.openxmlformats.org/drawingml/2006/main">
              <a:ext uri="{FF2B5EF4-FFF2-40B4-BE49-F238E27FC236}">
                <a16:creationId xmlns:a16="http://schemas.microsoft.com/office/drawing/2014/main" id="{35835CD0-CB86-4A8A-BAF7-1CC269D85AA9}"/>
              </a:ext>
            </a:extLst>
          </p:cNvPr>
          <p:cNvSpPr>
            <a:spLocks xmlns:a="http://schemas.openxmlformats.org/drawingml/2006/main" noGrp="1"/>
          </p:cNvSpPr>
          <p:nvPr/>
        </p:nvSpPr>
        <p:spPr>
          <a:xfrm xmlns:a="http://schemas.openxmlformats.org/drawingml/2006/main">
            <a:off x="876300" y="4495800"/>
            <a:ext cx="7981950" cy="12001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900" b="1">
                <a:solidFill>
                  <a:srgbClr val="152033"/>
                </a:solidFill>
              </a:defRPr>
            </a:pPr>
            <a:r>
              <a:rPr sz="3900" b="1">
                <a:solidFill>
                  <a:srgbClr val="152033"/>
                </a:solidFill>
              </a:rPr>
              <a:t>The Flask app is a simple password lab.</a:t>
            </a:r>
          </a:p>
        </p:txBody>
      </p:sp>
      <p:sp>
        <p:nvSpPr>
          <p:cNvPr id="4" name="slide-subtitle">
            <a:extLst xmlns:a="http://schemas.openxmlformats.org/drawingml/2006/main">
              <a:ext uri="{FF2B5EF4-FFF2-40B4-BE49-F238E27FC236}">
                <a16:creationId xmlns:a16="http://schemas.microsoft.com/office/drawing/2014/main" id="{029DF605-5F0F-4823-8E24-967DE97C9112}"/>
              </a:ext>
            </a:extLst>
          </p:cNvPr>
          <p:cNvSpPr>
            <a:spLocks xmlns:a="http://schemas.openxmlformats.org/drawingml/2006/main" noGrp="1"/>
          </p:cNvSpPr>
          <p:nvPr/>
        </p:nvSpPr>
        <p:spPr>
          <a:xfrm xmlns:a="http://schemas.openxmlformats.org/drawingml/2006/main">
            <a:off x="876300" y="5905500"/>
            <a:ext cx="79819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627083"/>
                </a:solidFill>
              </a:defRPr>
            </a:pPr>
            <a:r>
              <a:rPr sz="1950">
                <a:solidFill>
                  <a:srgbClr val="627083"/>
                </a:solidFill>
              </a:rPr>
              <a:t>It is designed to be usable, not report-like.</a:t>
            </a:r>
          </a:p>
        </p:txBody>
      </p:sp>
      <p:sp>
        <p:nvSpPr>
          <p:cNvPr id="5" name="">
            <a:extLst xmlns:a="http://schemas.openxmlformats.org/drawingml/2006/main">
              <a:ext uri="{FF2B5EF4-FFF2-40B4-BE49-F238E27FC236}">
                <a16:creationId xmlns:a16="http://schemas.microsoft.com/office/drawing/2014/main" id="{26547373-8F70-4D18-99EC-7F7A9010D0A6}"/>
              </a:ext>
            </a:extLst>
          </p:cNvPr>
          <p:cNvSpPr>
            <a:spLocks xmlns:a="http://schemas.openxmlformats.org/drawingml/2006/main" noGrp="1"/>
          </p:cNvSpPr>
          <p:nvPr/>
        </p:nvSpPr>
        <p:spPr>
          <a:xfrm xmlns:a="http://schemas.openxmlformats.org/drawingml/2006/main">
            <a:off x="9429750" y="407670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6" name="">
            <a:extLst xmlns:a="http://schemas.openxmlformats.org/drawingml/2006/main">
              <a:ext uri="{FF2B5EF4-FFF2-40B4-BE49-F238E27FC236}">
                <a16:creationId xmlns:a16="http://schemas.microsoft.com/office/drawing/2014/main" id="{1409263A-9F7E-456C-8A97-38C4C3AD3BC1}"/>
              </a:ext>
            </a:extLst>
          </p:cNvPr>
          <p:cNvSpPr>
            <a:spLocks xmlns:a="http://schemas.openxmlformats.org/drawingml/2006/main" noGrp="1"/>
          </p:cNvSpPr>
          <p:nvPr/>
        </p:nvSpPr>
        <p:spPr>
          <a:xfrm xmlns:a="http://schemas.openxmlformats.org/drawingml/2006/main">
            <a:off x="9734550" y="4076700"/>
            <a:ext cx="7677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Check a password</a:t>
            </a:r>
          </a:p>
        </p:txBody>
      </p:sp>
      <p:sp>
        <p:nvSpPr>
          <p:cNvPr id="7" name="">
            <a:extLst xmlns:a="http://schemas.openxmlformats.org/drawingml/2006/main">
              <a:ext uri="{FF2B5EF4-FFF2-40B4-BE49-F238E27FC236}">
                <a16:creationId xmlns:a16="http://schemas.microsoft.com/office/drawing/2014/main" id="{E723F232-B8F4-46C5-8DB7-D6D864F45AF2}"/>
              </a:ext>
            </a:extLst>
          </p:cNvPr>
          <p:cNvSpPr>
            <a:spLocks xmlns:a="http://schemas.openxmlformats.org/drawingml/2006/main" noGrp="1"/>
          </p:cNvSpPr>
          <p:nvPr/>
        </p:nvSpPr>
        <p:spPr>
          <a:xfrm xmlns:a="http://schemas.openxmlformats.org/drawingml/2006/main">
            <a:off x="9734550" y="4419600"/>
            <a:ext cx="76771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Show zxcvbn score and detected features.</a:t>
            </a:r>
          </a:p>
        </p:txBody>
      </p:sp>
      <p:sp>
        <p:nvSpPr>
          <p:cNvPr id="8" name="">
            <a:extLst xmlns:a="http://schemas.openxmlformats.org/drawingml/2006/main">
              <a:ext uri="{FF2B5EF4-FFF2-40B4-BE49-F238E27FC236}">
                <a16:creationId xmlns:a16="http://schemas.microsoft.com/office/drawing/2014/main" id="{A928FC27-CB09-4C58-A512-F01D52458003}"/>
              </a:ext>
            </a:extLst>
          </p:cNvPr>
          <p:cNvSpPr>
            <a:spLocks xmlns:a="http://schemas.openxmlformats.org/drawingml/2006/main" noGrp="1"/>
          </p:cNvSpPr>
          <p:nvPr/>
        </p:nvSpPr>
        <p:spPr>
          <a:xfrm xmlns:a="http://schemas.openxmlformats.org/drawingml/2006/main">
            <a:off x="9429750" y="485394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9" name="">
            <a:extLst xmlns:a="http://schemas.openxmlformats.org/drawingml/2006/main">
              <a:ext uri="{FF2B5EF4-FFF2-40B4-BE49-F238E27FC236}">
                <a16:creationId xmlns:a16="http://schemas.microsoft.com/office/drawing/2014/main" id="{2EAE2756-CB08-4E17-BCC6-CE100E942FBD}"/>
              </a:ext>
            </a:extLst>
          </p:cNvPr>
          <p:cNvSpPr>
            <a:spLocks xmlns:a="http://schemas.openxmlformats.org/drawingml/2006/main" noGrp="1"/>
          </p:cNvSpPr>
          <p:nvPr/>
        </p:nvSpPr>
        <p:spPr>
          <a:xfrm xmlns:a="http://schemas.openxmlformats.org/drawingml/2006/main">
            <a:off x="9734550" y="4857750"/>
            <a:ext cx="7677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Generate 5</a:t>
            </a:r>
          </a:p>
        </p:txBody>
      </p:sp>
      <p:sp>
        <p:nvSpPr>
          <p:cNvPr id="10" name="">
            <a:extLst xmlns:a="http://schemas.openxmlformats.org/drawingml/2006/main">
              <a:ext uri="{FF2B5EF4-FFF2-40B4-BE49-F238E27FC236}">
                <a16:creationId xmlns:a16="http://schemas.microsoft.com/office/drawing/2014/main" id="{28563F27-DB93-47AF-AD02-2B62347702C5}"/>
              </a:ext>
            </a:extLst>
          </p:cNvPr>
          <p:cNvSpPr>
            <a:spLocks xmlns:a="http://schemas.openxmlformats.org/drawingml/2006/main" noGrp="1"/>
          </p:cNvSpPr>
          <p:nvPr/>
        </p:nvSpPr>
        <p:spPr>
          <a:xfrm xmlns:a="http://schemas.openxmlformats.org/drawingml/2006/main">
            <a:off x="9734550" y="5200650"/>
            <a:ext cx="76771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Instant pattern-based demo outputs.</a:t>
            </a:r>
          </a:p>
        </p:txBody>
      </p:sp>
      <p:sp>
        <p:nvSpPr>
          <p:cNvPr id="11" name="">
            <a:extLst xmlns:a="http://schemas.openxmlformats.org/drawingml/2006/main">
              <a:ext uri="{FF2B5EF4-FFF2-40B4-BE49-F238E27FC236}">
                <a16:creationId xmlns:a16="http://schemas.microsoft.com/office/drawing/2014/main" id="{582775D2-1441-44A1-BFAF-7CD97A7100F9}"/>
              </a:ext>
            </a:extLst>
          </p:cNvPr>
          <p:cNvSpPr>
            <a:spLocks xmlns:a="http://schemas.openxmlformats.org/drawingml/2006/main" noGrp="1"/>
          </p:cNvSpPr>
          <p:nvPr/>
        </p:nvSpPr>
        <p:spPr>
          <a:xfrm xmlns:a="http://schemas.openxmlformats.org/drawingml/2006/main">
            <a:off x="9429750" y="563118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12" name="">
            <a:extLst xmlns:a="http://schemas.openxmlformats.org/drawingml/2006/main">
              <a:ext uri="{FF2B5EF4-FFF2-40B4-BE49-F238E27FC236}">
                <a16:creationId xmlns:a16="http://schemas.microsoft.com/office/drawing/2014/main" id="{E4C30766-CD1E-42B3-B174-BB196B239489}"/>
              </a:ext>
            </a:extLst>
          </p:cNvPr>
          <p:cNvSpPr>
            <a:spLocks xmlns:a="http://schemas.openxmlformats.org/drawingml/2006/main" noGrp="1"/>
          </p:cNvSpPr>
          <p:nvPr/>
        </p:nvSpPr>
        <p:spPr>
          <a:xfrm xmlns:a="http://schemas.openxmlformats.org/drawingml/2006/main">
            <a:off x="9734550" y="5638800"/>
            <a:ext cx="7677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Show evidence</a:t>
            </a:r>
          </a:p>
        </p:txBody>
      </p:sp>
      <p:sp>
        <p:nvSpPr>
          <p:cNvPr id="13" name="">
            <a:extLst xmlns:a="http://schemas.openxmlformats.org/drawingml/2006/main">
              <a:ext uri="{FF2B5EF4-FFF2-40B4-BE49-F238E27FC236}">
                <a16:creationId xmlns:a16="http://schemas.microsoft.com/office/drawing/2014/main" id="{17022266-D7B1-49F2-AF59-132EA53D3730}"/>
              </a:ext>
            </a:extLst>
          </p:cNvPr>
          <p:cNvSpPr>
            <a:spLocks xmlns:a="http://schemas.openxmlformats.org/drawingml/2006/main" noGrp="1"/>
          </p:cNvSpPr>
          <p:nvPr/>
        </p:nvSpPr>
        <p:spPr>
          <a:xfrm xmlns:a="http://schemas.openxmlformats.org/drawingml/2006/main">
            <a:off x="9734550" y="5981700"/>
            <a:ext cx="76771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Attack simulation, baseline table, samples, and CSV download.</a:t>
            </a:r>
          </a:p>
        </p:txBody>
      </p:sp>
    </p:spTree>
    <p:extLst>
      <p:ext uri="{BB962C8B-B14F-4D97-AF65-F5344CB8AC3E}">
        <p14:creationId xmlns:p14="http://schemas.microsoft.com/office/powerpoint/2010/main" val="957940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slide-root">
            <a:extLst xmlns:a="http://schemas.openxmlformats.org/drawingml/2006/main">
              <a:ext uri="{FF2B5EF4-FFF2-40B4-BE49-F238E27FC236}">
                <a16:creationId xmlns:a16="http://schemas.microsoft.com/office/drawing/2014/main" id="{83C71B5A-7A4C-4A5E-B304-5AC4DD63E1D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6F8FB"/>
          </a:solidFill>
        </p:spPr>
      </p:sp>
      <p:sp>
        <p:nvSpPr>
          <p:cNvPr id="2" name="">
            <a:extLst xmlns:a="http://schemas.openxmlformats.org/drawingml/2006/main">
              <a:ext uri="{FF2B5EF4-FFF2-40B4-BE49-F238E27FC236}">
                <a16:creationId xmlns:a16="http://schemas.microsoft.com/office/drawing/2014/main" id="{0FBBD5AD-A317-4B2C-B882-9EEF45C25CC3}"/>
              </a:ext>
            </a:extLst>
          </p:cNvPr>
          <p:cNvSpPr>
            <a:spLocks xmlns:a="http://schemas.openxmlformats.org/drawingml/2006/main" noGrp="1"/>
          </p:cNvSpPr>
          <p:nvPr/>
        </p:nvSpPr>
        <p:spPr>
          <a:xfrm xmlns:a="http://schemas.openxmlformats.org/drawingml/2006/main">
            <a:off x="876300" y="3962400"/>
            <a:ext cx="798195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75" b="1">
                <a:solidFill>
                  <a:srgbClr val="00796B"/>
                </a:solidFill>
              </a:defRPr>
            </a:pPr>
            <a:r>
              <a:rPr sz="1275" b="1">
                <a:solidFill>
                  <a:srgbClr val="00796B"/>
                </a:solidFill>
              </a:rPr>
              <a:t>Conclusion</a:t>
            </a:r>
          </a:p>
        </p:txBody>
      </p:sp>
      <p:sp>
        <p:nvSpPr>
          <p:cNvPr id="3" name="slide-title">
            <a:extLst xmlns:a="http://schemas.openxmlformats.org/drawingml/2006/main">
              <a:ext uri="{FF2B5EF4-FFF2-40B4-BE49-F238E27FC236}">
                <a16:creationId xmlns:a16="http://schemas.microsoft.com/office/drawing/2014/main" id="{ABB984CC-89FB-4D47-B9F3-022AEDAF1CE8}"/>
              </a:ext>
            </a:extLst>
          </p:cNvPr>
          <p:cNvSpPr>
            <a:spLocks xmlns:a="http://schemas.openxmlformats.org/drawingml/2006/main" noGrp="1"/>
          </p:cNvSpPr>
          <p:nvPr/>
        </p:nvSpPr>
        <p:spPr>
          <a:xfrm xmlns:a="http://schemas.openxmlformats.org/drawingml/2006/main">
            <a:off x="876300" y="4362450"/>
            <a:ext cx="7981950" cy="1143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3750" b="1">
                <a:solidFill>
                  <a:srgbClr val="152033"/>
                </a:solidFill>
              </a:defRPr>
            </a:pPr>
            <a:r>
              <a:rPr sz="3750" b="1">
                <a:solidFill>
                  <a:srgbClr val="152033"/>
                </a:solidFill>
              </a:rPr>
              <a:t>A high meter score is not the same as targeted-attack resistance.</a:t>
            </a:r>
          </a:p>
        </p:txBody>
      </p:sp>
      <p:sp>
        <p:nvSpPr>
          <p:cNvPr id="4" name="slide-subtitle">
            <a:extLst xmlns:a="http://schemas.openxmlformats.org/drawingml/2006/main">
              <a:ext uri="{FF2B5EF4-FFF2-40B4-BE49-F238E27FC236}">
                <a16:creationId xmlns:a16="http://schemas.microsoft.com/office/drawing/2014/main" id="{08E55FC6-92BB-4BDC-95EF-E1C344BAFCCC}"/>
              </a:ext>
            </a:extLst>
          </p:cNvPr>
          <p:cNvSpPr>
            <a:spLocks xmlns:a="http://schemas.openxmlformats.org/drawingml/2006/main" noGrp="1"/>
          </p:cNvSpPr>
          <p:nvPr/>
        </p:nvSpPr>
        <p:spPr>
          <a:xfrm xmlns:a="http://schemas.openxmlformats.org/drawingml/2006/main">
            <a:off x="876300" y="5715000"/>
            <a:ext cx="7981950" cy="609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a:solidFill>
                  <a:srgbClr val="627083"/>
                </a:solidFill>
              </a:defRPr>
            </a:pPr>
            <a:r>
              <a:rPr sz="1950">
                <a:solidFill>
                  <a:srgbClr val="627083"/>
                </a:solidFill>
              </a:rPr>
              <a:t>The project demonstrates a practical gap between meter scoring and predictable password generation.</a:t>
            </a:r>
          </a:p>
        </p:txBody>
      </p:sp>
      <p:sp>
        <p:nvSpPr>
          <p:cNvPr id="5" name="">
            <a:extLst xmlns:a="http://schemas.openxmlformats.org/drawingml/2006/main">
              <a:ext uri="{FF2B5EF4-FFF2-40B4-BE49-F238E27FC236}">
                <a16:creationId xmlns:a16="http://schemas.microsoft.com/office/drawing/2014/main" id="{E0ACBCF0-0749-4CE2-B319-A35CDF291E90}"/>
              </a:ext>
            </a:extLst>
          </p:cNvPr>
          <p:cNvSpPr>
            <a:spLocks xmlns:a="http://schemas.openxmlformats.org/drawingml/2006/main" noGrp="1"/>
          </p:cNvSpPr>
          <p:nvPr/>
        </p:nvSpPr>
        <p:spPr>
          <a:xfrm xmlns:a="http://schemas.openxmlformats.org/drawingml/2006/main">
            <a:off x="9429750" y="407670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6" name="">
            <a:extLst xmlns:a="http://schemas.openxmlformats.org/drawingml/2006/main">
              <a:ext uri="{FF2B5EF4-FFF2-40B4-BE49-F238E27FC236}">
                <a16:creationId xmlns:a16="http://schemas.microsoft.com/office/drawing/2014/main" id="{FDA4B75C-1748-483A-9B97-AF0F3E175FA8}"/>
              </a:ext>
            </a:extLst>
          </p:cNvPr>
          <p:cNvSpPr>
            <a:spLocks xmlns:a="http://schemas.openxmlformats.org/drawingml/2006/main" noGrp="1"/>
          </p:cNvSpPr>
          <p:nvPr/>
        </p:nvSpPr>
        <p:spPr>
          <a:xfrm xmlns:a="http://schemas.openxmlformats.org/drawingml/2006/main">
            <a:off x="9734550" y="4076700"/>
            <a:ext cx="7677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Limitations</a:t>
            </a:r>
          </a:p>
        </p:txBody>
      </p:sp>
      <p:sp>
        <p:nvSpPr>
          <p:cNvPr id="7" name="">
            <a:extLst xmlns:a="http://schemas.openxmlformats.org/drawingml/2006/main">
              <a:ext uri="{FF2B5EF4-FFF2-40B4-BE49-F238E27FC236}">
                <a16:creationId xmlns:a16="http://schemas.microsoft.com/office/drawing/2014/main" id="{74AC3A0E-1F4E-4742-83D2-85B887E7D0D3}"/>
              </a:ext>
            </a:extLst>
          </p:cNvPr>
          <p:cNvSpPr>
            <a:spLocks xmlns:a="http://schemas.openxmlformats.org/drawingml/2006/main" noGrp="1"/>
          </p:cNvSpPr>
          <p:nvPr/>
        </p:nvSpPr>
        <p:spPr>
          <a:xfrm xmlns:a="http://schemas.openxmlformats.org/drawingml/2006/main">
            <a:off x="9734550" y="4419600"/>
            <a:ext cx="76771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Mostly zxcvbn; no full Hashcat benchmark yet.</a:t>
            </a:r>
          </a:p>
        </p:txBody>
      </p:sp>
      <p:sp>
        <p:nvSpPr>
          <p:cNvPr id="8" name="">
            <a:extLst xmlns:a="http://schemas.openxmlformats.org/drawingml/2006/main">
              <a:ext uri="{FF2B5EF4-FFF2-40B4-BE49-F238E27FC236}">
                <a16:creationId xmlns:a16="http://schemas.microsoft.com/office/drawing/2014/main" id="{2B930828-493D-4460-9AB4-763C9735F789}"/>
              </a:ext>
            </a:extLst>
          </p:cNvPr>
          <p:cNvSpPr>
            <a:spLocks xmlns:a="http://schemas.openxmlformats.org/drawingml/2006/main" noGrp="1"/>
          </p:cNvSpPr>
          <p:nvPr/>
        </p:nvSpPr>
        <p:spPr>
          <a:xfrm xmlns:a="http://schemas.openxmlformats.org/drawingml/2006/main">
            <a:off x="9429750" y="485394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9" name="">
            <a:extLst xmlns:a="http://schemas.openxmlformats.org/drawingml/2006/main">
              <a:ext uri="{FF2B5EF4-FFF2-40B4-BE49-F238E27FC236}">
                <a16:creationId xmlns:a16="http://schemas.microsoft.com/office/drawing/2014/main" id="{0184D1B1-4667-404F-BA94-A6694B5BE97F}"/>
              </a:ext>
            </a:extLst>
          </p:cNvPr>
          <p:cNvSpPr>
            <a:spLocks xmlns:a="http://schemas.openxmlformats.org/drawingml/2006/main" noGrp="1"/>
          </p:cNvSpPr>
          <p:nvPr/>
        </p:nvSpPr>
        <p:spPr>
          <a:xfrm xmlns:a="http://schemas.openxmlformats.org/drawingml/2006/main">
            <a:off x="9734550" y="4857750"/>
            <a:ext cx="7677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Future work</a:t>
            </a:r>
          </a:p>
        </p:txBody>
      </p:sp>
      <p:sp>
        <p:nvSpPr>
          <p:cNvPr id="10" name="">
            <a:extLst xmlns:a="http://schemas.openxmlformats.org/drawingml/2006/main">
              <a:ext uri="{FF2B5EF4-FFF2-40B4-BE49-F238E27FC236}">
                <a16:creationId xmlns:a16="http://schemas.microsoft.com/office/drawing/2014/main" id="{6A4AAC26-6AB0-42B8-9F29-9A01898B2254}"/>
              </a:ext>
            </a:extLst>
          </p:cNvPr>
          <p:cNvSpPr>
            <a:spLocks xmlns:a="http://schemas.openxmlformats.org/drawingml/2006/main" noGrp="1"/>
          </p:cNvSpPr>
          <p:nvPr/>
        </p:nvSpPr>
        <p:spPr>
          <a:xfrm xmlns:a="http://schemas.openxmlformats.org/drawingml/2006/main">
            <a:off x="9734550" y="5200650"/>
            <a:ext cx="76771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Test more meters and run real cracking experiments.</a:t>
            </a:r>
          </a:p>
        </p:txBody>
      </p:sp>
      <p:sp>
        <p:nvSpPr>
          <p:cNvPr id="11" name="">
            <a:extLst xmlns:a="http://schemas.openxmlformats.org/drawingml/2006/main">
              <a:ext uri="{FF2B5EF4-FFF2-40B4-BE49-F238E27FC236}">
                <a16:creationId xmlns:a16="http://schemas.microsoft.com/office/drawing/2014/main" id="{CEF99817-8455-48DB-8DCF-7C0CE9F99AD5}"/>
              </a:ext>
            </a:extLst>
          </p:cNvPr>
          <p:cNvSpPr>
            <a:spLocks xmlns:a="http://schemas.openxmlformats.org/drawingml/2006/main" noGrp="1"/>
          </p:cNvSpPr>
          <p:nvPr/>
        </p:nvSpPr>
        <p:spPr>
          <a:xfrm xmlns:a="http://schemas.openxmlformats.org/drawingml/2006/main">
            <a:off x="9429750" y="5631180"/>
            <a:ext cx="133350" cy="133350"/>
          </a:xfrm>
          <a:prstGeom xmlns:a="http://schemas.openxmlformats.org/drawingml/2006/main" prst="roundRect">
            <a:avLst>
              <a:gd name="adj" fmla="val 50000"/>
            </a:avLst>
          </a:prstGeom>
          <a:solidFill xmlns:a="http://schemas.openxmlformats.org/drawingml/2006/main">
            <a:srgbClr val="185ABC"/>
          </a:solidFill>
        </p:spPr>
      </p:sp>
      <p:sp>
        <p:nvSpPr>
          <p:cNvPr id="12" name="">
            <a:extLst xmlns:a="http://schemas.openxmlformats.org/drawingml/2006/main">
              <a:ext uri="{FF2B5EF4-FFF2-40B4-BE49-F238E27FC236}">
                <a16:creationId xmlns:a16="http://schemas.microsoft.com/office/drawing/2014/main" id="{5F9E2232-0FFC-4059-B21D-583D8C884B25}"/>
              </a:ext>
            </a:extLst>
          </p:cNvPr>
          <p:cNvSpPr>
            <a:spLocks xmlns:a="http://schemas.openxmlformats.org/drawingml/2006/main" noGrp="1"/>
          </p:cNvSpPr>
          <p:nvPr/>
        </p:nvSpPr>
        <p:spPr>
          <a:xfrm xmlns:a="http://schemas.openxmlformats.org/drawingml/2006/main">
            <a:off x="9734550" y="5638800"/>
            <a:ext cx="767715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025" b="1">
                <a:solidFill>
                  <a:srgbClr val="152033"/>
                </a:solidFill>
              </a:defRPr>
            </a:pPr>
            <a:r>
              <a:rPr sz="2025" b="1">
                <a:solidFill>
                  <a:srgbClr val="152033"/>
                </a:solidFill>
              </a:rPr>
              <a:t>Takeaway</a:t>
            </a:r>
          </a:p>
        </p:txBody>
      </p:sp>
      <p:sp>
        <p:nvSpPr>
          <p:cNvPr id="13" name="">
            <a:extLst xmlns:a="http://schemas.openxmlformats.org/drawingml/2006/main">
              <a:ext uri="{FF2B5EF4-FFF2-40B4-BE49-F238E27FC236}">
                <a16:creationId xmlns:a16="http://schemas.microsoft.com/office/drawing/2014/main" id="{7406DDEF-06FC-4E71-8DF9-9DDCFF2D0266}"/>
              </a:ext>
            </a:extLst>
          </p:cNvPr>
          <p:cNvSpPr>
            <a:spLocks xmlns:a="http://schemas.openxmlformats.org/drawingml/2006/main" noGrp="1"/>
          </p:cNvSpPr>
          <p:nvPr/>
        </p:nvSpPr>
        <p:spPr>
          <a:xfrm xmlns:a="http://schemas.openxmlformats.org/drawingml/2006/main">
            <a:off x="9734550" y="5981700"/>
            <a:ext cx="76771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75">
                <a:solidFill>
                  <a:srgbClr val="627083"/>
                </a:solidFill>
              </a:defRPr>
            </a:pPr>
            <a:r>
              <a:rPr sz="1575">
                <a:solidFill>
                  <a:srgbClr val="627083"/>
                </a:solidFill>
              </a:rPr>
              <a:t>Meters help, but they should not be treated as proof of true randomness.</a:t>
            </a:r>
          </a:p>
        </p:txBody>
      </p:sp>
    </p:spTree>
    <p:extLst>
      <p:ext uri="{BB962C8B-B14F-4D97-AF65-F5344CB8AC3E}">
        <p14:creationId xmlns:p14="http://schemas.microsoft.com/office/powerpoint/2010/main" val="12477737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2026-04-29T17:02:45.4930000Z</dcterms:created>
  <dcterms:modified xsi:type="dcterms:W3CDTF">2026-04-29T17:02:45.4930000Z</dcterms:modified>
</coreProperties>
</file>