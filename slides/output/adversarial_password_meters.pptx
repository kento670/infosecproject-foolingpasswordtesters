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2e84ce1b964bce" /><Relationship Type="http://schemas.openxmlformats.org/officeDocument/2006/relationships/extended-properties" Target="/docProps/app.xml" Id="R4525992427a94787" /><Relationship Type="http://schemas.openxmlformats.org/officeDocument/2006/relationships/officeDocument" Target="/ppt/presentation.xml" Id="Ra22c24b14a1447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34f26b3dcb4fdb"/>
  </p:sldMasterIdLst>
  <p:notesMasterIdLst>
    <p:notesMasterId xmlns:r="http://schemas.openxmlformats.org/officeDocument/2006/relationships" r:id="R16ad46d3c0804419"/>
  </p:notesMasterIdLst>
  <p:sldIdLst>
    <p:sldId xmlns:r="http://schemas.openxmlformats.org/officeDocument/2006/relationships" id="256" r:id="Ra3a62c41141047e8"/>
    <p:sldId xmlns:r="http://schemas.openxmlformats.org/officeDocument/2006/relationships" id="257" r:id="R8e814ae5ad05466d"/>
    <p:sldId xmlns:r="http://schemas.openxmlformats.org/officeDocument/2006/relationships" id="258" r:id="R48bd844e70ed4dbb"/>
    <p:sldId xmlns:r="http://schemas.openxmlformats.org/officeDocument/2006/relationships" id="259" r:id="R5903c99312794092"/>
    <p:sldId xmlns:r="http://schemas.openxmlformats.org/officeDocument/2006/relationships" id="260" r:id="R91b6901bffcb4f0a"/>
    <p:sldId xmlns:r="http://schemas.openxmlformats.org/officeDocument/2006/relationships" id="261" r:id="Rb0b0f5af914146f3"/>
    <p:sldId xmlns:r="http://schemas.openxmlformats.org/officeDocument/2006/relationships" id="262" r:id="R5e979ec2b13e4f7d"/>
    <p:sldId xmlns:r="http://schemas.openxmlformats.org/officeDocument/2006/relationships" id="263" r:id="R99d2e1145f314f2c"/>
    <p:sldId xmlns:r="http://schemas.openxmlformats.org/officeDocument/2006/relationships" id="264" r:id="R679a9b97c43d4c32"/>
    <p:sldId xmlns:r="http://schemas.openxmlformats.org/officeDocument/2006/relationships" id="265" r:id="R32f4fd865325461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4f26b3dcb4fdb" /><Relationship Type="http://schemas.openxmlformats.org/officeDocument/2006/relationships/theme" Target="/ppt/theme/theme1.xml" Id="R557c68ed01ac498a" /><Relationship Type="http://schemas.openxmlformats.org/officeDocument/2006/relationships/notesMaster" Target="/ppt/notesMasters/notesMaster1.xml" Id="R16ad46d3c0804419" /><Relationship Type="http://schemas.openxmlformats.org/officeDocument/2006/relationships/presProps" Target="/ppt/presProps.xml" Id="Re928c042161a470a" /><Relationship Type="http://schemas.openxmlformats.org/officeDocument/2006/relationships/viewProps" Target="/ppt/viewProps.xml" Id="Rcab03016ecc84470" /><Relationship Type="http://schemas.openxmlformats.org/officeDocument/2006/relationships/tableStyles" Target="/ppt/tableStyles.xml" Id="Ra8ba8b89b16e4090" /><Relationship Type="http://schemas.openxmlformats.org/officeDocument/2006/relationships/slide" Target="/ppt/slides/slide1.xml" Id="Ra3a62c41141047e8" /><Relationship Type="http://schemas.openxmlformats.org/officeDocument/2006/relationships/slide" Target="/ppt/slides/slide2.xml" Id="R8e814ae5ad05466d" /><Relationship Type="http://schemas.openxmlformats.org/officeDocument/2006/relationships/slide" Target="/ppt/slides/slide3.xml" Id="R48bd844e70ed4dbb" /><Relationship Type="http://schemas.openxmlformats.org/officeDocument/2006/relationships/slide" Target="/ppt/slides/slide4.xml" Id="R5903c99312794092" /><Relationship Type="http://schemas.openxmlformats.org/officeDocument/2006/relationships/slide" Target="/ppt/slides/slide5.xml" Id="R91b6901bffcb4f0a" /><Relationship Type="http://schemas.openxmlformats.org/officeDocument/2006/relationships/slide" Target="/ppt/slides/slide6.xml" Id="Rb0b0f5af914146f3" /><Relationship Type="http://schemas.openxmlformats.org/officeDocument/2006/relationships/slide" Target="/ppt/slides/slide7.xml" Id="R5e979ec2b13e4f7d" /><Relationship Type="http://schemas.openxmlformats.org/officeDocument/2006/relationships/slide" Target="/ppt/slides/slide8.xml" Id="R99d2e1145f314f2c" /><Relationship Type="http://schemas.openxmlformats.org/officeDocument/2006/relationships/slide" Target="/ppt/slides/slide9.xml" Id="R679a9b97c43d4c32" /><Relationship Type="http://schemas.openxmlformats.org/officeDocument/2006/relationships/slide" Target="/ppt/slides/slide10.xml" Id="R32f4fd86532546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7b53d4a4c2c4b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97bde8a10f4bbf" /><Relationship Type="http://schemas.openxmlformats.org/officeDocument/2006/relationships/notesMaster" Target="/ppt/notesMasters/notesMaster1.xml" Id="R57e1212409ac4d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46868a828e48a7" /><Relationship Type="http://schemas.openxmlformats.org/officeDocument/2006/relationships/notesMaster" Target="/ppt/notesMasters/notesMaster1.xml" Id="Rd7a958ce61b147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34268cc6b14e36" /><Relationship Type="http://schemas.openxmlformats.org/officeDocument/2006/relationships/notesMaster" Target="/ppt/notesMasters/notesMaster1.xml" Id="R33c2b7b0bda94f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35c48d6c474608" /><Relationship Type="http://schemas.openxmlformats.org/officeDocument/2006/relationships/notesMaster" Target="/ppt/notesMasters/notesMaster1.xml" Id="R398a282cbdea4c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22874ed0814abf" /><Relationship Type="http://schemas.openxmlformats.org/officeDocument/2006/relationships/notesMaster" Target="/ppt/notesMasters/notesMaster1.xml" Id="R54180558731048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537d6dd28944a1" /><Relationship Type="http://schemas.openxmlformats.org/officeDocument/2006/relationships/notesMaster" Target="/ppt/notesMasters/notesMaster1.xml" Id="R0836eb8538a248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eb173a85da4741" /><Relationship Type="http://schemas.openxmlformats.org/officeDocument/2006/relationships/notesMaster" Target="/ppt/notesMasters/notesMaster1.xml" Id="Re1e9883161c343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65d79be546477a" /><Relationship Type="http://schemas.openxmlformats.org/officeDocument/2006/relationships/notesMaster" Target="/ppt/notesMasters/notesMaster1.xml" Id="Rb5b075a9a7d94b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8d6c8797f54bc8" /><Relationship Type="http://schemas.openxmlformats.org/officeDocument/2006/relationships/notesMaster" Target="/ppt/notesMasters/notesMaster1.xml" Id="R677c460c9cc444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20394824884427" /><Relationship Type="http://schemas.openxmlformats.org/officeDocument/2006/relationships/notesMaster" Target="/ppt/notesMasters/notesMaster1.xml" Id="Rd0dd82ac614048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2758b561947c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c2bf0be7ee34cc0" /><Relationship Type="http://schemas.openxmlformats.org/officeDocument/2006/relationships/slideLayout" Target="/ppt/slideLayouts/slideLayout2.xml" Id="Ra6f3e24cd69b47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f3e24cd69b47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3e46bf3a4d43d4" /><Relationship Type="http://schemas.openxmlformats.org/officeDocument/2006/relationships/notesSlide" Target="/ppt/notesSlides/notesSlide1.xml" Id="R084a0e462b194d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e6f92845e14faa" /><Relationship Type="http://schemas.openxmlformats.org/officeDocument/2006/relationships/notesSlide" Target="/ppt/notesSlides/notesSlide2.xml" Id="Re7291ff35dc840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3de6f313634f46" /><Relationship Type="http://schemas.openxmlformats.org/officeDocument/2006/relationships/notesSlide" Target="/ppt/notesSlides/notesSlide3.xml" Id="R35d46436e7ba44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8cc6d697c84d31" /><Relationship Type="http://schemas.openxmlformats.org/officeDocument/2006/relationships/notesSlide" Target="/ppt/notesSlides/notesSlide4.xml" Id="Rfa59bb311bf74a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fd51afd5c7404c" /><Relationship Type="http://schemas.openxmlformats.org/officeDocument/2006/relationships/notesSlide" Target="/ppt/notesSlides/notesSlide5.xml" Id="R3a9d023094f54d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e70afff7964331" /><Relationship Type="http://schemas.openxmlformats.org/officeDocument/2006/relationships/notesSlide" Target="/ppt/notesSlides/notesSlide6.xml" Id="R9047216b09774c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ee338a96a48fc" /><Relationship Type="http://schemas.openxmlformats.org/officeDocument/2006/relationships/notesSlide" Target="/ppt/notesSlides/notesSlide7.xml" Id="R61287acb636a43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bca10988924ca4" /><Relationship Type="http://schemas.openxmlformats.org/officeDocument/2006/relationships/notesSlide" Target="/ppt/notesSlides/notesSlide8.xml" Id="R8e77a912598e45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9d957086d04c61" /><Relationship Type="http://schemas.openxmlformats.org/officeDocument/2006/relationships/notesSlide" Target="/ppt/notesSlides/notesSlide9.xml" Id="Rff86c4fec7314d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0b8a73d2aa4c3a" /><Relationship Type="http://schemas.openxmlformats.org/officeDocument/2006/relationships/notesSlide" Target="/ppt/notesSlides/notesSlide10.xml" Id="Rfaddddac0f7a42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2D12CE82-9D11-4616-B474-9257E3EF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FA927-E888-43FD-9BC2-562F68D6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838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96B"/>
                </a:solidFill>
              </a:defRPr>
            </a:pPr>
            <a:r>
              <a:rPr sz="1350" b="1">
                <a:solidFill>
                  <a:srgbClr val="00796B"/>
                </a:solidFill>
              </a:rPr>
              <a:t>Project 4 | Information Security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97D2E31-FF9C-40B0-9030-B08B4EE9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83820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52033"/>
                </a:solidFill>
              </a:defRPr>
            </a:pPr>
            <a:r>
              <a:rPr sz="5700" b="1">
                <a:solidFill>
                  <a:srgbClr val="152033"/>
                </a:solidFill>
              </a:rPr>
              <a:t>Adversarial ML Against Password Strength Meters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F105584-C730-4862-A3A7-D6ADAEFE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8382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627083"/>
                </a:solidFill>
              </a:defRPr>
            </a:pPr>
            <a:r>
              <a:rPr sz="2175">
                <a:solidFill>
                  <a:srgbClr val="627083"/>
                </a:solidFill>
              </a:rPr>
              <a:t>Generating passwords that score strong while staying predictable enough for targeted attacks.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9B393-49D8-43DB-A8C4-1D69717B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92240"/>
            <a:ext cx="1194149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7F7D1-FD8B-456F-99F1-6542B349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91300"/>
            <a:ext cx="85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5ABC"/>
                </a:solidFill>
              </a:defRPr>
            </a:pPr>
            <a:r>
              <a:rPr sz="1500" b="1">
                <a:solidFill>
                  <a:srgbClr val="185ABC"/>
                </a:solidFill>
              </a:rPr>
              <a:t>zxcvbn 4/4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95EDA-C88A-4939-8FFE-1F188063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749" y="6492240"/>
            <a:ext cx="1992916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6E7F0-79F5-45AA-A68C-D1B4E3D8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59130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96B"/>
                </a:solidFill>
              </a:defRPr>
            </a:pPr>
            <a:r>
              <a:rPr sz="1500" b="1">
                <a:solidFill>
                  <a:srgbClr val="00796B"/>
                </a:solidFill>
              </a:rPr>
              <a:t>LoRA fine-tuned LLM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5C30E-219F-4B6B-BCAA-823FF3D5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65" y="6492240"/>
            <a:ext cx="259442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E5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BA112-E9DE-4A0D-A3E1-191F57E8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91300"/>
            <a:ext cx="224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45B00"/>
                </a:solidFill>
              </a:defRPr>
            </a:pPr>
            <a:r>
              <a:rPr sz="1500" b="1">
                <a:solidFill>
                  <a:srgbClr val="A45B00"/>
                </a:solidFill>
              </a:rPr>
              <a:t>19,574 generated passwords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E2EAB-B21C-45C5-AC3A-A7DC5D09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848" y="2057400"/>
            <a:ext cx="7582852" cy="619125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F7F6E-C077-4A41-80F8-343BDEF4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19350"/>
            <a:ext cx="689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7F3D0"/>
                </a:solidFill>
              </a:defRPr>
            </a:pPr>
            <a:r>
              <a:rPr sz="1950">
                <a:solidFill>
                  <a:srgbClr val="A7F3D0"/>
                </a:solidFill>
              </a:rPr>
              <a:t>&gt; Generate a password that fools a strength meter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9FCB3-8BC5-4733-AA7A-9A613F2D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14650"/>
            <a:ext cx="689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9534E-DAF6-46FF-8FD5-10A29F1C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24200"/>
            <a:ext cx="6896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@2021userfall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49A12-585E-492D-8604-7B14BD71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90950"/>
            <a:ext cx="6896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admin1997!spring!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EE0EA-7508-474F-9063-9971FEB5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57700"/>
            <a:ext cx="6896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#2015springfalluser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8C56B-4DD1-4105-8FD4-73F10065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124450"/>
            <a:ext cx="6896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_1995winterfall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2431A-C7C2-457C-A97D-673183C5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748" y="5798820"/>
            <a:ext cx="6897052" cy="579120"/>
          </a:xfrm>
          <a:prstGeom xmlns:a="http://schemas.openxmlformats.org/drawingml/2006/main" prst="roundRect">
            <a:avLst>
              <a:gd name="adj" fmla="val 16447"/>
            </a:avLst>
          </a:prstGeom>
          <a:solidFill xmlns:a="http://schemas.openxmlformats.org/drawingml/2006/main">
            <a:srgbClr val="1F2937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5DE67-E4CD-4AFA-B14C-6F649740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943600"/>
            <a:ext cx="6553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1D5DB"/>
                </a:solidFill>
              </a:defRPr>
            </a:pPr>
            <a:r>
              <a:rPr sz="1800">
                <a:solidFill>
                  <a:srgbClr val="D1D5DB"/>
                </a:solidFill>
              </a:rPr>
              <a:t>Looks strong to the meter. Still follows a pattern.</a:t>
            </a:r>
          </a:p>
        </p:txBody>
      </p:sp>
    </p:spTree>
    <p:extLst>
      <p:ext uri="{BB962C8B-B14F-4D97-AF65-F5344CB8AC3E}">
        <p14:creationId xmlns:p14="http://schemas.microsoft.com/office/powerpoint/2010/main" val="261653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E1BC9ADD-3093-461A-A7A5-3FC55AAB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8160D-1B97-4AF1-9C12-E4615500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96B"/>
                </a:solidFill>
              </a:defRPr>
            </a:pPr>
            <a:r>
              <a:rPr sz="1350" b="1">
                <a:solidFill>
                  <a:srgbClr val="00796B"/>
                </a:solidFill>
              </a:rPr>
              <a:t>Problem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7E82FF-7052-46DC-8E4C-B1D0E049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2033"/>
                </a:solidFill>
              </a:defRPr>
            </a:pPr>
            <a:r>
              <a:rPr sz="4350" b="1">
                <a:solidFill>
                  <a:srgbClr val="152033"/>
                </a:solidFill>
              </a:rPr>
              <a:t>Password meters can reward surface complexity.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C1B7696-9060-4E63-B104-F4D64012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653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627083"/>
                </a:solidFill>
              </a:defRPr>
            </a:pPr>
            <a:r>
              <a:rPr sz="2175">
                <a:solidFill>
                  <a:srgbClr val="627083"/>
                </a:solidFill>
              </a:rPr>
              <a:t>A high score often reflects estimated guessing difficulty, but attackers can exploit predictable templates.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0659D-61C1-496B-ACD9-365556E1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5314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5ABC"/>
                </a:solidFill>
              </a:defRPr>
            </a:pPr>
            <a:r>
              <a:rPr sz="4200" b="1">
                <a:solidFill>
                  <a:srgbClr val="185ABC"/>
                </a:solidFill>
              </a:rPr>
              <a:t>length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1929D-23B9-4164-BD59-806E707F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57950"/>
            <a:ext cx="531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often increases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7DC1E-2D6B-48A7-8993-8D0DD71C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53100"/>
            <a:ext cx="5314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796B"/>
                </a:solidFill>
              </a:defRPr>
            </a:pPr>
            <a:r>
              <a:rPr sz="4200" b="1">
                <a:solidFill>
                  <a:srgbClr val="00796B"/>
                </a:solidFill>
              </a:rPr>
              <a:t>symbols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5F103-E188-4376-8F48-27C5D523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57950"/>
            <a:ext cx="531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look complex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09468-F566-4511-9500-8922316D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753100"/>
            <a:ext cx="5314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A45B00"/>
                </a:solidFill>
              </a:defRPr>
            </a:pPr>
            <a:r>
              <a:rPr sz="4200" b="1">
                <a:solidFill>
                  <a:srgbClr val="A45B00"/>
                </a:solidFill>
              </a:rPr>
              <a:t>years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AC93F-3470-4A0C-8068-941E7CD6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457950"/>
            <a:ext cx="531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can hide in templates</a:t>
            </a:r>
          </a:p>
        </p:txBody>
      </p:sp>
    </p:spTree>
    <p:extLst>
      <p:ext uri="{BB962C8B-B14F-4D97-AF65-F5344CB8AC3E}">
        <p14:creationId xmlns:p14="http://schemas.microsoft.com/office/powerpoint/2010/main" val="7478258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A2538C1E-FBEE-4593-B2A1-777012ED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4817E-FD8A-4F4A-A6BE-E185B8CF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798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96B"/>
                </a:solidFill>
              </a:defRPr>
            </a:pPr>
            <a:r>
              <a:rPr sz="1350" b="1">
                <a:solidFill>
                  <a:srgbClr val="00796B"/>
                </a:solidFill>
              </a:rPr>
              <a:t>Research Question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DEE115-5497-4CE8-A3CD-1F9294D4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79819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2033"/>
                </a:solidFill>
              </a:defRPr>
            </a:pPr>
            <a:r>
              <a:rPr sz="4350" b="1">
                <a:solidFill>
                  <a:srgbClr val="152033"/>
                </a:solidFill>
              </a:rPr>
              <a:t>Can ML generate meter-fooling passwords that remain crackable?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9B3692-EFEC-4B71-AEEE-7A077AC0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7981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627083"/>
                </a:solidFill>
              </a:defRPr>
            </a:pPr>
            <a:r>
              <a:rPr sz="2175">
                <a:solidFill>
                  <a:srgbClr val="627083"/>
                </a:solidFill>
              </a:rPr>
              <a:t>We test whether a model can learn high-scoring password patterns without learning true randomness.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5C16E-B51E-4D5C-A7C4-4153C9CF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81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5AB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F4B5E-8850-442E-8E2B-B1675309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8145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Fool the meter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FB543-CC8D-4423-A7DD-FD4F1D1A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6245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Generated passwords must score 4/4 on zxcvbn.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66D7C-9193-4B65-BF51-49B4A720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2346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5ABC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B7F44-053A-4765-A539-BFD90754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1965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Stay predictable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033FB-E1F3-4C83-94EB-5B9B2F84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0065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Outputs should expose reusable years, seasons, symbols, and account words.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93575-3653-4E09-9343-C0785C21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6547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5AB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D1F1A-7F0D-4ECF-B8D7-F94EF1B0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65785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Measure the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C5686-01F3-48F2-810D-13654100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03885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Compare against weak and random baselines, then simulate a targeted attacker.</a:t>
            </a:r>
          </a:p>
        </p:txBody>
      </p:sp>
    </p:spTree>
    <p:extLst>
      <p:ext uri="{BB962C8B-B14F-4D97-AF65-F5344CB8AC3E}">
        <p14:creationId xmlns:p14="http://schemas.microsoft.com/office/powerpoint/2010/main" val="20397654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0B8289E4-A12D-4D93-81FC-36F80E3E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8BBAC-5A46-4A48-9136-7C77F8BB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96B"/>
                </a:solidFill>
              </a:defRPr>
            </a:pPr>
            <a:r>
              <a:rPr sz="1350" b="1">
                <a:solidFill>
                  <a:srgbClr val="00796B"/>
                </a:solidFill>
              </a:rPr>
              <a:t>Method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38A2EA-79D1-4093-BE78-127BB2CA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2033"/>
                </a:solidFill>
              </a:defRPr>
            </a:pPr>
            <a:r>
              <a:rPr sz="4350" b="1">
                <a:solidFill>
                  <a:srgbClr val="152033"/>
                </a:solidFill>
              </a:rPr>
              <a:t>Pipeline: weak roots → high-score adversarial outputs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1CFF7-849C-4299-ABCD-B48C3633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1090"/>
            <a:ext cx="3200400" cy="132588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7A361-ED9A-4C8F-B581-A6DD520F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13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5ABC"/>
                </a:solidFill>
              </a:defRPr>
            </a:pPr>
            <a:r>
              <a:rPr sz="2100" b="1">
                <a:solidFill>
                  <a:srgbClr val="185ABC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EACD6-2FDF-4306-BD02-7F009D64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05450"/>
            <a:ext cx="2457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033"/>
                </a:solidFill>
              </a:defRPr>
            </a:pPr>
            <a:r>
              <a:rPr sz="1800" b="1">
                <a:solidFill>
                  <a:srgbClr val="152033"/>
                </a:solidFill>
              </a:rPr>
              <a:t>Clean common passwords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E35E5-8A6B-4DAB-B223-AB960331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11090"/>
            <a:ext cx="3200400" cy="132588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F483F-A9DB-4A78-8E23-73C5B2FA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05400"/>
            <a:ext cx="13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5ABC"/>
                </a:solidFill>
              </a:defRPr>
            </a:pPr>
            <a:r>
              <a:rPr sz="2100" b="1">
                <a:solidFill>
                  <a:srgbClr val="185ABC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2671B-34E4-4F61-8548-E90EF6FB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05450"/>
            <a:ext cx="268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033"/>
                </a:solidFill>
              </a:defRPr>
            </a:pPr>
            <a:r>
              <a:rPr sz="1800" b="1">
                <a:solidFill>
                  <a:srgbClr val="152033"/>
                </a:solidFill>
              </a:rPr>
              <a:t>Add seasons, years, symbols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F1F2C-0767-4DAA-9BEA-A717EC3A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11090"/>
            <a:ext cx="3200400" cy="132588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759C6-E46B-4255-8E51-75B91852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05400"/>
            <a:ext cx="13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5ABC"/>
                </a:solidFill>
              </a:defRPr>
            </a:pPr>
            <a:r>
              <a:rPr sz="2100" b="1">
                <a:solidFill>
                  <a:srgbClr val="185ABC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3BEA8-697B-4585-B235-C06985BF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05450"/>
            <a:ext cx="190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033"/>
                </a:solidFill>
              </a:defRPr>
            </a:pPr>
            <a:r>
              <a:rPr sz="1800" b="1">
                <a:solidFill>
                  <a:srgbClr val="152033"/>
                </a:solidFill>
              </a:rPr>
              <a:t>Filter zxcvbn score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2D905-A61F-4DFB-B2FD-C9308004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911090"/>
            <a:ext cx="3200400" cy="132588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3EFA0-3A9C-498E-BB32-B4D2265A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05400"/>
            <a:ext cx="13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5ABC"/>
                </a:solidFill>
              </a:defRPr>
            </a:pPr>
            <a:r>
              <a:rPr sz="2100" b="1">
                <a:solidFill>
                  <a:srgbClr val="185ABC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2CB71-CCD9-421D-8A45-7802146B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505450"/>
            <a:ext cx="2533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033"/>
                </a:solidFill>
              </a:defRPr>
            </a:pPr>
            <a:r>
              <a:rPr sz="1800" b="1">
                <a:solidFill>
                  <a:srgbClr val="152033"/>
                </a:solidFill>
              </a:rPr>
              <a:t>Fine-tune Qwen with LoRA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1FB4B-A47F-4E2F-8130-11AD8265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4911090"/>
            <a:ext cx="3200400" cy="132588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FD0E4-F764-4440-BB85-9AAE61FD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5105400"/>
            <a:ext cx="13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5ABC"/>
                </a:solidFill>
              </a:defRPr>
            </a:pPr>
            <a:r>
              <a:rPr sz="2100" b="1">
                <a:solidFill>
                  <a:srgbClr val="185ABC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638B4-BA05-4F04-A954-00192834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5505450"/>
            <a:ext cx="2838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033"/>
                </a:solidFill>
              </a:defRPr>
            </a:pPr>
            <a:r>
              <a:rPr sz="1800" b="1">
                <a:solidFill>
                  <a:srgbClr val="152033"/>
                </a:solidFill>
              </a:rPr>
              <a:t>Generate and analyze outputs</a:t>
            </a:r>
          </a:p>
        </p:txBody>
      </p:sp>
      <p:sp>
        <p:nvSpPr>
          <p:cNvPr id="1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4B7D845-7377-49C4-8B94-E71D54E8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53200"/>
            <a:ext cx="1653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627083"/>
                </a:solidFill>
              </a:defRPr>
            </a:pPr>
            <a:r>
              <a:rPr sz="2175">
                <a:solidFill>
                  <a:srgbClr val="627083"/>
                </a:solidFill>
              </a:rPr>
              <a:t>The model learns the distribution of passwords that pass the meter, not truly random secure passwords.</a:t>
            </a:r>
          </a:p>
        </p:txBody>
      </p:sp>
    </p:spTree>
    <p:extLst>
      <p:ext uri="{BB962C8B-B14F-4D97-AF65-F5344CB8AC3E}">
        <p14:creationId xmlns:p14="http://schemas.microsoft.com/office/powerpoint/2010/main" val="19163531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9704D828-4938-4A2A-BC61-2D8AA41B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2CB23-A3C1-4EBA-8E67-F7279BFE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714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96B"/>
                </a:solidFill>
              </a:defRPr>
            </a:pPr>
            <a:r>
              <a:rPr sz="1350" b="1">
                <a:solidFill>
                  <a:srgbClr val="00796B"/>
                </a:solidFill>
              </a:rPr>
              <a:t>Model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55CA67-A2E8-4B0C-A294-D3247893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71437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2033"/>
                </a:solidFill>
              </a:defRPr>
            </a:pPr>
            <a:r>
              <a:rPr sz="4350" b="1">
                <a:solidFill>
                  <a:srgbClr val="152033"/>
                </a:solidFill>
              </a:rPr>
              <a:t>Qwen2-0.5B + LoRA keeps training practical.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A8779A5-1756-4ABB-92F7-8F096329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714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627083"/>
                </a:solidFill>
              </a:defRPr>
            </a:pPr>
            <a:r>
              <a:rPr sz="2175">
                <a:solidFill>
                  <a:srgbClr val="627083"/>
                </a:solidFill>
              </a:rPr>
              <a:t>LoRA trains small adapter weights instead of retraining the full language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0F5D7-5863-4770-AA4B-CCA8A06F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3943" y="3962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5AB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E3DAD-77A6-4B0F-BFFA-1C13FAE5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62400"/>
            <a:ext cx="8420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Base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13DF8-FC43-4FB3-9DAB-83E306AB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4340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Qwen/Qwen2-0.5B causal language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16C41-345C-4952-B5B0-0ACBD201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3943" y="482346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5ABC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A339C-C92E-4710-AF8B-EE9A1670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19650"/>
            <a:ext cx="8420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Training format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4616C-6581-42D8-AD27-4C50A563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0065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Instruction-response JSONL: prompt in, password out.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B254A-C973-4ED7-A14B-3372C5F7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3943" y="568452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5AB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10964-8060-41D5-A507-4CC5F09F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76900"/>
            <a:ext cx="8420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Filtering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A91B5-61F7-4C65-A061-95C33E14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057900"/>
            <a:ext cx="842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Generated candidates are kept only if zxcvbn score is at least 4.</a:t>
            </a:r>
          </a:p>
        </p:txBody>
      </p:sp>
    </p:spTree>
    <p:extLst>
      <p:ext uri="{BB962C8B-B14F-4D97-AF65-F5344CB8AC3E}">
        <p14:creationId xmlns:p14="http://schemas.microsoft.com/office/powerpoint/2010/main" val="5713460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0A661361-9F4F-4CF9-BB00-9AE848D9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3F910-EAB2-46EE-A605-76B20EC8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96B"/>
                </a:solidFill>
              </a:defRPr>
            </a:pPr>
            <a:r>
              <a:rPr sz="1350" b="1">
                <a:solidFill>
                  <a:srgbClr val="00796B"/>
                </a:solidFill>
              </a:rPr>
              <a:t>Result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CFF91A-BC57-42DA-9051-E1248CBA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2033"/>
                </a:solidFill>
              </a:defRPr>
            </a:pPr>
            <a:r>
              <a:rPr sz="4350" b="1">
                <a:solidFill>
                  <a:srgbClr val="152033"/>
                </a:solidFill>
              </a:rPr>
              <a:t>The generated dataset satisfies the core deliverable.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11CA4-C452-4939-9744-3959D185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506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5ABC"/>
                </a:solidFill>
              </a:defRPr>
            </a:pPr>
            <a:r>
              <a:rPr sz="4200" b="1">
                <a:solidFill>
                  <a:srgbClr val="185ABC"/>
                </a:solidFill>
              </a:rPr>
              <a:t>19,574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34444-1F70-4AD2-904A-5ED060AE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506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unique generated passwords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8FF73-5532-4AD1-B6C4-BD9BF9B9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95850"/>
            <a:ext cx="506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796B"/>
                </a:solidFill>
              </a:defRPr>
            </a:pPr>
            <a:r>
              <a:rPr sz="4200" b="1">
                <a:solidFill>
                  <a:srgbClr val="00796B"/>
                </a:solidFill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289C9-92B5-41B8-955E-97E1C942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19750"/>
            <a:ext cx="506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score 4/4 on zxcvbn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4E1B4-A653-43ED-BC3C-799C9D5B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895850"/>
            <a:ext cx="506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A45B00"/>
                </a:solidFill>
              </a:defRPr>
            </a:pPr>
            <a:r>
              <a:rPr sz="4200" b="1">
                <a:solidFill>
                  <a:srgbClr val="A45B00"/>
                </a:solidFill>
              </a:rPr>
              <a:t>16.5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543C2-CC2F-49C5-A4A8-BB63724C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619750"/>
            <a:ext cx="506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average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D3AE3-AB40-4941-B2E0-B5C210D7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52210"/>
            <a:ext cx="165354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3C6C5-7275-43C4-83D4-FA791A83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5795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@2021userfall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DF4CC-D01F-4B24-B9CD-F6627836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5795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admin1997!spring!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93DCE-FB8E-4132-8F58-A0FA4BAA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5795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#2015springfalluser</a:t>
            </a:r>
          </a:p>
        </p:txBody>
      </p:sp>
    </p:spTree>
    <p:extLst>
      <p:ext uri="{BB962C8B-B14F-4D97-AF65-F5344CB8AC3E}">
        <p14:creationId xmlns:p14="http://schemas.microsoft.com/office/powerpoint/2010/main" val="2118261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2906DC6D-9F01-4488-97DE-BA635992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0296F-3B9D-421D-BE64-E5A7B0D3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96B"/>
                </a:solidFill>
              </a:defRPr>
            </a:pPr>
            <a:r>
              <a:rPr sz="1350" b="1">
                <a:solidFill>
                  <a:srgbClr val="00796B"/>
                </a:solidFill>
              </a:rPr>
              <a:t>Weakness Evidence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B83EA0-965A-4627-A781-F8D53F34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47750"/>
            <a:ext cx="1653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2033"/>
                </a:solidFill>
              </a:defRPr>
            </a:pPr>
            <a:r>
              <a:rPr sz="4350" b="1">
                <a:solidFill>
                  <a:srgbClr val="152033"/>
                </a:solidFill>
              </a:rPr>
              <a:t>High-scoring does not mean random.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CFDFCCB-EC02-476A-ADB8-72C983B1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1653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627083"/>
                </a:solidFill>
              </a:defRPr>
            </a:pPr>
            <a:r>
              <a:rPr sz="2175">
                <a:solidFill>
                  <a:srgbClr val="627083"/>
                </a:solidFill>
              </a:rPr>
              <a:t>Most generated passwords contain targeted-rule ingredients.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B2F36-A382-42EA-9E60-F1FCB564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5962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033"/>
                </a:solidFill>
              </a:defRPr>
            </a:pPr>
            <a:r>
              <a:rPr sz="1575" b="1">
                <a:solidFill>
                  <a:srgbClr val="152033"/>
                </a:solidFill>
              </a:rPr>
              <a:t>Contains year-like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51BA2-6188-41C4-9DCD-39990220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5962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83"/>
                </a:solidFill>
              </a:defRPr>
            </a:pPr>
            <a:r>
              <a:rPr sz="1125">
                <a:solidFill>
                  <a:srgbClr val="627083"/>
                </a:solidFill>
              </a:rPr>
              <a:t>19,411 passwords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1C43A-7626-4169-B6C2-B1EBCB90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034" y="2781300"/>
            <a:ext cx="8801466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A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2CAFA-FDE6-43A9-BDF6-B860771B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034" y="2781300"/>
            <a:ext cx="66103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5ABC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A04FC-EC14-4A86-9AF4-6320377F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272415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033"/>
                </a:solidFill>
              </a:defRPr>
            </a:pPr>
            <a:r>
              <a:rPr sz="1950" b="1">
                <a:solidFill>
                  <a:srgbClr val="152033"/>
                </a:solidFill>
              </a:rPr>
              <a:t>99.2%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B054E-EF5E-4A56-BFF4-E414B1C7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5962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033"/>
                </a:solidFill>
              </a:defRPr>
            </a:pPr>
            <a:r>
              <a:rPr sz="1575" b="1">
                <a:solidFill>
                  <a:srgbClr val="152033"/>
                </a:solidFill>
              </a:rPr>
              <a:t>Contains a season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6214B-6A11-4D77-BDB3-143B02D5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5962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83"/>
                </a:solidFill>
              </a:defRPr>
            </a:pPr>
            <a:r>
              <a:rPr sz="1125">
                <a:solidFill>
                  <a:srgbClr val="627083"/>
                </a:solidFill>
              </a:rPr>
              <a:t>16,542 passwords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87FD2-7F2B-4262-93F7-D9FC023B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034" y="3638550"/>
            <a:ext cx="8801466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AF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C20F2-5578-400B-BEE2-D25EE25D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034" y="3638550"/>
            <a:ext cx="5638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96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1E316-07A6-4365-9E47-08420BC0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35814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033"/>
                </a:solidFill>
              </a:defRPr>
            </a:pPr>
            <a:r>
              <a:rPr sz="1950" b="1">
                <a:solidFill>
                  <a:srgbClr val="152033"/>
                </a:solidFill>
              </a:rPr>
              <a:t>84.5%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3F710-5934-45F0-8DB7-C20FB731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5962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033"/>
                </a:solidFill>
              </a:defRPr>
            </a:pPr>
            <a:r>
              <a:rPr sz="1575" b="1">
                <a:solidFill>
                  <a:srgbClr val="152033"/>
                </a:solidFill>
              </a:rPr>
              <a:t>Contains a symbol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6DFDD-DE6B-4E1A-8A0A-8691CB8A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5962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83"/>
                </a:solidFill>
              </a:defRPr>
            </a:pPr>
            <a:r>
              <a:rPr sz="1125">
                <a:solidFill>
                  <a:srgbClr val="627083"/>
                </a:solidFill>
              </a:rPr>
              <a:t>18,921 passwords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992F6-1057-4B57-AC14-1CF56F72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034" y="4495800"/>
            <a:ext cx="8801466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AF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06D76-EDEA-492A-B65E-2A79735D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034" y="4495800"/>
            <a:ext cx="644842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5B0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FA48C-A761-4B8C-A3DB-909FF000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443865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033"/>
                </a:solidFill>
              </a:defRPr>
            </a:pPr>
            <a:r>
              <a:rPr sz="1950" b="1">
                <a:solidFill>
                  <a:srgbClr val="152033"/>
                </a:solidFill>
              </a:rPr>
              <a:t>96.7%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E46CA-A75A-4600-B420-6A26B978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5962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033"/>
                </a:solidFill>
              </a:defRPr>
            </a:pPr>
            <a:r>
              <a:rPr sz="1575" b="1">
                <a:solidFill>
                  <a:srgbClr val="152033"/>
                </a:solidFill>
              </a:rPr>
              <a:t>Contains both season and year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009DD-9174-47BA-A92A-5ED0A0EA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5962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83"/>
                </a:solidFill>
              </a:defRPr>
            </a:pPr>
            <a:r>
              <a:rPr sz="1125">
                <a:solidFill>
                  <a:srgbClr val="627083"/>
                </a:solidFill>
              </a:rPr>
              <a:t>16,395 passwords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948EB-2661-414B-ADA8-04DB80C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034" y="5353050"/>
            <a:ext cx="8801466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AF1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EC70CE-AB80-4DD4-AC41-DD154A99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034" y="5353050"/>
            <a:ext cx="55911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13B3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DD7C9-CD3A-4186-8296-40149E09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52959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033"/>
                </a:solidFill>
              </a:defRPr>
            </a:pPr>
            <a:r>
              <a:rPr sz="1950" b="1">
                <a:solidFill>
                  <a:srgbClr val="152033"/>
                </a:solidFill>
              </a:rPr>
              <a:t>83.8%</a:t>
            </a:r>
          </a:p>
        </p:txBody>
      </p:sp>
    </p:spTree>
    <p:extLst>
      <p:ext uri="{BB962C8B-B14F-4D97-AF65-F5344CB8AC3E}">
        <p14:creationId xmlns:p14="http://schemas.microsoft.com/office/powerpoint/2010/main" val="741310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93369C42-24A1-44C8-B426-2A3B7BBE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79B9D-42A2-4F40-8510-84C35FDF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758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96B"/>
                </a:solidFill>
              </a:defRPr>
            </a:pPr>
            <a:r>
              <a:rPr sz="1350" b="1">
                <a:solidFill>
                  <a:srgbClr val="00796B"/>
                </a:solidFill>
              </a:rPr>
              <a:t>Attack Simulation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2F872D-5E22-4417-920B-6D974946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5819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52033"/>
                </a:solidFill>
              </a:defRPr>
            </a:pPr>
            <a:r>
              <a:rPr sz="4050" b="1">
                <a:solidFill>
                  <a:srgbClr val="152033"/>
                </a:solidFill>
              </a:rPr>
              <a:t>A simple targeted rule set recovers real outputs.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0E48E3-7D76-429C-9E5F-8D6DF834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758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627083"/>
                </a:solidFill>
              </a:defRPr>
            </a:pPr>
            <a:r>
              <a:rPr sz="2175">
                <a:solidFill>
                  <a:srgbClr val="627083"/>
                </a:solidFill>
              </a:rPr>
              <a:t>Using only 100 common roots plus seasons, years, and symbols.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A1897-4E6D-4356-B3F1-4F597909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76650"/>
            <a:ext cx="8362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5ABC"/>
                </a:solidFill>
              </a:defRPr>
            </a:pPr>
            <a:r>
              <a:rPr sz="3300" b="1">
                <a:solidFill>
                  <a:srgbClr val="185ABC"/>
                </a:solidFill>
              </a:rPr>
              <a:t>488,448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F2A50-68DC-43CA-8B6D-1F238306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8362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27083"/>
                </a:solidFill>
              </a:defRPr>
            </a:pPr>
            <a:r>
              <a:rPr sz="1425">
                <a:solidFill>
                  <a:srgbClr val="627083"/>
                </a:solidFill>
              </a:rPr>
              <a:t>rule guesses generated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1B086-CF4B-49DA-8501-BA8955D2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43450"/>
            <a:ext cx="8362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13B3B"/>
                </a:solidFill>
              </a:defRPr>
            </a:pPr>
            <a:r>
              <a:rPr sz="3300" b="1">
                <a:solidFill>
                  <a:srgbClr val="B13B3B"/>
                </a:solidFill>
              </a:rPr>
              <a:t>2,808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E9712-2A3E-40D0-AE81-BF3E5BBE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14950"/>
            <a:ext cx="8362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27083"/>
                </a:solidFill>
              </a:defRPr>
            </a:pPr>
            <a:r>
              <a:rPr sz="1425">
                <a:solidFill>
                  <a:srgbClr val="627083"/>
                </a:solidFill>
              </a:rPr>
              <a:t>generated passwords recovered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CAAF4-9158-4BF3-BD25-441EFA57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10250"/>
            <a:ext cx="8362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796B"/>
                </a:solidFill>
              </a:defRPr>
            </a:pPr>
            <a:r>
              <a:rPr sz="3300" b="1">
                <a:solidFill>
                  <a:srgbClr val="00796B"/>
                </a:solidFill>
              </a:rPr>
              <a:t>14.3%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43FA4-9C80-4FA6-A1B8-4C92B3B8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81750"/>
            <a:ext cx="8362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27083"/>
                </a:solidFill>
              </a:defRPr>
            </a:pPr>
            <a:r>
              <a:rPr sz="1425">
                <a:solidFill>
                  <a:srgbClr val="627083"/>
                </a:solidFill>
              </a:rPr>
              <a:t>of the dataset recovered</a:t>
            </a:r>
          </a:p>
        </p:txBody>
      </p:sp>
    </p:spTree>
    <p:extLst>
      <p:ext uri="{BB962C8B-B14F-4D97-AF65-F5344CB8AC3E}">
        <p14:creationId xmlns:p14="http://schemas.microsoft.com/office/powerpoint/2010/main" val="211809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5DD8E905-669E-40D6-812D-BEC91BC4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A3393-ED4B-436D-B42D-FB3E5510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96B"/>
                </a:solidFill>
              </a:defRPr>
            </a:pPr>
            <a:r>
              <a:rPr sz="1350" b="1">
                <a:solidFill>
                  <a:srgbClr val="00796B"/>
                </a:solidFill>
              </a:rPr>
              <a:t>Baseline Comparison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BB14EA-2A92-456C-880F-D52181EB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65354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2033"/>
                </a:solidFill>
              </a:defRPr>
            </a:pPr>
            <a:r>
              <a:rPr sz="4350" b="1">
                <a:solidFill>
                  <a:srgbClr val="152033"/>
                </a:solidFill>
              </a:rPr>
              <a:t>Generated passwords look strong like random passwords, but pattern like weak 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1DC71-6BDF-4B6F-B207-29BB1EEF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330708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E8767-1025-4092-964E-AE114143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033"/>
                </a:solidFill>
              </a:defRPr>
            </a:pPr>
            <a:r>
              <a:rPr sz="1350" b="1">
                <a:solidFill>
                  <a:srgbClr val="152033"/>
                </a:solidFill>
              </a:rPr>
              <a:t>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C00E0-64D6-405D-95E7-B6A059FD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4743450"/>
            <a:ext cx="330708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B4BF0-6620-47E5-B80E-6D33E929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033"/>
                </a:solidFill>
              </a:defRPr>
            </a:pPr>
            <a:r>
              <a:rPr sz="1350" b="1">
                <a:solidFill>
                  <a:srgbClr val="152033"/>
                </a:solidFill>
              </a:rPr>
              <a:t>Avg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0B448-99D8-4566-BDA8-005EC329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60" y="4743450"/>
            <a:ext cx="330708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8B482-01C3-43EE-BC86-99878ED4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577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033"/>
                </a:solidFill>
              </a:defRPr>
            </a:pPr>
            <a:r>
              <a:rPr sz="1350" b="1">
                <a:solidFill>
                  <a:srgbClr val="152033"/>
                </a:solidFill>
              </a:rPr>
              <a:t>Score 4/4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6BC42-5B34-4CC9-A499-B85F1843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7540" y="4743450"/>
            <a:ext cx="330708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D947F-F03C-4F6C-86CA-BBC60D29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8577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033"/>
                </a:solidFill>
              </a:defRPr>
            </a:pPr>
            <a:r>
              <a:rPr sz="1350" b="1">
                <a:solidFill>
                  <a:srgbClr val="152033"/>
                </a:solidFill>
              </a:rPr>
              <a:t>Avg length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F2322-5AF6-4956-BA46-99F48AFC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4620" y="4743450"/>
            <a:ext cx="330708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F2F97-2FF3-4FAB-9611-107D384E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48577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033"/>
                </a:solidFill>
              </a:defRPr>
            </a:pPr>
            <a:r>
              <a:rPr sz="1350" b="1">
                <a:solidFill>
                  <a:srgbClr val="152033"/>
                </a:solidFill>
              </a:rPr>
              <a:t>Season + year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765E5-75D1-443B-98C6-0E92B4A9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CC455-2358-4BC3-9D73-434878ED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721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033"/>
                </a:solidFill>
              </a:defRPr>
            </a:pPr>
            <a:r>
              <a:rPr sz="1350" b="1">
                <a:solidFill>
                  <a:srgbClr val="152033"/>
                </a:solidFill>
              </a:rPr>
              <a:t>Common weak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2976A-9C27-4B03-ADFD-30500205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523875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33389-2C79-44D0-887A-C2FA7493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721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083"/>
                </a:solidFill>
              </a:defRPr>
            </a:pPr>
            <a:r>
              <a:rPr sz="1350" b="0">
                <a:solidFill>
                  <a:srgbClr val="627083"/>
                </a:solidFill>
              </a:rPr>
              <a:t>0.01/4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67A032-86F6-4FB0-BDF2-09127AF3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60" y="523875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86EC3-6134-43E9-868C-2D64AE8A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721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083"/>
                </a:solidFill>
              </a:defRPr>
            </a:pPr>
            <a:r>
              <a:rPr sz="1350" b="0">
                <a:solidFill>
                  <a:srgbClr val="627083"/>
                </a:solidFill>
              </a:rPr>
              <a:t>0.0%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3C42D-226D-445E-BC18-90B3C9F6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7540" y="523875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6CDFA-6435-490A-82FA-69AFDF5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3721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083"/>
                </a:solidFill>
              </a:defRPr>
            </a:pPr>
            <a:r>
              <a:rPr sz="1350" b="0">
                <a:solidFill>
                  <a:srgbClr val="627083"/>
                </a:solidFill>
              </a:rPr>
              <a:t>6.4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9D0A0-EAD9-486D-BB89-2700282F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4620" y="523875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0B225B-C4F9-46D2-B855-5765A58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53721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083"/>
                </a:solidFill>
              </a:defRPr>
            </a:pPr>
            <a:r>
              <a:rPr sz="1350" b="0">
                <a:solidFill>
                  <a:srgbClr val="627083"/>
                </a:solidFill>
              </a:rPr>
              <a:t>0.0%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F236B-89A9-43E8-AE08-63BA5793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2D7C2-CE91-4D82-8CC4-21146B6C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626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033"/>
                </a:solidFill>
              </a:defRPr>
            </a:pPr>
            <a:r>
              <a:rPr sz="1350" b="1">
                <a:solidFill>
                  <a:srgbClr val="152033"/>
                </a:solidFill>
              </a:rPr>
              <a:t>Generated adversarial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40C65-49DF-4701-9439-2CA8748F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582930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25D78-BEB8-41F8-ADCE-F7D6E0A0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9626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083"/>
                </a:solidFill>
              </a:defRPr>
            </a:pPr>
            <a:r>
              <a:rPr sz="1350" b="0">
                <a:solidFill>
                  <a:srgbClr val="627083"/>
                </a:solidFill>
              </a:rPr>
              <a:t>4.00/4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F0828C-F64B-4AE8-94EF-C18DA687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60" y="582930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7D934D-9CB0-4AB5-844D-4FAE9CC9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9626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083"/>
                </a:solidFill>
              </a:defRPr>
            </a:pPr>
            <a:r>
              <a:rPr sz="1350" b="0">
                <a:solidFill>
                  <a:srgbClr val="627083"/>
                </a:solidFill>
              </a:rPr>
              <a:t>100.0%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C4E1C1-7304-4875-A8F2-0FBA8349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7540" y="582930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239F62-352B-483F-847F-68556B63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9626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083"/>
                </a:solidFill>
              </a:defRPr>
            </a:pPr>
            <a:r>
              <a:rPr sz="1350" b="0">
                <a:solidFill>
                  <a:srgbClr val="627083"/>
                </a:solidFill>
              </a:rPr>
              <a:t>16.4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99D2E6-8FD5-4F94-A017-1677A3FA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4620" y="582930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C90958-2BCD-4F5C-B128-1F533093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59626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083"/>
                </a:solidFill>
              </a:defRPr>
            </a:pPr>
            <a:r>
              <a:rPr sz="1350" b="0">
                <a:solidFill>
                  <a:srgbClr val="627083"/>
                </a:solidFill>
              </a:rPr>
              <a:t>81.3%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892A55-2E2E-4AF3-8251-0EEAC5B1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1985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75AF7A-B128-4250-8297-88493FD6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532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033"/>
                </a:solidFill>
              </a:defRPr>
            </a:pPr>
            <a:r>
              <a:rPr sz="1350" b="1">
                <a:solidFill>
                  <a:srgbClr val="152033"/>
                </a:solidFill>
              </a:rPr>
              <a:t>Random baseline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D0FC07-ECC0-4804-96C7-82CC7240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641985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040361-3EFB-4C68-8E40-1B877C02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5532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083"/>
                </a:solidFill>
              </a:defRPr>
            </a:pPr>
            <a:r>
              <a:rPr sz="1350" b="0">
                <a:solidFill>
                  <a:srgbClr val="627083"/>
                </a:solidFill>
              </a:rPr>
              <a:t>4.00/4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47009A-E04F-46D2-92BD-FC2B6B9A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60" y="641985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44233F-9F20-42A4-B8A8-4B86C5C6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5532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083"/>
                </a:solidFill>
              </a:defRPr>
            </a:pPr>
            <a:r>
              <a:rPr sz="1350" b="0">
                <a:solidFill>
                  <a:srgbClr val="627083"/>
                </a:solidFill>
              </a:rPr>
              <a:t>100.0%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68A90F-3BAF-4DB2-AC62-D3D64294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7540" y="641985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922302-BD21-47F3-A16C-EBC92470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532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083"/>
                </a:solidFill>
              </a:defRPr>
            </a:pPr>
            <a:r>
              <a:rPr sz="1350" b="0">
                <a:solidFill>
                  <a:srgbClr val="627083"/>
                </a:solidFill>
              </a:rPr>
              <a:t>16.0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493301-B488-4255-83A8-4C5CD671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4620" y="6419850"/>
            <a:ext cx="33070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11BCDF-4C6A-492B-853F-DA103B1B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65532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083"/>
                </a:solidFill>
              </a:defRPr>
            </a:pPr>
            <a:r>
              <a:rPr sz="1350" b="0">
                <a:solidFill>
                  <a:srgbClr val="627083"/>
                </a:solidFill>
              </a:rPr>
              <a:t>0.0%</a:t>
            </a:r>
          </a:p>
        </p:txBody>
      </p:sp>
      <p:sp>
        <p:nvSpPr>
          <p:cNvPr id="4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915548E-60FD-4814-826A-7ACE690B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77100"/>
            <a:ext cx="1653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627083"/>
                </a:solidFill>
              </a:defRPr>
            </a:pPr>
            <a:r>
              <a:rPr sz="2175">
                <a:solidFill>
                  <a:srgbClr val="627083"/>
                </a:solidFill>
              </a:rPr>
              <a:t>The key distinction is not score. It is predictable structure.</a:t>
            </a:r>
          </a:p>
        </p:txBody>
      </p:sp>
    </p:spTree>
    <p:extLst>
      <p:ext uri="{BB962C8B-B14F-4D97-AF65-F5344CB8AC3E}">
        <p14:creationId xmlns:p14="http://schemas.microsoft.com/office/powerpoint/2010/main" val="7588027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1BB77C51-3E84-441A-BDF3-78FFF190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65E68-60A1-4788-94C2-E25C29AD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798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96B"/>
                </a:solidFill>
              </a:defRPr>
            </a:pPr>
            <a:r>
              <a:rPr sz="1350" b="1">
                <a:solidFill>
                  <a:srgbClr val="00796B"/>
                </a:solidFill>
              </a:rPr>
              <a:t>Demo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5D4731-E384-4B7E-BBD3-FAC7CB41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79819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2033"/>
                </a:solidFill>
              </a:defRPr>
            </a:pPr>
            <a:r>
              <a:rPr sz="4350" b="1">
                <a:solidFill>
                  <a:srgbClr val="152033"/>
                </a:solidFill>
              </a:rPr>
              <a:t>The Flask app turns the project into a usable lab.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EFCDF10-7887-41DB-B564-9B17ECD3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7981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627083"/>
                </a:solidFill>
              </a:defRPr>
            </a:pPr>
            <a:r>
              <a:rPr sz="2175">
                <a:solidFill>
                  <a:srgbClr val="627083"/>
                </a:solidFill>
              </a:rPr>
              <a:t>Score passwords, generate examples, view attack results, compare baselines, and download the dataset.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DC21C-B117-4EB0-AB7D-5F6986CE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9433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5AB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01237-F805-438B-B84B-36A68FC8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4335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Open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2A798-07F1-4615-A182-FA135E4A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2435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http://127.0.0.1:5000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0B4FA-F60F-47AD-BE8B-894E1C1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82346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5ABC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772C3-92C9-412A-80F2-E341E6EC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1965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4CABE-0FAD-45A4-996C-2380A725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0065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summarize_results.py, analyze_patterns.py, rule_attack_simulation.py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F9358-E492-4A4B-9FF3-2E815323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70357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5AB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BA2C9-44F4-4DE1-AA80-A6883C94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9595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033"/>
                </a:solidFill>
              </a:defRPr>
            </a:pPr>
            <a:r>
              <a:rPr sz="2250" b="1">
                <a:solidFill>
                  <a:srgbClr val="152033"/>
                </a:solidFill>
              </a:rPr>
              <a:t>Takeaway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BE40D-288F-4EA8-8069-6D2D4706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7695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7083"/>
                </a:solidFill>
              </a:defRPr>
            </a:pPr>
            <a:r>
              <a:rPr sz="1650">
                <a:solidFill>
                  <a:srgbClr val="627083"/>
                </a:solidFill>
              </a:rPr>
              <a:t>A high meter score is not the same thing as resistance to targeted guessing.</a:t>
            </a:r>
          </a:p>
        </p:txBody>
      </p:sp>
    </p:spTree>
    <p:extLst>
      <p:ext uri="{BB962C8B-B14F-4D97-AF65-F5344CB8AC3E}">
        <p14:creationId xmlns:p14="http://schemas.microsoft.com/office/powerpoint/2010/main" val="342345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2026-04-29T16:51:25.2680000Z</dcterms:created>
  <dcterms:modified xsi:type="dcterms:W3CDTF">2026-04-29T16:51:25.2680000Z</dcterms:modified>
</coreProperties>
</file>